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charts/chart6.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79" r:id="rId6"/>
    <p:sldId id="260" r:id="rId7"/>
    <p:sldId id="261" r:id="rId8"/>
    <p:sldId id="278"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9" d="100"/>
          <a:sy n="149" d="100"/>
        </p:scale>
        <p:origin x="504" y="12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B4C"/>
                </a:solidFill>
                <a:latin typeface="+mj-lt"/>
              </a:defRPr>
            </a:pPr>
            <a:r>
              <a:rPr lang="en-IN" sz="1400" b="0" i="0" u="none" strike="noStrike">
                <a:solidFill>
                  <a:srgbClr val="0F1B4C"/>
                </a:solidFill>
                <a:latin typeface="+mj-lt"/>
              </a:rPr>
              <a:t>Revenue (Rs M)</a:t>
            </a:r>
          </a:p>
        </c:rich>
      </c:tx>
      <c:overlay val="0"/>
    </c:title>
    <c:autoTitleDeleted val="0"/>
    <c:plotArea>
      <c:layout/>
      <c:barChart>
        <c:barDir val="col"/>
        <c:grouping val="clustered"/>
        <c:varyColors val="0"/>
        <c:ser>
          <c:idx val="0"/>
          <c:order val="0"/>
          <c:tx>
            <c:strRef>
              <c:f>Sheet1!$B$1</c:f>
              <c:strCache>
                <c:ptCount val="1"/>
                <c:pt idx="0">
                  <c:v>Revenue (Rs M)</c:v>
                </c:pt>
              </c:strCache>
            </c:strRef>
          </c:tx>
          <c:spPr>
            <a:solidFill>
              <a:srgbClr val="4F46E5"/>
            </a:solidFill>
            <a:effectLst/>
          </c:spPr>
          <c:invertIfNegative val="0"/>
          <c:dLbls>
            <c:numFmt formatCode="0.0" sourceLinked="0"/>
            <c:spPr>
              <a:noFill/>
              <a:ln>
                <a:noFill/>
              </a:ln>
              <a:effectLst/>
            </c:spPr>
            <c:txPr>
              <a:bodyPr/>
              <a:lstStyle/>
              <a:p>
                <a:pPr>
                  <a:defRPr sz="1200" b="1" i="0" u="none" strike="noStrike">
                    <a:solidFill>
                      <a:srgbClr val="0F1B4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May</c:v>
                </c:pt>
                <c:pt idx="1">
                  <c:v>June</c:v>
                </c:pt>
                <c:pt idx="2">
                  <c:v>July</c:v>
                </c:pt>
              </c:strCache>
            </c:strRef>
          </c:cat>
          <c:val>
            <c:numRef>
              <c:f>Sheet1!$B$2:$B$4</c:f>
              <c:numCache>
                <c:formatCode>General</c:formatCode>
                <c:ptCount val="3"/>
                <c:pt idx="0">
                  <c:v>573.20000000000005</c:v>
                </c:pt>
                <c:pt idx="1">
                  <c:v>564.79999999999995</c:v>
                </c:pt>
                <c:pt idx="2">
                  <c:v>499.2</c:v>
                </c:pt>
              </c:numCache>
            </c:numRef>
          </c:val>
          <c:extLst>
            <c:ext xmlns:c16="http://schemas.microsoft.com/office/drawing/2014/chart" uri="{C3380CC4-5D6E-409C-BE32-E72D297353CC}">
              <c16:uniqueId val="{00000000-03CD-4125-8B2B-35CFE030896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B4C"/>
                </a:solidFill>
                <a:latin typeface="+mn-lt"/>
              </a:defRPr>
            </a:pPr>
            <a:endParaRPr lang="en-US"/>
          </a:p>
        </c:txPr>
        <c:crossAx val="2094734552"/>
        <c:crosses val="autoZero"/>
        <c:auto val="1"/>
        <c:lblAlgn val="ctr"/>
        <c:lblOffset val="100"/>
        <c:noMultiLvlLbl val="1"/>
      </c:catAx>
      <c:valAx>
        <c:axId val="2094734552"/>
        <c:scaling>
          <c:orientation val="minMax"/>
          <c:max val="700"/>
          <c:min val="0"/>
        </c:scaling>
        <c:delete val="1"/>
        <c:axPos val="l"/>
        <c:majorGridlines>
          <c:spPr>
            <a:ln w="9525" cap="flat">
              <a:solidFill>
                <a:srgbClr val="C9D3EA"/>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B4C"/>
                </a:solidFill>
                <a:latin typeface="+mj-lt"/>
              </a:defRPr>
            </a:pPr>
            <a:r>
              <a:rPr lang="en-US" sz="1400" b="0" i="0" u="none" strike="noStrike">
                <a:solidFill>
                  <a:srgbClr val="0F1B4C"/>
                </a:solidFill>
                <a:latin typeface="+mj-lt"/>
              </a:rPr>
              <a:t>Revenue by city (Rs M, May)</a:t>
            </a:r>
          </a:p>
        </c:rich>
      </c:tx>
      <c:overlay val="0"/>
    </c:title>
    <c:autoTitleDeleted val="0"/>
    <c:plotArea>
      <c:layout/>
      <c:barChart>
        <c:barDir val="bar"/>
        <c:grouping val="clustered"/>
        <c:varyColors val="0"/>
        <c:ser>
          <c:idx val="0"/>
          <c:order val="0"/>
          <c:tx>
            <c:strRef>
              <c:f>Sheet1!$B$1</c:f>
              <c:strCache>
                <c:ptCount val="1"/>
                <c:pt idx="0">
                  <c:v>Revenue (Rs M)</c:v>
                </c:pt>
              </c:strCache>
            </c:strRef>
          </c:tx>
          <c:spPr>
            <a:solidFill>
              <a:srgbClr val="4F46E5"/>
            </a:solidFill>
            <a:effectLst/>
          </c:spPr>
          <c:invertIfNegative val="0"/>
          <c:dLbls>
            <c:numFmt formatCode="#,##0" sourceLinked="0"/>
            <c:spPr>
              <a:noFill/>
              <a:ln>
                <a:noFill/>
              </a:ln>
              <a:effectLst/>
            </c:spPr>
            <c:txPr>
              <a:bodyPr/>
              <a:lstStyle/>
              <a:p>
                <a:pPr>
                  <a:defRPr sz="1200" b="1" i="0" u="none" strike="noStrike">
                    <a:solidFill>
                      <a:srgbClr val="0F1B4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Delhi</c:v>
                </c:pt>
                <c:pt idx="1">
                  <c:v>Hyderabad</c:v>
                </c:pt>
                <c:pt idx="2">
                  <c:v>Bangalore</c:v>
                </c:pt>
                <c:pt idx="3">
                  <c:v>Mumbai</c:v>
                </c:pt>
              </c:strCache>
            </c:strRef>
          </c:cat>
          <c:val>
            <c:numRef>
              <c:f>Sheet1!$B$2:$B$5</c:f>
              <c:numCache>
                <c:formatCode>General</c:formatCode>
                <c:ptCount val="4"/>
                <c:pt idx="0">
                  <c:v>98</c:v>
                </c:pt>
                <c:pt idx="1">
                  <c:v>109</c:v>
                </c:pt>
                <c:pt idx="2">
                  <c:v>142</c:v>
                </c:pt>
                <c:pt idx="3">
                  <c:v>225</c:v>
                </c:pt>
              </c:numCache>
            </c:numRef>
          </c:val>
          <c:extLst>
            <c:ext xmlns:c16="http://schemas.microsoft.com/office/drawing/2014/chart" uri="{C3380CC4-5D6E-409C-BE32-E72D297353CC}">
              <c16:uniqueId val="{00000000-F3B6-44E7-8ED7-1DC0AB81D0B4}"/>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B4C"/>
                </a:solidFill>
                <a:latin typeface="+mn-lt"/>
              </a:defRPr>
            </a:pPr>
            <a:endParaRPr lang="en-US"/>
          </a:p>
        </c:txPr>
        <c:crossAx val="2094734552"/>
        <c:crosses val="autoZero"/>
        <c:auto val="1"/>
        <c:lblAlgn val="ctr"/>
        <c:lblOffset val="100"/>
        <c:noMultiLvlLbl val="1"/>
      </c:catAx>
      <c:valAx>
        <c:axId val="2094734552"/>
        <c:scaling>
          <c:orientation val="minMax"/>
          <c:max val="270"/>
          <c:min val="0"/>
        </c:scaling>
        <c:delete val="1"/>
        <c:axPos val="b"/>
        <c:majorGridlines>
          <c:spPr>
            <a:ln w="9525" cap="flat">
              <a:solidFill>
                <a:srgbClr val="C9D3EA"/>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B4C"/>
                </a:solidFill>
                <a:latin typeface="+mj-lt"/>
              </a:defRPr>
            </a:pPr>
            <a:r>
              <a:rPr lang="en-US" sz="1400" b="0" i="0" u="none" strike="noStrike">
                <a:solidFill>
                  <a:srgbClr val="0F1B4C"/>
                </a:solidFill>
                <a:latin typeface="+mj-lt"/>
              </a:rPr>
              <a:t>Capacity vs bookings (K, May)</a:t>
            </a:r>
          </a:p>
        </c:rich>
      </c:tx>
      <c:overlay val="0"/>
    </c:title>
    <c:autoTitleDeleted val="0"/>
    <c:plotArea>
      <c:layout/>
      <c:barChart>
        <c:barDir val="col"/>
        <c:grouping val="clustered"/>
        <c:varyColors val="0"/>
        <c:ser>
          <c:idx val="0"/>
          <c:order val="0"/>
          <c:tx>
            <c:strRef>
              <c:f>Sheet1!$B$1</c:f>
              <c:strCache>
                <c:ptCount val="1"/>
                <c:pt idx="0">
                  <c:v>Capacity (K)</c:v>
                </c:pt>
              </c:strCache>
            </c:strRef>
          </c:tx>
          <c:spPr>
            <a:solidFill>
              <a:srgbClr val="4F46E5"/>
            </a:solidFill>
            <a:effectLst/>
          </c:spPr>
          <c:invertIfNegative val="0"/>
          <c:dLbls>
            <c:numFmt formatCode="#,##0" sourceLinked="0"/>
            <c:spPr>
              <a:noFill/>
              <a:ln>
                <a:noFill/>
              </a:ln>
              <a:effectLst/>
            </c:spPr>
            <c:txPr>
              <a:bodyPr/>
              <a:lstStyle/>
              <a:p>
                <a:pPr>
                  <a:defRPr sz="1200" b="1" i="0" u="none" strike="noStrike">
                    <a:solidFill>
                      <a:srgbClr val="0F1B4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Elite</c:v>
                </c:pt>
                <c:pt idx="1">
                  <c:v>Standard</c:v>
                </c:pt>
                <c:pt idx="2">
                  <c:v>Premium</c:v>
                </c:pt>
                <c:pt idx="3">
                  <c:v>Presidential</c:v>
                </c:pt>
              </c:strCache>
            </c:strRef>
          </c:cat>
          <c:val>
            <c:numRef>
              <c:f>Sheet1!$B$2:$B$5</c:f>
              <c:numCache>
                <c:formatCode>General</c:formatCode>
                <c:ptCount val="4"/>
                <c:pt idx="0">
                  <c:v>29</c:v>
                </c:pt>
                <c:pt idx="1">
                  <c:v>22</c:v>
                </c:pt>
                <c:pt idx="2">
                  <c:v>18</c:v>
                </c:pt>
                <c:pt idx="3">
                  <c:v>9</c:v>
                </c:pt>
              </c:numCache>
            </c:numRef>
          </c:val>
          <c:extLst>
            <c:ext xmlns:c16="http://schemas.microsoft.com/office/drawing/2014/chart" uri="{C3380CC4-5D6E-409C-BE32-E72D297353CC}">
              <c16:uniqueId val="{00000000-82A1-405C-B9C4-E3383BE25553}"/>
            </c:ext>
          </c:extLst>
        </c:ser>
        <c:ser>
          <c:idx val="1"/>
          <c:order val="1"/>
          <c:tx>
            <c:strRef>
              <c:f>Sheet1!$C$1</c:f>
              <c:strCache>
                <c:ptCount val="1"/>
                <c:pt idx="0">
                  <c:v>Bookings (K)</c:v>
                </c:pt>
              </c:strCache>
            </c:strRef>
          </c:tx>
          <c:spPr>
            <a:solidFill>
              <a:srgbClr val="22C3A6"/>
            </a:solidFill>
            <a:effectLst/>
          </c:spPr>
          <c:invertIfNegative val="0"/>
          <c:dLbls>
            <c:numFmt formatCode="#,##0" sourceLinked="0"/>
            <c:spPr>
              <a:noFill/>
              <a:ln>
                <a:noFill/>
              </a:ln>
              <a:effectLst/>
            </c:spPr>
            <c:txPr>
              <a:bodyPr/>
              <a:lstStyle/>
              <a:p>
                <a:pPr>
                  <a:defRPr sz="1200" b="1" i="0" u="none" strike="noStrike">
                    <a:solidFill>
                      <a:srgbClr val="0F1B4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Elite</c:v>
                </c:pt>
                <c:pt idx="1">
                  <c:v>Standard</c:v>
                </c:pt>
                <c:pt idx="2">
                  <c:v>Premium</c:v>
                </c:pt>
                <c:pt idx="3">
                  <c:v>Presidential</c:v>
                </c:pt>
              </c:strCache>
            </c:strRef>
          </c:cat>
          <c:val>
            <c:numRef>
              <c:f>Sheet1!$C$2:$C$5</c:f>
              <c:numCache>
                <c:formatCode>General</c:formatCode>
                <c:ptCount val="4"/>
                <c:pt idx="0">
                  <c:v>17</c:v>
                </c:pt>
                <c:pt idx="1">
                  <c:v>13</c:v>
                </c:pt>
                <c:pt idx="2">
                  <c:v>10</c:v>
                </c:pt>
                <c:pt idx="3">
                  <c:v>5</c:v>
                </c:pt>
              </c:numCache>
            </c:numRef>
          </c:val>
          <c:extLst>
            <c:ext xmlns:c16="http://schemas.microsoft.com/office/drawing/2014/chart" uri="{C3380CC4-5D6E-409C-BE32-E72D297353CC}">
              <c16:uniqueId val="{00000001-82A1-405C-B9C4-E3383BE2555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B4C"/>
                </a:solidFill>
                <a:latin typeface="+mn-lt"/>
              </a:defRPr>
            </a:pPr>
            <a:endParaRPr lang="en-US"/>
          </a:p>
        </c:txPr>
        <c:crossAx val="2094734552"/>
        <c:crosses val="autoZero"/>
        <c:auto val="1"/>
        <c:lblAlgn val="ctr"/>
        <c:lblOffset val="100"/>
        <c:noMultiLvlLbl val="1"/>
      </c:catAx>
      <c:valAx>
        <c:axId val="2094734552"/>
        <c:scaling>
          <c:orientation val="minMax"/>
          <c:max val="36"/>
          <c:min val="0"/>
        </c:scaling>
        <c:delete val="1"/>
        <c:axPos val="l"/>
        <c:majorGridlines>
          <c:spPr>
            <a:ln w="9525" cap="flat">
              <a:solidFill>
                <a:srgbClr val="C9D3EA"/>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0F1B4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B4C"/>
                </a:solidFill>
                <a:latin typeface="+mj-lt"/>
              </a:defRPr>
            </a:pPr>
            <a:r>
              <a:rPr lang="en-US" sz="1400" b="0" i="0" u="none" strike="noStrike">
                <a:solidFill>
                  <a:srgbClr val="0F1B4C"/>
                </a:solidFill>
                <a:latin typeface="+mj-lt"/>
              </a:rPr>
              <a:t>Revenue by hotel (Rs M)</a:t>
            </a:r>
          </a:p>
        </c:rich>
      </c:tx>
      <c:overlay val="0"/>
    </c:title>
    <c:autoTitleDeleted val="0"/>
    <c:plotArea>
      <c:layout/>
      <c:barChart>
        <c:barDir val="col"/>
        <c:grouping val="clustered"/>
        <c:varyColors val="0"/>
        <c:ser>
          <c:idx val="0"/>
          <c:order val="0"/>
          <c:tx>
            <c:strRef>
              <c:f>Sheet1!$B$1</c:f>
              <c:strCache>
                <c:ptCount val="1"/>
                <c:pt idx="0">
                  <c:v>June</c:v>
                </c:pt>
              </c:strCache>
            </c:strRef>
          </c:tx>
          <c:spPr>
            <a:solidFill>
              <a:srgbClr val="4F46E5"/>
            </a:solidFill>
            <a:effectLst/>
          </c:spPr>
          <c:invertIfNegative val="0"/>
          <c:dLbls>
            <c:numFmt formatCode="#,##0" sourceLinked="0"/>
            <c:spPr>
              <a:noFill/>
              <a:ln>
                <a:noFill/>
              </a:ln>
              <a:effectLst/>
            </c:spPr>
            <c:txPr>
              <a:bodyPr/>
              <a:lstStyle/>
              <a:p>
                <a:pPr>
                  <a:defRPr sz="1200" b="1" i="0" u="none" strike="noStrike">
                    <a:solidFill>
                      <a:srgbClr val="0F1B4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Blu</c:v>
                </c:pt>
                <c:pt idx="1">
                  <c:v>Palace</c:v>
                </c:pt>
                <c:pt idx="2">
                  <c:v>City</c:v>
                </c:pt>
                <c:pt idx="3">
                  <c:v>Bay</c:v>
                </c:pt>
              </c:strCache>
            </c:strRef>
          </c:cat>
          <c:val>
            <c:numRef>
              <c:f>Sheet1!$B$2:$B$5</c:f>
              <c:numCache>
                <c:formatCode>General</c:formatCode>
                <c:ptCount val="4"/>
                <c:pt idx="0">
                  <c:v>86</c:v>
                </c:pt>
                <c:pt idx="1">
                  <c:v>100</c:v>
                </c:pt>
                <c:pt idx="2">
                  <c:v>94</c:v>
                </c:pt>
                <c:pt idx="3">
                  <c:v>87</c:v>
                </c:pt>
              </c:numCache>
            </c:numRef>
          </c:val>
          <c:extLst>
            <c:ext xmlns:c16="http://schemas.microsoft.com/office/drawing/2014/chart" uri="{C3380CC4-5D6E-409C-BE32-E72D297353CC}">
              <c16:uniqueId val="{00000000-FDC5-4015-9583-4DEBC4C82F22}"/>
            </c:ext>
          </c:extLst>
        </c:ser>
        <c:ser>
          <c:idx val="1"/>
          <c:order val="1"/>
          <c:tx>
            <c:strRef>
              <c:f>Sheet1!$C$1</c:f>
              <c:strCache>
                <c:ptCount val="1"/>
                <c:pt idx="0">
                  <c:v>July</c:v>
                </c:pt>
              </c:strCache>
            </c:strRef>
          </c:tx>
          <c:spPr>
            <a:solidFill>
              <a:srgbClr val="FF6B6B"/>
            </a:solidFill>
            <a:effectLst/>
          </c:spPr>
          <c:invertIfNegative val="0"/>
          <c:dLbls>
            <c:numFmt formatCode="#,##0" sourceLinked="0"/>
            <c:spPr>
              <a:noFill/>
              <a:ln>
                <a:noFill/>
              </a:ln>
              <a:effectLst/>
            </c:spPr>
            <c:txPr>
              <a:bodyPr/>
              <a:lstStyle/>
              <a:p>
                <a:pPr>
                  <a:defRPr sz="1200" b="1" i="0" u="none" strike="noStrike">
                    <a:solidFill>
                      <a:srgbClr val="0F1B4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Blu</c:v>
                </c:pt>
                <c:pt idx="1">
                  <c:v>Palace</c:v>
                </c:pt>
                <c:pt idx="2">
                  <c:v>City</c:v>
                </c:pt>
                <c:pt idx="3">
                  <c:v>Bay</c:v>
                </c:pt>
              </c:strCache>
            </c:strRef>
          </c:cat>
          <c:val>
            <c:numRef>
              <c:f>Sheet1!$C$2:$C$5</c:f>
              <c:numCache>
                <c:formatCode>General</c:formatCode>
                <c:ptCount val="4"/>
                <c:pt idx="0">
                  <c:v>74</c:v>
                </c:pt>
                <c:pt idx="1">
                  <c:v>94</c:v>
                </c:pt>
                <c:pt idx="2">
                  <c:v>88</c:v>
                </c:pt>
                <c:pt idx="3">
                  <c:v>73</c:v>
                </c:pt>
              </c:numCache>
            </c:numRef>
          </c:val>
          <c:extLst>
            <c:ext xmlns:c16="http://schemas.microsoft.com/office/drawing/2014/chart" uri="{C3380CC4-5D6E-409C-BE32-E72D297353CC}">
              <c16:uniqueId val="{00000001-FDC5-4015-9583-4DEBC4C82F22}"/>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B4C"/>
                </a:solidFill>
                <a:latin typeface="+mn-lt"/>
              </a:defRPr>
            </a:pPr>
            <a:endParaRPr lang="en-US"/>
          </a:p>
        </c:txPr>
        <c:crossAx val="2094734552"/>
        <c:crosses val="autoZero"/>
        <c:auto val="1"/>
        <c:lblAlgn val="ctr"/>
        <c:lblOffset val="100"/>
        <c:noMultiLvlLbl val="1"/>
      </c:catAx>
      <c:valAx>
        <c:axId val="2094734552"/>
        <c:scaling>
          <c:orientation val="minMax"/>
          <c:max val="125"/>
          <c:min val="0"/>
        </c:scaling>
        <c:delete val="1"/>
        <c:axPos val="l"/>
        <c:majorGridlines>
          <c:spPr>
            <a:ln w="9525" cap="flat">
              <a:solidFill>
                <a:srgbClr val="C9D3EA"/>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0F1B4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B4C"/>
                </a:solidFill>
                <a:latin typeface="+mj-lt"/>
              </a:defRPr>
            </a:pPr>
            <a:r>
              <a:rPr lang="en-IN" sz="1400" b="0" i="0" u="none" strike="noStrike">
                <a:solidFill>
                  <a:srgbClr val="0F1B4C"/>
                </a:solidFill>
                <a:latin typeface="+mj-lt"/>
              </a:rPr>
              <a:t>Bookings cancelled (May)</a:t>
            </a:r>
          </a:p>
        </c:rich>
      </c:tx>
      <c:overlay val="0"/>
    </c:title>
    <c:autoTitleDeleted val="0"/>
    <c:plotArea>
      <c:layout/>
      <c:doughnutChart>
        <c:varyColors val="1"/>
        <c:ser>
          <c:idx val="0"/>
          <c:order val="0"/>
          <c:tx>
            <c:strRef>
              <c:f>Sheet1!$B$1</c:f>
              <c:strCache>
                <c:ptCount val="1"/>
                <c:pt idx="0">
                  <c:v>Bookings</c:v>
                </c:pt>
              </c:strCache>
            </c:strRef>
          </c:tx>
          <c:spPr>
            <a:solidFill>
              <a:schemeClr val="accent1"/>
            </a:solidFill>
            <a:ln w="9525" cap="flat">
              <a:solidFill>
                <a:srgbClr val="F9F9F9"/>
              </a:solidFill>
              <a:prstDash val="solid"/>
              <a:round/>
            </a:ln>
            <a:effectLst/>
          </c:spPr>
          <c:dPt>
            <c:idx val="0"/>
            <c:bubble3D val="0"/>
            <c:spPr>
              <a:solidFill>
                <a:srgbClr val="FF6B6B"/>
              </a:solidFill>
              <a:effectLst/>
            </c:spPr>
            <c:extLst>
              <c:ext xmlns:c16="http://schemas.microsoft.com/office/drawing/2014/chart" uri="{C3380CC4-5D6E-409C-BE32-E72D297353CC}">
                <c16:uniqueId val="{00000001-977B-4474-9406-945CB552C2C3}"/>
              </c:ext>
            </c:extLst>
          </c:dPt>
          <c:dPt>
            <c:idx val="1"/>
            <c:bubble3D val="0"/>
            <c:spPr>
              <a:solidFill>
                <a:srgbClr val="22C3A6"/>
              </a:solidFill>
              <a:effectLst/>
            </c:spPr>
            <c:extLst>
              <c:ext xmlns:c16="http://schemas.microsoft.com/office/drawing/2014/chart" uri="{C3380CC4-5D6E-409C-BE32-E72D297353CC}">
                <c16:uniqueId val="{00000003-977B-4474-9406-945CB552C2C3}"/>
              </c:ext>
            </c:extLst>
          </c:dPt>
          <c:dLbls>
            <c:dLbl>
              <c:idx val="0"/>
              <c:numFmt formatCode="0.0&quot;%&quot;" sourceLinked="0"/>
              <c:spPr/>
              <c:txPr>
                <a:bodyPr/>
                <a:lstStyle/>
                <a:p>
                  <a:pPr>
                    <a:defRPr sz="12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77B-4474-9406-945CB552C2C3}"/>
                </c:ext>
              </c:extLst>
            </c:dLbl>
            <c:dLbl>
              <c:idx val="1"/>
              <c:numFmt formatCode="0.0&quot;%&quot;" sourceLinked="0"/>
              <c:spPr/>
              <c:txPr>
                <a:bodyPr/>
                <a:lstStyle/>
                <a:p>
                  <a:pPr>
                    <a:defRPr sz="12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77B-4474-9406-945CB552C2C3}"/>
                </c:ext>
              </c:extLst>
            </c:dLbl>
            <c:numFmt formatCode="0.0&quot;%&quot;"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Cancelled</c:v>
                </c:pt>
                <c:pt idx="1">
                  <c:v>Kept</c:v>
                </c:pt>
              </c:strCache>
            </c:strRef>
          </c:cat>
          <c:val>
            <c:numRef>
              <c:f>Sheet1!$B$2:$B$3</c:f>
              <c:numCache>
                <c:formatCode>General</c:formatCode>
                <c:ptCount val="2"/>
                <c:pt idx="0">
                  <c:v>24.8</c:v>
                </c:pt>
                <c:pt idx="1">
                  <c:v>75.2</c:v>
                </c:pt>
              </c:numCache>
            </c:numRef>
          </c:val>
          <c:extLst>
            <c:ext xmlns:c16="http://schemas.microsoft.com/office/drawing/2014/chart" uri="{C3380CC4-5D6E-409C-BE32-E72D297353CC}">
              <c16:uniqueId val="{00000004-977B-4474-9406-945CB552C2C3}"/>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0F1B4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B4C"/>
                </a:solidFill>
                <a:latin typeface="+mj-lt"/>
              </a:defRPr>
            </a:pPr>
            <a:r>
              <a:rPr lang="en-IN" sz="1400" b="0" i="0" u="none" strike="noStrike">
                <a:solidFill>
                  <a:srgbClr val="0F1B4C"/>
                </a:solidFill>
                <a:latin typeface="+mj-lt"/>
              </a:rPr>
              <a:t>Bookings by platform (K)</a:t>
            </a:r>
          </a:p>
        </c:rich>
      </c:tx>
      <c:overlay val="0"/>
    </c:title>
    <c:autoTitleDeleted val="0"/>
    <c:plotArea>
      <c:layout/>
      <c:barChart>
        <c:barDir val="bar"/>
        <c:grouping val="clustered"/>
        <c:varyColors val="0"/>
        <c:ser>
          <c:idx val="0"/>
          <c:order val="0"/>
          <c:tx>
            <c:strRef>
              <c:f>Sheet1!$B$1</c:f>
              <c:strCache>
                <c:ptCount val="1"/>
                <c:pt idx="0">
                  <c:v>Bookings (K)</c:v>
                </c:pt>
              </c:strCache>
            </c:strRef>
          </c:tx>
          <c:spPr>
            <a:solidFill>
              <a:srgbClr val="4F46E5"/>
            </a:solidFill>
            <a:effectLst/>
          </c:spPr>
          <c:invertIfNegative val="0"/>
          <c:dLbls>
            <c:numFmt formatCode="#,##0" sourceLinked="0"/>
            <c:spPr>
              <a:noFill/>
              <a:ln>
                <a:noFill/>
              </a:ln>
              <a:effectLst/>
            </c:spPr>
            <c:txPr>
              <a:bodyPr/>
              <a:lstStyle/>
              <a:p>
                <a:pPr>
                  <a:defRPr sz="1200" b="1" i="0" u="none" strike="noStrike">
                    <a:solidFill>
                      <a:srgbClr val="0F1B4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direct offline</c:v>
                </c:pt>
                <c:pt idx="1">
                  <c:v>journey</c:v>
                </c:pt>
                <c:pt idx="2">
                  <c:v>tripster</c:v>
                </c:pt>
                <c:pt idx="3">
                  <c:v>direct online</c:v>
                </c:pt>
                <c:pt idx="4">
                  <c:v>logtrip</c:v>
                </c:pt>
                <c:pt idx="5">
                  <c:v>makeyourtrip</c:v>
                </c:pt>
                <c:pt idx="6">
                  <c:v>others</c:v>
                </c:pt>
              </c:strCache>
            </c:strRef>
          </c:cat>
          <c:val>
            <c:numRef>
              <c:f>Sheet1!$B$2:$B$8</c:f>
              <c:numCache>
                <c:formatCode>General</c:formatCode>
                <c:ptCount val="7"/>
                <c:pt idx="0">
                  <c:v>2</c:v>
                </c:pt>
                <c:pt idx="1">
                  <c:v>3</c:v>
                </c:pt>
                <c:pt idx="2">
                  <c:v>3</c:v>
                </c:pt>
                <c:pt idx="3">
                  <c:v>4</c:v>
                </c:pt>
                <c:pt idx="4">
                  <c:v>5</c:v>
                </c:pt>
                <c:pt idx="5">
                  <c:v>9</c:v>
                </c:pt>
                <c:pt idx="6">
                  <c:v>19</c:v>
                </c:pt>
              </c:numCache>
            </c:numRef>
          </c:val>
          <c:extLst>
            <c:ext xmlns:c16="http://schemas.microsoft.com/office/drawing/2014/chart" uri="{C3380CC4-5D6E-409C-BE32-E72D297353CC}">
              <c16:uniqueId val="{00000000-30A5-496D-A705-CA34BE44506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B4C"/>
                </a:solidFill>
                <a:latin typeface="+mn-lt"/>
              </a:defRPr>
            </a:pPr>
            <a:endParaRPr lang="en-US"/>
          </a:p>
        </c:txPr>
        <c:crossAx val="2094734552"/>
        <c:crosses val="autoZero"/>
        <c:auto val="1"/>
        <c:lblAlgn val="ctr"/>
        <c:lblOffset val="100"/>
        <c:noMultiLvlLbl val="1"/>
      </c:catAx>
      <c:valAx>
        <c:axId val="2094734552"/>
        <c:scaling>
          <c:orientation val="minMax"/>
          <c:max val="23"/>
          <c:min val="0"/>
        </c:scaling>
        <c:delete val="1"/>
        <c:axPos val="b"/>
        <c:majorGridlines>
          <c:spPr>
            <a:ln w="9525" cap="flat">
              <a:solidFill>
                <a:srgbClr val="C9D3EA"/>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2880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comic walks through the problem, the data and metrics we built, the dashboard, and what the data tells AtliQ Grands to do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AtliQ Grands has 20 years in hospitality and several five-star hotels, but competitors and weak decisions are eroding luxury and business-hotel share. There is no in-house analytics team, so they hired 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tasks: create the metrics from the metric list, build the dashboard from the stakeholder mock-up, and find extra insights that nobody asked for.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typical AtliQ hospitality data model: three dimension tables feeding two fact tables. Names may differ slightly in your file, so adjust the DAX that follows.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base measures first, then reuse them. Outputs are the May values shown on the dashboard. Total capacity is the sum of the four room-class bars, roughly 78K.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Cancellation and month-on-month measures come from the metric list. Rows highlighted in yellow are extra measures we added for insights. LDC/PDC is the dashboard's own measure and was kept as built.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 is the Overview with five KPI cards, city, platform and property views. Page 2 is the Monthly page with a month slicer, capacity vs bookings and a weekday revenue table. Every visual reacts to the six filters.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is the first month, so there is no previous-month comparison. Revenue 573.2M, occupancy 59 percent, cancellation rate 24.8 percent, loss from cancellation 99.7M.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June revenue is 564.8M, down 1.48 percent from May. Occupancy 58 percent. Cancellation rate crept up to 25.1 percent and the loss measure to 99.9M.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July revenue fell 11.61 percent to 499.2M. Occupancy only slipped to 57 percent. Cancellation rate improved to 24.4 percent and the loss measure fell to 85.9M.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fell from 573.2M in May to 499.2M in July, a 12.9 percent drop. Occupancy only slipped from 59 to 57 percent, so the gap suggests lower realised price or a weaker room mix. That is a hypothesis to verify with rate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Mumbai is the cash cow with 39 percent of May revenue. Delhi earns the least but has the best occupancy and rating, which hints at pricing headroom. Bangalore has the weakest rating at 3.4.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room class runs at roughly 56 to 59 percent utilisation, so empty rooms are spread across all classes. July cancellations fell in every class. Numbers are read from the capacity vs bookings chart and are rounded to the nearest thousand.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Monthly page property tables. Atliq Bay and Atliq Blu lost the most revenue from June to July, while their occupancy did not move: 58 and 62 percent in both months.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one in four bookings is cancelled, and the loss measure is roughly 17 percent of revenue. The rate barely moved over three months; July improved slightly and LDC fell 14 percent.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Others and MakeYourTrip bring 62 percent of bookings; direct online and offline together only 13 percent. Weekends hold about 59 percent of occupancy versus 41 percent on weekdays.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figures for six of the seven properties; Seasons was not visible. Atliq Grands has the lowest rating, occupancy and bookings of the six. Palace bookings were not visible.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findings in one place: what we saw, the evidence, and the action. Ranking by impact would need rate and cost data.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limits builds trust. Market share needs competitor or market data. Price effects need room-rate data. Luxury versus business needs the hotel category field. Seasons and Grands are not visible in the June and July screenshots.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five actions from the insights. Right: the extra data that would let us confirm the hypotheses and size the prize.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revenue is falling faster than occupancy, one in four bookings is cancelled, and Atliq Grands plus direct channels are the biggest upside.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MIC_TITLE">
    <p:bg>
      <p:bgPr>
        <a:solidFill>
          <a:srgbClr val="0F1B4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MIC_CONTENT">
    <p:bg>
      <p:bgPr>
        <a:solidFill>
          <a:srgbClr val="EAF2FF"/>
        </a:solidFill>
        <a:effectLst/>
      </p:bgPr>
    </p:bg>
    <p:spTree>
      <p:nvGrpSpPr>
        <p:cNvPr id="1" name=""/>
        <p:cNvGrpSpPr/>
        <p:nvPr/>
      </p:nvGrpSpPr>
      <p:grpSpPr>
        <a:xfrm>
          <a:off x="0" y="0"/>
          <a:ext cx="0" cy="0"/>
          <a:chOff x="0" y="0"/>
          <a:chExt cx="0" cy="0"/>
        </a:xfrm>
      </p:grpSpPr>
      <p:pic>
        <p:nvPicPr>
          <p:cNvPr id="2" name="Image 0" descr="/home/claude/ppt/assets/burst.png"/>
          <p:cNvPicPr>
            <a:picLocks noChangeAspect="1"/>
          </p:cNvPicPr>
          <p:nvPr/>
        </p:nvPicPr>
        <p:blipFill>
          <a:blip r:embed="rId2"/>
          <a:stretch>
            <a:fillRect/>
          </a:stretch>
        </p:blipFill>
        <p:spPr>
          <a:xfrm>
            <a:off x="8092440" y="164592"/>
            <a:ext cx="777240" cy="777240"/>
          </a:xfrm>
          <a:prstGeom prst="rect">
            <a:avLst/>
          </a:prstGeom>
        </p:spPr>
      </p:pic>
      <p:sp>
        <p:nvSpPr>
          <p:cNvPr id="3" name="Text 0"/>
          <p:cNvSpPr>
            <a:spLocks noGrp="1"/>
          </p:cNvSpPr>
          <p:nvPr>
            <p:ph type="title" idx="101" hasCustomPrompt="1"/>
          </p:nvPr>
        </p:nvSpPr>
        <p:spPr>
          <a:xfrm>
            <a:off x="457200" y="256032"/>
            <a:ext cx="7406640" cy="685800"/>
          </a:xfrm>
          <a:prstGeom prst="rect">
            <a:avLst/>
          </a:prstGeom>
          <a:noFill/>
          <a:ln/>
        </p:spPr>
        <p:txBody>
          <a:bodyPr wrap="square" rtlCol="0"/>
          <a:lstStyle>
            <a:lvl1pPr marL="0" indent="0" algn="l">
              <a:buNone/>
              <a:defRPr lang="en-US" sz="2800" b="1" dirty="0">
                <a:solidFill>
                  <a:srgbClr val="0F1B4C"/>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8.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9.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Burst" descr="Comic burst"/>
          <p:cNvPicPr>
            <a:picLocks noChangeAspect="1"/>
          </p:cNvPicPr>
          <p:nvPr/>
        </p:nvPicPr>
        <p:blipFill>
          <a:blip r:embed="rId3"/>
          <a:stretch>
            <a:fillRect/>
          </a:stretch>
        </p:blipFill>
        <p:spPr>
          <a:xfrm>
            <a:off x="411480" y="502920"/>
            <a:ext cx="1371600" cy="1371600"/>
          </a:xfrm>
          <a:prstGeom prst="rect">
            <a:avLst/>
          </a:prstGeom>
        </p:spPr>
      </p:pic>
      <p:sp>
        <p:nvSpPr>
          <p:cNvPr id="4" name="Text 0"/>
          <p:cNvSpPr txBox="1"/>
          <p:nvPr/>
        </p:nvSpPr>
        <p:spPr>
          <a:xfrm>
            <a:off x="411480" y="502920"/>
            <a:ext cx="1371600" cy="1371600"/>
          </a:xfrm>
          <a:prstGeom prst="rect">
            <a:avLst/>
          </a:prstGeom>
          <a:noFill/>
          <a:ln/>
        </p:spPr>
        <p:txBody>
          <a:bodyPr wrap="square" lIns="0" tIns="0" rIns="0" bIns="0" rtlCol="0" anchor="ctr"/>
          <a:lstStyle/>
          <a:p>
            <a:pPr marL="0" indent="0" algn="ctr">
              <a:buNone/>
            </a:pPr>
            <a:r>
              <a:rPr lang="en-US" sz="2200" b="1" dirty="0">
                <a:solidFill>
                  <a:srgbClr val="0F1B4C"/>
                </a:solidFill>
                <a:latin typeface="+mj-lt" pitchFamily="34" charset="0"/>
                <a:ea typeface="+mj-lt" pitchFamily="34" charset="-122"/>
                <a:cs typeface="+mj-lt" pitchFamily="34" charset="-120"/>
              </a:rPr>
              <a:t>NEW!</a:t>
            </a:r>
            <a:endParaRPr lang="en-US" sz="2200" dirty="0"/>
          </a:p>
        </p:txBody>
      </p:sp>
      <p:sp>
        <p:nvSpPr>
          <p:cNvPr id="5" name="Text 1"/>
          <p:cNvSpPr txBox="1"/>
          <p:nvPr/>
        </p:nvSpPr>
        <p:spPr>
          <a:xfrm>
            <a:off x="457200" y="1920240"/>
            <a:ext cx="5486400" cy="822960"/>
          </a:xfrm>
          <a:prstGeom prst="rect">
            <a:avLst/>
          </a:prstGeom>
          <a:noFill/>
          <a:ln/>
        </p:spPr>
        <p:txBody>
          <a:bodyPr wrap="square" lIns="0" tIns="0" rIns="0" bIns="0" rtlCol="0" anchor="ctr"/>
          <a:lstStyle/>
          <a:p>
            <a:pPr marL="0" indent="0">
              <a:buNone/>
            </a:pPr>
            <a:r>
              <a:rPr lang="en-US" sz="4800" b="1" dirty="0">
                <a:solidFill>
                  <a:srgbClr val="FFD23F"/>
                </a:solidFill>
                <a:latin typeface="+mj-lt" pitchFamily="34" charset="0"/>
                <a:ea typeface="+mj-lt" pitchFamily="34" charset="-122"/>
                <a:cs typeface="+mj-lt" pitchFamily="34" charset="-120"/>
              </a:rPr>
              <a:t>AtliQ Grands</a:t>
            </a:r>
            <a:endParaRPr lang="en-US" sz="4800" dirty="0"/>
          </a:p>
        </p:txBody>
      </p:sp>
      <p:sp>
        <p:nvSpPr>
          <p:cNvPr id="6" name="Text 2"/>
          <p:cNvSpPr txBox="1"/>
          <p:nvPr/>
        </p:nvSpPr>
        <p:spPr>
          <a:xfrm>
            <a:off x="457200" y="2743200"/>
            <a:ext cx="5486400" cy="548640"/>
          </a:xfrm>
          <a:prstGeom prst="rect">
            <a:avLst/>
          </a:prstGeom>
          <a:noFill/>
          <a:ln/>
        </p:spPr>
        <p:txBody>
          <a:bodyPr wrap="square" lIns="0" tIns="0" rIns="0" bIns="0" rtlCol="0" anchor="ctr"/>
          <a:lstStyle/>
          <a:p>
            <a:pPr marL="0" indent="0">
              <a:buNone/>
            </a:pPr>
            <a:r>
              <a:rPr lang="en-US" sz="2600" b="1" dirty="0">
                <a:solidFill>
                  <a:srgbClr val="FFFFFF"/>
                </a:solidFill>
                <a:latin typeface="+mj-lt" pitchFamily="34" charset="0"/>
                <a:ea typeface="+mj-lt" pitchFamily="34" charset="-122"/>
                <a:cs typeface="+mj-lt" pitchFamily="34" charset="-120"/>
              </a:rPr>
              <a:t>The Hotel Data Comic</a:t>
            </a:r>
            <a:endParaRPr lang="en-US" sz="2600" dirty="0"/>
          </a:p>
        </p:txBody>
      </p:sp>
      <p:sp>
        <p:nvSpPr>
          <p:cNvPr id="7" name="Text 3"/>
          <p:cNvSpPr txBox="1"/>
          <p:nvPr/>
        </p:nvSpPr>
        <p:spPr>
          <a:xfrm>
            <a:off x="457200" y="3383280"/>
            <a:ext cx="5120640" cy="731520"/>
          </a:xfrm>
          <a:prstGeom prst="rect">
            <a:avLst/>
          </a:prstGeom>
          <a:noFill/>
          <a:ln/>
        </p:spPr>
        <p:txBody>
          <a:bodyPr wrap="square" lIns="0" tIns="0" rIns="0" bIns="0" rtlCol="0" anchor="t"/>
          <a:lstStyle/>
          <a:p>
            <a:pPr marL="0" indent="0">
              <a:buNone/>
            </a:pPr>
            <a:r>
              <a:rPr lang="en-US" sz="1600" dirty="0">
                <a:solidFill>
                  <a:srgbClr val="EAF2FF"/>
                </a:solidFill>
              </a:rPr>
              <a:t>How Business &amp; Data Intelligence can win back market share and revenue</a:t>
            </a:r>
            <a:endParaRPr lang="en-US" sz="1600" dirty="0"/>
          </a:p>
        </p:txBody>
      </p:sp>
      <p:sp>
        <p:nvSpPr>
          <p:cNvPr id="8" name="Tag"/>
          <p:cNvSpPr/>
          <p:nvPr/>
        </p:nvSpPr>
        <p:spPr>
          <a:xfrm>
            <a:off x="457200" y="4206240"/>
            <a:ext cx="4206240" cy="457200"/>
          </a:xfrm>
          <a:prstGeom prst="roundRect">
            <a:avLst>
              <a:gd name="adj" fmla="val 30000"/>
            </a:avLst>
          </a:prstGeom>
          <a:solidFill>
            <a:srgbClr val="22C3A6"/>
          </a:solidFill>
          <a:ln w="31750">
            <a:solidFill>
              <a:srgbClr val="0F1B4C"/>
            </a:solidFill>
            <a:prstDash val="solid"/>
          </a:ln>
          <a:effectLst>
            <a:outerShdw blurRad="12700" dist="50800" dir="2700000" algn="bl" rotWithShape="0">
              <a:srgbClr val="0F1B4C">
                <a:alpha val="100000"/>
              </a:srgbClr>
            </a:outerShdw>
          </a:effectLst>
        </p:spPr>
      </p:sp>
      <p:sp>
        <p:nvSpPr>
          <p:cNvPr id="9" name="Text 5"/>
          <p:cNvSpPr txBox="1"/>
          <p:nvPr/>
        </p:nvSpPr>
        <p:spPr>
          <a:xfrm>
            <a:off x="457200" y="4206240"/>
            <a:ext cx="4206240" cy="457200"/>
          </a:xfrm>
          <a:prstGeom prst="rect">
            <a:avLst/>
          </a:prstGeom>
          <a:noFill/>
          <a:ln/>
        </p:spPr>
        <p:txBody>
          <a:bodyPr wrap="square" lIns="0" tIns="0" rIns="0" bIns="0" rtlCol="0" anchor="ctr"/>
          <a:lstStyle/>
          <a:p>
            <a:pPr marL="0" indent="0" algn="ctr">
              <a:buNone/>
            </a:pPr>
            <a:r>
              <a:rPr lang="en-US" sz="1500" b="1" dirty="0">
                <a:solidFill>
                  <a:srgbClr val="0F1B4C"/>
                </a:solidFill>
              </a:rPr>
              <a:t>Metrics  •  Dashboard  •  Insights</a:t>
            </a:r>
            <a:endParaRPr lang="en-US" sz="1500" dirty="0"/>
          </a:p>
        </p:txBody>
      </p:sp>
      <p:pic>
        <p:nvPicPr>
          <p:cNvPr id="10" name="Mascot" descr="Hotel mascot waving"/>
          <p:cNvPicPr>
            <a:picLocks noChangeAspect="1"/>
          </p:cNvPicPr>
          <p:nvPr/>
        </p:nvPicPr>
        <p:blipFill>
          <a:blip r:embed="rId4"/>
          <a:stretch>
            <a:fillRect/>
          </a:stretch>
        </p:blipFill>
        <p:spPr>
          <a:xfrm>
            <a:off x="5806440" y="640080"/>
            <a:ext cx="301752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The Problem</a:t>
            </a:r>
            <a:endParaRPr lang="en-US" sz="2800" dirty="0"/>
          </a:p>
        </p:txBody>
      </p:sp>
      <p:pic>
        <p:nvPicPr>
          <p:cNvPr id="4" name="Mascot" descr="Shocked hotel mascot"/>
          <p:cNvPicPr>
            <a:picLocks noChangeAspect="1"/>
          </p:cNvPicPr>
          <p:nvPr/>
        </p:nvPicPr>
        <p:blipFill>
          <a:blip r:embed="rId3"/>
          <a:stretch>
            <a:fillRect/>
          </a:stretch>
        </p:blipFill>
        <p:spPr>
          <a:xfrm>
            <a:off x="457200" y="1143000"/>
            <a:ext cx="2331720" cy="3108960"/>
          </a:xfrm>
          <a:prstGeom prst="rect">
            <a:avLst/>
          </a:prstGeom>
        </p:spPr>
      </p:pic>
      <p:sp>
        <p:nvSpPr>
          <p:cNvPr id="5" name="Speech bubble"/>
          <p:cNvSpPr/>
          <p:nvPr/>
        </p:nvSpPr>
        <p:spPr>
          <a:xfrm>
            <a:off x="3017520" y="1097280"/>
            <a:ext cx="5669280" cy="1143000"/>
          </a:xfrm>
          <a:prstGeom prst="wedgeRoundRectCallout">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sp>
        <p:nvSpPr>
          <p:cNvPr id="6" name="Text 2"/>
          <p:cNvSpPr txBox="1"/>
          <p:nvPr/>
        </p:nvSpPr>
        <p:spPr>
          <a:xfrm>
            <a:off x="3200400" y="1143000"/>
            <a:ext cx="5303520" cy="91440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We are losing market share and revenue in luxury &amp; business hotels - and we have NO in-house analytics team!</a:t>
            </a:r>
            <a:endParaRPr lang="en-US" sz="1600" dirty="0"/>
          </a:p>
        </p:txBody>
      </p:sp>
      <p:sp>
        <p:nvSpPr>
          <p:cNvPr id="7" name="Fact card 1"/>
          <p:cNvSpPr/>
          <p:nvPr/>
        </p:nvSpPr>
        <p:spPr>
          <a:xfrm>
            <a:off x="3017520" y="2606040"/>
            <a:ext cx="1828800" cy="1645920"/>
          </a:xfrm>
          <a:prstGeom prst="roundRect">
            <a:avLst>
              <a:gd name="adj" fmla="val 8333"/>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pic>
        <p:nvPicPr>
          <p:cNvPr id="8" name="20 years icon" descr="20 years icon"/>
          <p:cNvPicPr>
            <a:picLocks noChangeAspect="1"/>
          </p:cNvPicPr>
          <p:nvPr/>
        </p:nvPicPr>
        <p:blipFill>
          <a:blip r:embed="rId4"/>
          <a:stretch>
            <a:fillRect/>
          </a:stretch>
        </p:blipFill>
        <p:spPr>
          <a:xfrm>
            <a:off x="3657600" y="2724912"/>
            <a:ext cx="548640" cy="548640"/>
          </a:xfrm>
          <a:prstGeom prst="rect">
            <a:avLst/>
          </a:prstGeom>
        </p:spPr>
      </p:pic>
      <p:sp>
        <p:nvSpPr>
          <p:cNvPr id="9" name="Text 4"/>
          <p:cNvSpPr txBox="1"/>
          <p:nvPr/>
        </p:nvSpPr>
        <p:spPr>
          <a:xfrm>
            <a:off x="3108960" y="3337560"/>
            <a:ext cx="1645920" cy="365760"/>
          </a:xfrm>
          <a:prstGeom prst="rect">
            <a:avLst/>
          </a:prstGeom>
          <a:noFill/>
          <a:ln/>
        </p:spPr>
        <p:txBody>
          <a:bodyPr wrap="square" lIns="0" tIns="0" rIns="0" bIns="0" rtlCol="0" anchor="ctr"/>
          <a:lstStyle/>
          <a:p>
            <a:pPr marL="0" indent="0" algn="ctr">
              <a:buNone/>
            </a:pPr>
            <a:r>
              <a:rPr lang="en-US" sz="1600" b="1" dirty="0">
                <a:solidFill>
                  <a:srgbClr val="0F1B4C"/>
                </a:solidFill>
                <a:latin typeface="+mj-lt" pitchFamily="34" charset="0"/>
                <a:ea typeface="+mj-lt" pitchFamily="34" charset="-122"/>
                <a:cs typeface="+mj-lt" pitchFamily="34" charset="-120"/>
              </a:rPr>
              <a:t>20 years</a:t>
            </a:r>
            <a:endParaRPr lang="en-US" sz="1600" dirty="0"/>
          </a:p>
        </p:txBody>
      </p:sp>
      <p:sp>
        <p:nvSpPr>
          <p:cNvPr id="10" name="Text 5"/>
          <p:cNvSpPr txBox="1"/>
          <p:nvPr/>
        </p:nvSpPr>
        <p:spPr>
          <a:xfrm>
            <a:off x="3127248" y="3703320"/>
            <a:ext cx="1609344" cy="457200"/>
          </a:xfrm>
          <a:prstGeom prst="rect">
            <a:avLst/>
          </a:prstGeom>
          <a:noFill/>
          <a:ln/>
        </p:spPr>
        <p:txBody>
          <a:bodyPr wrap="square" lIns="0" tIns="0" rIns="0" bIns="0" rtlCol="0" anchor="t"/>
          <a:lstStyle/>
          <a:p>
            <a:pPr marL="0" indent="0" algn="ctr">
              <a:buNone/>
            </a:pPr>
            <a:r>
              <a:rPr lang="en-US" sz="1300" dirty="0">
                <a:solidFill>
                  <a:srgbClr val="0F1B4C"/>
                </a:solidFill>
              </a:rPr>
              <a:t>in the hospitality industry</a:t>
            </a:r>
            <a:endParaRPr lang="en-US" sz="1300" dirty="0"/>
          </a:p>
        </p:txBody>
      </p:sp>
      <p:sp>
        <p:nvSpPr>
          <p:cNvPr id="11" name="Fact card 2"/>
          <p:cNvSpPr/>
          <p:nvPr/>
        </p:nvSpPr>
        <p:spPr>
          <a:xfrm>
            <a:off x="4937760" y="2606040"/>
            <a:ext cx="1828800" cy="1645920"/>
          </a:xfrm>
          <a:prstGeom prst="roundRect">
            <a:avLst>
              <a:gd name="adj" fmla="val 8333"/>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12" name="Five-star icon" descr="Five-star icon"/>
          <p:cNvPicPr>
            <a:picLocks noChangeAspect="1"/>
          </p:cNvPicPr>
          <p:nvPr/>
        </p:nvPicPr>
        <p:blipFill>
          <a:blip r:embed="rId5"/>
          <a:stretch>
            <a:fillRect/>
          </a:stretch>
        </p:blipFill>
        <p:spPr>
          <a:xfrm>
            <a:off x="5577840" y="2724912"/>
            <a:ext cx="548640" cy="548640"/>
          </a:xfrm>
          <a:prstGeom prst="rect">
            <a:avLst/>
          </a:prstGeom>
        </p:spPr>
      </p:pic>
      <p:sp>
        <p:nvSpPr>
          <p:cNvPr id="13" name="Text 7"/>
          <p:cNvSpPr txBox="1"/>
          <p:nvPr/>
        </p:nvSpPr>
        <p:spPr>
          <a:xfrm>
            <a:off x="5029200" y="3337560"/>
            <a:ext cx="1645920" cy="365760"/>
          </a:xfrm>
          <a:prstGeom prst="rect">
            <a:avLst/>
          </a:prstGeom>
          <a:noFill/>
          <a:ln/>
        </p:spPr>
        <p:txBody>
          <a:bodyPr wrap="square" lIns="0" tIns="0" rIns="0" bIns="0" rtlCol="0" anchor="ctr"/>
          <a:lstStyle/>
          <a:p>
            <a:pPr marL="0" indent="0" algn="ctr">
              <a:buNone/>
            </a:pPr>
            <a:r>
              <a:rPr lang="en-US" sz="1600" b="1" dirty="0">
                <a:solidFill>
                  <a:srgbClr val="0F1B4C"/>
                </a:solidFill>
                <a:latin typeface="+mj-lt" pitchFamily="34" charset="0"/>
                <a:ea typeface="+mj-lt" pitchFamily="34" charset="-122"/>
                <a:cs typeface="+mj-lt" pitchFamily="34" charset="-120"/>
              </a:rPr>
              <a:t>Five-star</a:t>
            </a:r>
            <a:endParaRPr lang="en-US" sz="1600" dirty="0"/>
          </a:p>
        </p:txBody>
      </p:sp>
      <p:sp>
        <p:nvSpPr>
          <p:cNvPr id="14" name="Text 8"/>
          <p:cNvSpPr txBox="1"/>
          <p:nvPr/>
        </p:nvSpPr>
        <p:spPr>
          <a:xfrm>
            <a:off x="5047488" y="3703320"/>
            <a:ext cx="1609344" cy="457200"/>
          </a:xfrm>
          <a:prstGeom prst="rect">
            <a:avLst/>
          </a:prstGeom>
          <a:noFill/>
          <a:ln/>
        </p:spPr>
        <p:txBody>
          <a:bodyPr wrap="square" lIns="0" tIns="0" rIns="0" bIns="0" rtlCol="0" anchor="t"/>
          <a:lstStyle/>
          <a:p>
            <a:pPr marL="0" indent="0" algn="ctr">
              <a:buNone/>
            </a:pPr>
            <a:r>
              <a:rPr lang="en-US" sz="1300" dirty="0">
                <a:solidFill>
                  <a:srgbClr val="0F1B4C"/>
                </a:solidFill>
              </a:rPr>
              <a:t>hotels across India</a:t>
            </a:r>
            <a:endParaRPr lang="en-US" sz="1300" dirty="0"/>
          </a:p>
        </p:txBody>
      </p:sp>
      <p:sp>
        <p:nvSpPr>
          <p:cNvPr id="15" name="Fact card 3"/>
          <p:cNvSpPr/>
          <p:nvPr/>
        </p:nvSpPr>
        <p:spPr>
          <a:xfrm>
            <a:off x="6858000" y="2606040"/>
            <a:ext cx="1828800" cy="1645920"/>
          </a:xfrm>
          <a:prstGeom prst="roundRect">
            <a:avLst>
              <a:gd name="adj" fmla="val 8333"/>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16" name="Losing ground icon" descr="Losing ground icon"/>
          <p:cNvPicPr>
            <a:picLocks noChangeAspect="1"/>
          </p:cNvPicPr>
          <p:nvPr/>
        </p:nvPicPr>
        <p:blipFill>
          <a:blip r:embed="rId6"/>
          <a:stretch>
            <a:fillRect/>
          </a:stretch>
        </p:blipFill>
        <p:spPr>
          <a:xfrm>
            <a:off x="7498080" y="2724912"/>
            <a:ext cx="548640" cy="548640"/>
          </a:xfrm>
          <a:prstGeom prst="rect">
            <a:avLst/>
          </a:prstGeom>
        </p:spPr>
      </p:pic>
      <p:sp>
        <p:nvSpPr>
          <p:cNvPr id="17" name="Text 10"/>
          <p:cNvSpPr txBox="1"/>
          <p:nvPr/>
        </p:nvSpPr>
        <p:spPr>
          <a:xfrm>
            <a:off x="6949440" y="3337560"/>
            <a:ext cx="1645920" cy="365760"/>
          </a:xfrm>
          <a:prstGeom prst="rect">
            <a:avLst/>
          </a:prstGeom>
          <a:noFill/>
          <a:ln/>
        </p:spPr>
        <p:txBody>
          <a:bodyPr wrap="square" lIns="0" tIns="0" rIns="0" bIns="0" rtlCol="0" anchor="ctr"/>
          <a:lstStyle/>
          <a:p>
            <a:pPr marL="0" indent="0" algn="ctr">
              <a:buNone/>
            </a:pPr>
            <a:r>
              <a:rPr lang="en-US" sz="1600" b="1" dirty="0">
                <a:solidFill>
                  <a:srgbClr val="0F1B4C"/>
                </a:solidFill>
                <a:latin typeface="+mj-lt" pitchFamily="34" charset="0"/>
                <a:ea typeface="+mj-lt" pitchFamily="34" charset="-122"/>
                <a:cs typeface="+mj-lt" pitchFamily="34" charset="-120"/>
              </a:rPr>
              <a:t>Losing ground</a:t>
            </a:r>
            <a:endParaRPr lang="en-US" sz="1600" dirty="0"/>
          </a:p>
        </p:txBody>
      </p:sp>
      <p:sp>
        <p:nvSpPr>
          <p:cNvPr id="18" name="Text 11"/>
          <p:cNvSpPr txBox="1"/>
          <p:nvPr/>
        </p:nvSpPr>
        <p:spPr>
          <a:xfrm>
            <a:off x="6967728" y="3703320"/>
            <a:ext cx="1609344" cy="457200"/>
          </a:xfrm>
          <a:prstGeom prst="rect">
            <a:avLst/>
          </a:prstGeom>
          <a:noFill/>
          <a:ln/>
        </p:spPr>
        <p:txBody>
          <a:bodyPr wrap="square" lIns="0" tIns="0" rIns="0" bIns="0" rtlCol="0" anchor="t"/>
          <a:lstStyle/>
          <a:p>
            <a:pPr marL="0" indent="0" algn="ctr">
              <a:buNone/>
            </a:pPr>
            <a:r>
              <a:rPr lang="en-US" sz="1300" dirty="0">
                <a:solidFill>
                  <a:srgbClr val="0F1B4C"/>
                </a:solidFill>
              </a:rPr>
              <a:t>rivals move fast, decisions lag</a:t>
            </a:r>
            <a:endParaRPr lang="en-US" sz="1300" dirty="0"/>
          </a:p>
        </p:txBody>
      </p:sp>
      <p:sp>
        <p:nvSpPr>
          <p:cNvPr id="19" name="Insight banner"/>
          <p:cNvSpPr/>
          <p:nvPr/>
        </p:nvSpPr>
        <p:spPr>
          <a:xfrm>
            <a:off x="457200" y="4389120"/>
            <a:ext cx="8229600" cy="457200"/>
          </a:xfrm>
          <a:prstGeom prst="roundRect">
            <a:avLst>
              <a:gd name="adj" fmla="val 30000"/>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20" name="Text 13"/>
          <p:cNvSpPr txBox="1"/>
          <p:nvPr/>
        </p:nvSpPr>
        <p:spPr>
          <a:xfrm>
            <a:off x="685800" y="4434840"/>
            <a:ext cx="7772400" cy="36576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Plan: hire a 3rd-party analyst (us!) to turn history into decisions</a:t>
            </a:r>
            <a:endParaRPr lang="en-US" sz="15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Our Mission: 3 Tasks</a:t>
            </a:r>
            <a:endParaRPr lang="en-US" sz="2800" dirty="0"/>
          </a:p>
        </p:txBody>
      </p:sp>
      <p:sp>
        <p:nvSpPr>
          <p:cNvPr id="4" name="Mission panel 1"/>
          <p:cNvSpPr/>
          <p:nvPr/>
        </p:nvSpPr>
        <p:spPr>
          <a:xfrm>
            <a:off x="457200" y="1234440"/>
            <a:ext cx="2560320" cy="3017520"/>
          </a:xfrm>
          <a:prstGeom prst="roundRect">
            <a:avLst>
              <a:gd name="adj" fmla="val 5357"/>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sp>
        <p:nvSpPr>
          <p:cNvPr id="5" name="Step badge 1"/>
          <p:cNvSpPr/>
          <p:nvPr/>
        </p:nvSpPr>
        <p:spPr>
          <a:xfrm>
            <a:off x="594360" y="1371600"/>
            <a:ext cx="502920" cy="502920"/>
          </a:xfrm>
          <a:prstGeom prst="ellipse">
            <a:avLst/>
          </a:prstGeom>
          <a:solidFill>
            <a:srgbClr val="22C3A6"/>
          </a:solidFill>
          <a:ln w="31750">
            <a:solidFill>
              <a:srgbClr val="0F1B4C"/>
            </a:solidFill>
            <a:prstDash val="solid"/>
          </a:ln>
        </p:spPr>
      </p:sp>
      <p:sp>
        <p:nvSpPr>
          <p:cNvPr id="6" name="Text 3"/>
          <p:cNvSpPr txBox="1"/>
          <p:nvPr/>
        </p:nvSpPr>
        <p:spPr>
          <a:xfrm>
            <a:off x="594360" y="13716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mj-lt" pitchFamily="34" charset="0"/>
                <a:ea typeface="+mj-lt" pitchFamily="34" charset="-122"/>
                <a:cs typeface="+mj-lt" pitchFamily="34" charset="-120"/>
              </a:rPr>
              <a:t>1</a:t>
            </a:r>
            <a:endParaRPr lang="en-US" sz="2000" dirty="0"/>
          </a:p>
        </p:txBody>
      </p:sp>
      <p:pic>
        <p:nvPicPr>
          <p:cNvPr id="7" name="Create metrics icon" descr="Create metrics icon"/>
          <p:cNvPicPr>
            <a:picLocks noChangeAspect="1"/>
          </p:cNvPicPr>
          <p:nvPr/>
        </p:nvPicPr>
        <p:blipFill>
          <a:blip r:embed="rId3"/>
          <a:stretch>
            <a:fillRect/>
          </a:stretch>
        </p:blipFill>
        <p:spPr>
          <a:xfrm>
            <a:off x="2011680" y="1371600"/>
            <a:ext cx="777240" cy="777240"/>
          </a:xfrm>
          <a:prstGeom prst="rect">
            <a:avLst/>
          </a:prstGeom>
        </p:spPr>
      </p:pic>
      <p:sp>
        <p:nvSpPr>
          <p:cNvPr id="8" name="Text 4"/>
          <p:cNvSpPr txBox="1"/>
          <p:nvPr/>
        </p:nvSpPr>
        <p:spPr>
          <a:xfrm>
            <a:off x="640080" y="2331720"/>
            <a:ext cx="2194560" cy="457200"/>
          </a:xfrm>
          <a:prstGeom prst="rect">
            <a:avLst/>
          </a:prstGeom>
          <a:noFill/>
          <a:ln/>
        </p:spPr>
        <p:txBody>
          <a:bodyPr wrap="square" lIns="0" tIns="0" rIns="0" bIns="0" rtlCol="0" anchor="ctr"/>
          <a:lstStyle/>
          <a:p>
            <a:pPr marL="0" indent="0">
              <a:buNone/>
            </a:pPr>
            <a:r>
              <a:rPr lang="en-US" sz="1800" b="1" dirty="0">
                <a:solidFill>
                  <a:srgbClr val="0F1B4C"/>
                </a:solidFill>
                <a:latin typeface="+mj-lt" pitchFamily="34" charset="0"/>
                <a:ea typeface="+mj-lt" pitchFamily="34" charset="-122"/>
                <a:cs typeface="+mj-lt" pitchFamily="34" charset="-120"/>
              </a:rPr>
              <a:t>Create metrics</a:t>
            </a:r>
            <a:endParaRPr lang="en-US" sz="1800" dirty="0"/>
          </a:p>
        </p:txBody>
      </p:sp>
      <p:sp>
        <p:nvSpPr>
          <p:cNvPr id="9" name="Text 5"/>
          <p:cNvSpPr txBox="1"/>
          <p:nvPr/>
        </p:nvSpPr>
        <p:spPr>
          <a:xfrm>
            <a:off x="640080" y="2834640"/>
            <a:ext cx="2194560" cy="1280160"/>
          </a:xfrm>
          <a:prstGeom prst="rect">
            <a:avLst/>
          </a:prstGeom>
          <a:noFill/>
          <a:ln/>
        </p:spPr>
        <p:txBody>
          <a:bodyPr wrap="square" lIns="0" tIns="0" rIns="0" bIns="0" rtlCol="0" anchor="t"/>
          <a:lstStyle/>
          <a:p>
            <a:pPr marL="0" indent="0">
              <a:buNone/>
            </a:pPr>
            <a:r>
              <a:rPr lang="en-US" sz="1400" dirty="0">
                <a:solidFill>
                  <a:srgbClr val="0F1B4C"/>
                </a:solidFill>
              </a:rPr>
              <a:t>Turn the metric list into reusable DAX measures: revenue, occupancy, rating, cancellations.</a:t>
            </a:r>
            <a:endParaRPr lang="en-US" sz="1400" dirty="0"/>
          </a:p>
        </p:txBody>
      </p:sp>
      <p:sp>
        <p:nvSpPr>
          <p:cNvPr id="10" name="Mission panel 2"/>
          <p:cNvSpPr/>
          <p:nvPr/>
        </p:nvSpPr>
        <p:spPr>
          <a:xfrm>
            <a:off x="3291840" y="1234440"/>
            <a:ext cx="2560320" cy="3017520"/>
          </a:xfrm>
          <a:prstGeom prst="roundRect">
            <a:avLst>
              <a:gd name="adj" fmla="val 5357"/>
            </a:avLst>
          </a:prstGeom>
          <a:solidFill>
            <a:srgbClr val="E0DEFF"/>
          </a:solidFill>
          <a:ln w="31750">
            <a:solidFill>
              <a:srgbClr val="0F1B4C"/>
            </a:solidFill>
            <a:prstDash val="solid"/>
          </a:ln>
          <a:effectLst>
            <a:outerShdw blurRad="12700" dist="50800" dir="2700000" algn="bl" rotWithShape="0">
              <a:srgbClr val="0F1B4C">
                <a:alpha val="100000"/>
              </a:srgbClr>
            </a:outerShdw>
          </a:effectLst>
        </p:spPr>
      </p:sp>
      <p:sp>
        <p:nvSpPr>
          <p:cNvPr id="11" name="Step badge 2"/>
          <p:cNvSpPr/>
          <p:nvPr/>
        </p:nvSpPr>
        <p:spPr>
          <a:xfrm>
            <a:off x="3429000" y="1371600"/>
            <a:ext cx="502920" cy="502920"/>
          </a:xfrm>
          <a:prstGeom prst="ellipse">
            <a:avLst/>
          </a:prstGeom>
          <a:solidFill>
            <a:srgbClr val="8B5CF6"/>
          </a:solidFill>
          <a:ln w="31750">
            <a:solidFill>
              <a:srgbClr val="0F1B4C"/>
            </a:solidFill>
            <a:prstDash val="solid"/>
          </a:ln>
        </p:spPr>
      </p:sp>
      <p:sp>
        <p:nvSpPr>
          <p:cNvPr id="12" name="Text 8"/>
          <p:cNvSpPr txBox="1"/>
          <p:nvPr/>
        </p:nvSpPr>
        <p:spPr>
          <a:xfrm>
            <a:off x="3429000" y="13716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mj-lt" pitchFamily="34" charset="0"/>
                <a:ea typeface="+mj-lt" pitchFamily="34" charset="-122"/>
                <a:cs typeface="+mj-lt" pitchFamily="34" charset="-120"/>
              </a:rPr>
              <a:t>2</a:t>
            </a:r>
            <a:endParaRPr lang="en-US" sz="2000" dirty="0"/>
          </a:p>
        </p:txBody>
      </p:sp>
      <p:pic>
        <p:nvPicPr>
          <p:cNvPr id="13" name="Build the dashboard icon" descr="Build the dashboard icon"/>
          <p:cNvPicPr>
            <a:picLocks noChangeAspect="1"/>
          </p:cNvPicPr>
          <p:nvPr/>
        </p:nvPicPr>
        <p:blipFill>
          <a:blip r:embed="rId4"/>
          <a:stretch>
            <a:fillRect/>
          </a:stretch>
        </p:blipFill>
        <p:spPr>
          <a:xfrm>
            <a:off x="4846320" y="1371600"/>
            <a:ext cx="777240" cy="777240"/>
          </a:xfrm>
          <a:prstGeom prst="rect">
            <a:avLst/>
          </a:prstGeom>
        </p:spPr>
      </p:pic>
      <p:sp>
        <p:nvSpPr>
          <p:cNvPr id="14" name="Text 9"/>
          <p:cNvSpPr txBox="1"/>
          <p:nvPr/>
        </p:nvSpPr>
        <p:spPr>
          <a:xfrm>
            <a:off x="3474720" y="2331720"/>
            <a:ext cx="2194560" cy="457200"/>
          </a:xfrm>
          <a:prstGeom prst="rect">
            <a:avLst/>
          </a:prstGeom>
          <a:noFill/>
          <a:ln/>
        </p:spPr>
        <p:txBody>
          <a:bodyPr wrap="square" lIns="0" tIns="0" rIns="0" bIns="0" rtlCol="0" anchor="ctr"/>
          <a:lstStyle/>
          <a:p>
            <a:pPr marL="0" indent="0">
              <a:buNone/>
            </a:pPr>
            <a:r>
              <a:rPr lang="en-US" sz="1800" b="1" dirty="0">
                <a:solidFill>
                  <a:srgbClr val="0F1B4C"/>
                </a:solidFill>
                <a:latin typeface="+mj-lt" pitchFamily="34" charset="0"/>
                <a:ea typeface="+mj-lt" pitchFamily="34" charset="-122"/>
                <a:cs typeface="+mj-lt" pitchFamily="34" charset="-120"/>
              </a:rPr>
              <a:t>Build the dashboard</a:t>
            </a:r>
            <a:endParaRPr lang="en-US" sz="1800" dirty="0"/>
          </a:p>
        </p:txBody>
      </p:sp>
      <p:sp>
        <p:nvSpPr>
          <p:cNvPr id="15" name="Text 10"/>
          <p:cNvSpPr txBox="1"/>
          <p:nvPr/>
        </p:nvSpPr>
        <p:spPr>
          <a:xfrm>
            <a:off x="3474720" y="2834640"/>
            <a:ext cx="2194560" cy="1280160"/>
          </a:xfrm>
          <a:prstGeom prst="rect">
            <a:avLst/>
          </a:prstGeom>
          <a:noFill/>
          <a:ln/>
        </p:spPr>
        <p:txBody>
          <a:bodyPr wrap="square" lIns="0" tIns="0" rIns="0" bIns="0" rtlCol="0" anchor="t"/>
          <a:lstStyle/>
          <a:p>
            <a:pPr marL="0" indent="0">
              <a:buNone/>
            </a:pPr>
            <a:r>
              <a:rPr lang="en-US" sz="1400" dirty="0">
                <a:solidFill>
                  <a:srgbClr val="0F1B4C"/>
                </a:solidFill>
              </a:rPr>
              <a:t>Follow the stakeholder mock-up: KPI cards, city / platform / property views, filters.</a:t>
            </a:r>
            <a:endParaRPr lang="en-US" sz="1400" dirty="0"/>
          </a:p>
        </p:txBody>
      </p:sp>
      <p:sp>
        <p:nvSpPr>
          <p:cNvPr id="16" name="Mission panel 3"/>
          <p:cNvSpPr/>
          <p:nvPr/>
        </p:nvSpPr>
        <p:spPr>
          <a:xfrm>
            <a:off x="6126480" y="1234440"/>
            <a:ext cx="2560320" cy="3017520"/>
          </a:xfrm>
          <a:prstGeom prst="roundRect">
            <a:avLst>
              <a:gd name="adj" fmla="val 5357"/>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sp>
        <p:nvSpPr>
          <p:cNvPr id="17" name="Step badge 3"/>
          <p:cNvSpPr/>
          <p:nvPr/>
        </p:nvSpPr>
        <p:spPr>
          <a:xfrm>
            <a:off x="6263640" y="1371600"/>
            <a:ext cx="502920" cy="502920"/>
          </a:xfrm>
          <a:prstGeom prst="ellipse">
            <a:avLst/>
          </a:prstGeom>
          <a:solidFill>
            <a:srgbClr val="FF6B6B"/>
          </a:solidFill>
          <a:ln w="31750">
            <a:solidFill>
              <a:srgbClr val="0F1B4C"/>
            </a:solidFill>
            <a:prstDash val="solid"/>
          </a:ln>
        </p:spPr>
      </p:sp>
      <p:sp>
        <p:nvSpPr>
          <p:cNvPr id="18" name="Text 13"/>
          <p:cNvSpPr txBox="1"/>
          <p:nvPr/>
        </p:nvSpPr>
        <p:spPr>
          <a:xfrm>
            <a:off x="6263640" y="13716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mj-lt" pitchFamily="34" charset="0"/>
                <a:ea typeface="+mj-lt" pitchFamily="34" charset="-122"/>
                <a:cs typeface="+mj-lt" pitchFamily="34" charset="-120"/>
              </a:rPr>
              <a:t>3</a:t>
            </a:r>
            <a:endParaRPr lang="en-US" sz="2000" dirty="0"/>
          </a:p>
        </p:txBody>
      </p:sp>
      <p:pic>
        <p:nvPicPr>
          <p:cNvPr id="19" name="Find new insights icon" descr="Find new insights icon"/>
          <p:cNvPicPr>
            <a:picLocks noChangeAspect="1"/>
          </p:cNvPicPr>
          <p:nvPr/>
        </p:nvPicPr>
        <p:blipFill>
          <a:blip r:embed="rId5"/>
          <a:stretch>
            <a:fillRect/>
          </a:stretch>
        </p:blipFill>
        <p:spPr>
          <a:xfrm>
            <a:off x="7680960" y="1371600"/>
            <a:ext cx="777240" cy="777240"/>
          </a:xfrm>
          <a:prstGeom prst="rect">
            <a:avLst/>
          </a:prstGeom>
        </p:spPr>
      </p:pic>
      <p:sp>
        <p:nvSpPr>
          <p:cNvPr id="20" name="Text 14"/>
          <p:cNvSpPr txBox="1"/>
          <p:nvPr/>
        </p:nvSpPr>
        <p:spPr>
          <a:xfrm>
            <a:off x="6309360" y="2331720"/>
            <a:ext cx="2194560" cy="457200"/>
          </a:xfrm>
          <a:prstGeom prst="rect">
            <a:avLst/>
          </a:prstGeom>
          <a:noFill/>
          <a:ln/>
        </p:spPr>
        <p:txBody>
          <a:bodyPr wrap="square" lIns="0" tIns="0" rIns="0" bIns="0" rtlCol="0" anchor="ctr"/>
          <a:lstStyle/>
          <a:p>
            <a:pPr marL="0" indent="0">
              <a:buNone/>
            </a:pPr>
            <a:r>
              <a:rPr lang="en-US" sz="1800" b="1" dirty="0">
                <a:solidFill>
                  <a:srgbClr val="0F1B4C"/>
                </a:solidFill>
                <a:latin typeface="+mj-lt" pitchFamily="34" charset="0"/>
                <a:ea typeface="+mj-lt" pitchFamily="34" charset="-122"/>
                <a:cs typeface="+mj-lt" pitchFamily="34" charset="-120"/>
              </a:rPr>
              <a:t>Find new insights</a:t>
            </a:r>
            <a:endParaRPr lang="en-US" sz="1800" dirty="0"/>
          </a:p>
        </p:txBody>
      </p:sp>
      <p:sp>
        <p:nvSpPr>
          <p:cNvPr id="21" name="Text 15"/>
          <p:cNvSpPr txBox="1"/>
          <p:nvPr/>
        </p:nvSpPr>
        <p:spPr>
          <a:xfrm>
            <a:off x="6309360" y="2834640"/>
            <a:ext cx="2194560" cy="1280160"/>
          </a:xfrm>
          <a:prstGeom prst="rect">
            <a:avLst/>
          </a:prstGeom>
          <a:noFill/>
          <a:ln/>
        </p:spPr>
        <p:txBody>
          <a:bodyPr wrap="square" lIns="0" tIns="0" rIns="0" bIns="0" rtlCol="0" anchor="t"/>
          <a:lstStyle/>
          <a:p>
            <a:pPr marL="0" indent="0">
              <a:buNone/>
            </a:pPr>
            <a:r>
              <a:rPr lang="en-US" sz="1400" dirty="0">
                <a:solidFill>
                  <a:srgbClr val="0F1B4C"/>
                </a:solidFill>
              </a:rPr>
              <a:t>Go beyond the brief: cancellation leakage, channel mix, weekend skew, hotel report card.</a:t>
            </a:r>
            <a:endParaRPr lang="en-US" sz="1400" dirty="0"/>
          </a:p>
        </p:txBody>
      </p:sp>
      <p:sp>
        <p:nvSpPr>
          <p:cNvPr id="22" name="Insight banner"/>
          <p:cNvSpPr/>
          <p:nvPr/>
        </p:nvSpPr>
        <p:spPr>
          <a:xfrm>
            <a:off x="457200" y="4389120"/>
            <a:ext cx="8229600" cy="457200"/>
          </a:xfrm>
          <a:prstGeom prst="roundRect">
            <a:avLst>
              <a:gd name="adj" fmla="val 30000"/>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23" name="Text 17"/>
          <p:cNvSpPr txBox="1"/>
          <p:nvPr/>
        </p:nvSpPr>
        <p:spPr>
          <a:xfrm>
            <a:off x="685800" y="4434840"/>
            <a:ext cx="7772400" cy="36576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Deliverable: a Power BI report - Overview, Monthly, About</a:t>
            </a:r>
            <a:endParaRPr lang="en-US" sz="15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What Data We Need</a:t>
            </a:r>
            <a:endParaRPr lang="en-US" sz="2800" dirty="0"/>
          </a:p>
        </p:txBody>
      </p:sp>
      <p:sp>
        <p:nvSpPr>
          <p:cNvPr id="4" name="Dimension dim_hotels"/>
          <p:cNvSpPr/>
          <p:nvPr/>
        </p:nvSpPr>
        <p:spPr>
          <a:xfrm>
            <a:off x="457200" y="1143000"/>
            <a:ext cx="2651760" cy="1097280"/>
          </a:xfrm>
          <a:prstGeom prst="roundRect">
            <a:avLst>
              <a:gd name="adj" fmla="val 12500"/>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sp>
        <p:nvSpPr>
          <p:cNvPr id="5" name="Text 2"/>
          <p:cNvSpPr txBox="1"/>
          <p:nvPr/>
        </p:nvSpPr>
        <p:spPr>
          <a:xfrm>
            <a:off x="594360" y="1188720"/>
            <a:ext cx="2377440" cy="36576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dim_hotels</a:t>
            </a:r>
            <a:endParaRPr lang="en-US" sz="1600" dirty="0"/>
          </a:p>
        </p:txBody>
      </p:sp>
      <p:sp>
        <p:nvSpPr>
          <p:cNvPr id="6" name="Text 3"/>
          <p:cNvSpPr txBox="1"/>
          <p:nvPr/>
        </p:nvSpPr>
        <p:spPr>
          <a:xfrm>
            <a:off x="594360" y="1554480"/>
            <a:ext cx="2377440" cy="640080"/>
          </a:xfrm>
          <a:prstGeom prst="rect">
            <a:avLst/>
          </a:prstGeom>
          <a:noFill/>
          <a:ln/>
        </p:spPr>
        <p:txBody>
          <a:bodyPr wrap="square" lIns="0" tIns="0" rIns="0" bIns="0" rtlCol="0" anchor="t"/>
          <a:lstStyle/>
          <a:p>
            <a:pPr marL="0" indent="0">
              <a:buNone/>
            </a:pPr>
            <a:r>
              <a:rPr lang="en-US" sz="1300" dirty="0">
                <a:solidFill>
                  <a:srgbClr val="0F1B4C"/>
                </a:solidFill>
              </a:rPr>
              <a:t>property_id, property_name, category, city</a:t>
            </a:r>
            <a:endParaRPr lang="en-US" sz="1300" dirty="0"/>
          </a:p>
        </p:txBody>
      </p:sp>
      <p:sp>
        <p:nvSpPr>
          <p:cNvPr id="7" name="Arrow dim_hotels"/>
          <p:cNvSpPr/>
          <p:nvPr/>
        </p:nvSpPr>
        <p:spPr>
          <a:xfrm>
            <a:off x="1554480" y="2331720"/>
            <a:ext cx="457200" cy="457200"/>
          </a:xfrm>
          <a:prstGeom prst="downArrow">
            <a:avLst/>
          </a:prstGeom>
          <a:solidFill>
            <a:srgbClr val="FF9F1C"/>
          </a:solidFill>
          <a:ln w="25400">
            <a:solidFill>
              <a:srgbClr val="0F1B4C"/>
            </a:solidFill>
            <a:prstDash val="solid"/>
          </a:ln>
        </p:spPr>
      </p:sp>
      <p:sp>
        <p:nvSpPr>
          <p:cNvPr id="8" name="Dimension dim_rooms"/>
          <p:cNvSpPr/>
          <p:nvPr/>
        </p:nvSpPr>
        <p:spPr>
          <a:xfrm>
            <a:off x="3246120" y="1143000"/>
            <a:ext cx="2651760" cy="1097280"/>
          </a:xfrm>
          <a:prstGeom prst="roundRect">
            <a:avLst>
              <a:gd name="adj" fmla="val 12500"/>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sp>
        <p:nvSpPr>
          <p:cNvPr id="9" name="Text 6"/>
          <p:cNvSpPr txBox="1"/>
          <p:nvPr/>
        </p:nvSpPr>
        <p:spPr>
          <a:xfrm>
            <a:off x="3383280" y="1188720"/>
            <a:ext cx="2377440" cy="36576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dim_rooms</a:t>
            </a:r>
            <a:endParaRPr lang="en-US" sz="1600" dirty="0"/>
          </a:p>
        </p:txBody>
      </p:sp>
      <p:sp>
        <p:nvSpPr>
          <p:cNvPr id="10" name="Text 7"/>
          <p:cNvSpPr txBox="1"/>
          <p:nvPr/>
        </p:nvSpPr>
        <p:spPr>
          <a:xfrm>
            <a:off x="3383280" y="1554480"/>
            <a:ext cx="2377440" cy="640080"/>
          </a:xfrm>
          <a:prstGeom prst="rect">
            <a:avLst/>
          </a:prstGeom>
          <a:noFill/>
          <a:ln/>
        </p:spPr>
        <p:txBody>
          <a:bodyPr wrap="square" lIns="0" tIns="0" rIns="0" bIns="0" rtlCol="0" anchor="t"/>
          <a:lstStyle/>
          <a:p>
            <a:pPr marL="0" indent="0">
              <a:buNone/>
            </a:pPr>
            <a:r>
              <a:rPr lang="en-US" sz="1300" dirty="0">
                <a:solidFill>
                  <a:srgbClr val="0F1B4C"/>
                </a:solidFill>
              </a:rPr>
              <a:t>room_id, room_class</a:t>
            </a:r>
            <a:endParaRPr lang="en-US" sz="1300" dirty="0"/>
          </a:p>
        </p:txBody>
      </p:sp>
      <p:sp>
        <p:nvSpPr>
          <p:cNvPr id="11" name="Arrow dim_rooms"/>
          <p:cNvSpPr/>
          <p:nvPr/>
        </p:nvSpPr>
        <p:spPr>
          <a:xfrm>
            <a:off x="4343400" y="2331720"/>
            <a:ext cx="457200" cy="457200"/>
          </a:xfrm>
          <a:prstGeom prst="downArrow">
            <a:avLst/>
          </a:prstGeom>
          <a:solidFill>
            <a:srgbClr val="FF9F1C"/>
          </a:solidFill>
          <a:ln w="25400">
            <a:solidFill>
              <a:srgbClr val="0F1B4C"/>
            </a:solidFill>
            <a:prstDash val="solid"/>
          </a:ln>
        </p:spPr>
      </p:sp>
      <p:sp>
        <p:nvSpPr>
          <p:cNvPr id="12" name="Dimension dim_date"/>
          <p:cNvSpPr/>
          <p:nvPr/>
        </p:nvSpPr>
        <p:spPr>
          <a:xfrm>
            <a:off x="6035040" y="1143000"/>
            <a:ext cx="2651760" cy="1097280"/>
          </a:xfrm>
          <a:prstGeom prst="roundRect">
            <a:avLst>
              <a:gd name="adj" fmla="val 12500"/>
            </a:avLst>
          </a:prstGeom>
          <a:solidFill>
            <a:srgbClr val="E0DEFF"/>
          </a:solidFill>
          <a:ln w="31750">
            <a:solidFill>
              <a:srgbClr val="0F1B4C"/>
            </a:solidFill>
            <a:prstDash val="solid"/>
          </a:ln>
          <a:effectLst>
            <a:outerShdw blurRad="12700" dist="50800" dir="2700000" algn="bl" rotWithShape="0">
              <a:srgbClr val="0F1B4C">
                <a:alpha val="100000"/>
              </a:srgbClr>
            </a:outerShdw>
          </a:effectLst>
        </p:spPr>
      </p:sp>
      <p:sp>
        <p:nvSpPr>
          <p:cNvPr id="13" name="Text 10"/>
          <p:cNvSpPr txBox="1"/>
          <p:nvPr/>
        </p:nvSpPr>
        <p:spPr>
          <a:xfrm>
            <a:off x="6172200" y="1188720"/>
            <a:ext cx="2377440" cy="36576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dim_date</a:t>
            </a:r>
            <a:endParaRPr lang="en-US" sz="1600" dirty="0"/>
          </a:p>
        </p:txBody>
      </p:sp>
      <p:sp>
        <p:nvSpPr>
          <p:cNvPr id="14" name="Text 11"/>
          <p:cNvSpPr txBox="1"/>
          <p:nvPr/>
        </p:nvSpPr>
        <p:spPr>
          <a:xfrm>
            <a:off x="6172200" y="1554480"/>
            <a:ext cx="2377440" cy="640080"/>
          </a:xfrm>
          <a:prstGeom prst="rect">
            <a:avLst/>
          </a:prstGeom>
          <a:noFill/>
          <a:ln/>
        </p:spPr>
        <p:txBody>
          <a:bodyPr wrap="square" lIns="0" tIns="0" rIns="0" bIns="0" rtlCol="0" anchor="t"/>
          <a:lstStyle/>
          <a:p>
            <a:pPr marL="0" indent="0">
              <a:buNone/>
            </a:pPr>
            <a:r>
              <a:rPr lang="en-US" sz="1300" dirty="0">
                <a:solidFill>
                  <a:srgbClr val="0F1B4C"/>
                </a:solidFill>
              </a:rPr>
              <a:t>date, mmm yy, week no, day_type</a:t>
            </a:r>
            <a:endParaRPr lang="en-US" sz="1300" dirty="0"/>
          </a:p>
        </p:txBody>
      </p:sp>
      <p:sp>
        <p:nvSpPr>
          <p:cNvPr id="15" name="Arrow dim_date"/>
          <p:cNvSpPr/>
          <p:nvPr/>
        </p:nvSpPr>
        <p:spPr>
          <a:xfrm>
            <a:off x="7132320" y="2331720"/>
            <a:ext cx="457200" cy="457200"/>
          </a:xfrm>
          <a:prstGeom prst="downArrow">
            <a:avLst/>
          </a:prstGeom>
          <a:solidFill>
            <a:srgbClr val="FF9F1C"/>
          </a:solidFill>
          <a:ln w="25400">
            <a:solidFill>
              <a:srgbClr val="0F1B4C"/>
            </a:solidFill>
            <a:prstDash val="solid"/>
          </a:ln>
        </p:spPr>
      </p:sp>
      <p:sp>
        <p:nvSpPr>
          <p:cNvPr id="16" name="Fact fact_bookings"/>
          <p:cNvSpPr/>
          <p:nvPr/>
        </p:nvSpPr>
        <p:spPr>
          <a:xfrm>
            <a:off x="457200" y="2880360"/>
            <a:ext cx="4023360" cy="1783080"/>
          </a:xfrm>
          <a:prstGeom prst="roundRect">
            <a:avLst>
              <a:gd name="adj" fmla="val 7692"/>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sp>
        <p:nvSpPr>
          <p:cNvPr id="17" name="Text 14"/>
          <p:cNvSpPr txBox="1"/>
          <p:nvPr/>
        </p:nvSpPr>
        <p:spPr>
          <a:xfrm>
            <a:off x="594360" y="2926080"/>
            <a:ext cx="3749040" cy="36576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fact_bookings</a:t>
            </a:r>
            <a:endParaRPr lang="en-US" sz="1500" dirty="0"/>
          </a:p>
        </p:txBody>
      </p:sp>
      <p:sp>
        <p:nvSpPr>
          <p:cNvPr id="18" name="Text 15"/>
          <p:cNvSpPr txBox="1"/>
          <p:nvPr/>
        </p:nvSpPr>
        <p:spPr>
          <a:xfrm>
            <a:off x="594360" y="3310128"/>
            <a:ext cx="3749040" cy="1280160"/>
          </a:xfrm>
          <a:prstGeom prst="rect">
            <a:avLst/>
          </a:prstGeom>
          <a:noFill/>
          <a:ln/>
        </p:spPr>
        <p:txBody>
          <a:bodyPr wrap="square" lIns="0" tIns="0" rIns="0" bIns="0" rtlCol="0" anchor="t"/>
          <a:lstStyle/>
          <a:p>
            <a:pPr marL="0" indent="0">
              <a:buNone/>
            </a:pPr>
            <a:r>
              <a:rPr lang="en-US" sz="1300" dirty="0">
                <a:solidFill>
                  <a:srgbClr val="0F1B4C"/>
                </a:solidFill>
              </a:rPr>
              <a:t>One row per booking: booking_id, property_id, booking_date, check_in_date, checkout_date, no_guests, room_category, booking_platform, ratings_given, booking_status, revenue_generated, revenue_realized</a:t>
            </a:r>
            <a:endParaRPr lang="en-US" sz="1300" dirty="0"/>
          </a:p>
        </p:txBody>
      </p:sp>
      <p:sp>
        <p:nvSpPr>
          <p:cNvPr id="19" name="Fact fact_aggregated_bookings"/>
          <p:cNvSpPr/>
          <p:nvPr/>
        </p:nvSpPr>
        <p:spPr>
          <a:xfrm>
            <a:off x="4663440" y="2880360"/>
            <a:ext cx="4023360" cy="1783080"/>
          </a:xfrm>
          <a:prstGeom prst="roundRect">
            <a:avLst>
              <a:gd name="adj" fmla="val 7692"/>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sp>
        <p:nvSpPr>
          <p:cNvPr id="20" name="Text 17"/>
          <p:cNvSpPr txBox="1"/>
          <p:nvPr/>
        </p:nvSpPr>
        <p:spPr>
          <a:xfrm>
            <a:off x="4800600" y="2926080"/>
            <a:ext cx="3749040" cy="36576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fact_aggregated_bookings</a:t>
            </a:r>
            <a:endParaRPr lang="en-US" sz="1500" dirty="0"/>
          </a:p>
        </p:txBody>
      </p:sp>
      <p:sp>
        <p:nvSpPr>
          <p:cNvPr id="21" name="Text 18"/>
          <p:cNvSpPr txBox="1"/>
          <p:nvPr/>
        </p:nvSpPr>
        <p:spPr>
          <a:xfrm>
            <a:off x="4800600" y="3310128"/>
            <a:ext cx="3749040" cy="914400"/>
          </a:xfrm>
          <a:prstGeom prst="rect">
            <a:avLst/>
          </a:prstGeom>
          <a:noFill/>
          <a:ln/>
        </p:spPr>
        <p:txBody>
          <a:bodyPr wrap="square" lIns="0" tIns="0" rIns="0" bIns="0" rtlCol="0" anchor="t"/>
          <a:lstStyle/>
          <a:p>
            <a:pPr marL="0" indent="0">
              <a:buNone/>
            </a:pPr>
            <a:r>
              <a:rPr lang="en-US" sz="1300" dirty="0">
                <a:solidFill>
                  <a:srgbClr val="0F1B4C"/>
                </a:solidFill>
              </a:rPr>
              <a:t>Daily capacity: property_id, check_in_date, room_category, successful_bookings, capacity</a:t>
            </a:r>
            <a:endParaRPr lang="en-US" sz="1300" dirty="0"/>
          </a:p>
        </p:txBody>
      </p:sp>
      <p:sp>
        <p:nvSpPr>
          <p:cNvPr id="22" name="Text 19"/>
          <p:cNvSpPr txBox="1"/>
          <p:nvPr/>
        </p:nvSpPr>
        <p:spPr>
          <a:xfrm>
            <a:off x="457200" y="4754880"/>
            <a:ext cx="5486400" cy="274320"/>
          </a:xfrm>
          <a:prstGeom prst="rect">
            <a:avLst/>
          </a:prstGeom>
          <a:noFill/>
          <a:ln/>
        </p:spPr>
        <p:txBody>
          <a:bodyPr wrap="square" lIns="0" tIns="0" rIns="0" bIns="0" rtlCol="0" anchor="ctr"/>
          <a:lstStyle/>
          <a:p>
            <a:pPr marL="0" indent="0">
              <a:buNone/>
            </a:pPr>
            <a:r>
              <a:rPr lang="en-US" sz="1100" dirty="0">
                <a:solidFill>
                  <a:srgbClr val="4F46E5"/>
                </a:solidFill>
              </a:rPr>
              <a:t>Typical AtliQ dataset - rename to match your model</a:t>
            </a:r>
            <a:endParaRPr lang="en-US" sz="11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D56CA-C039-467D-8792-09A4843AE09D}"/>
              </a:ext>
            </a:extLst>
          </p:cNvPr>
          <p:cNvSpPr>
            <a:spLocks noGrp="1"/>
          </p:cNvSpPr>
          <p:nvPr>
            <p:ph type="title" idx="101"/>
          </p:nvPr>
        </p:nvSpPr>
        <p:spPr>
          <a:xfrm>
            <a:off x="2279603" y="159859"/>
            <a:ext cx="4613565" cy="485975"/>
          </a:xfrm>
        </p:spPr>
        <p:txBody>
          <a:bodyPr/>
          <a:lstStyle/>
          <a:p>
            <a:pPr algn="ctr"/>
            <a:r>
              <a:rPr lang="en-US" dirty="0"/>
              <a:t>Data Model View</a:t>
            </a:r>
            <a:endParaRPr lang="en-IN" dirty="0"/>
          </a:p>
        </p:txBody>
      </p:sp>
      <p:pic>
        <p:nvPicPr>
          <p:cNvPr id="4" name="Picture 3">
            <a:extLst>
              <a:ext uri="{FF2B5EF4-FFF2-40B4-BE49-F238E27FC236}">
                <a16:creationId xmlns:a16="http://schemas.microsoft.com/office/drawing/2014/main" id="{BF6B2799-A69C-4976-B408-813436954BD3}"/>
              </a:ext>
            </a:extLst>
          </p:cNvPr>
          <p:cNvPicPr>
            <a:picLocks noChangeAspect="1"/>
          </p:cNvPicPr>
          <p:nvPr/>
        </p:nvPicPr>
        <p:blipFill>
          <a:blip r:embed="rId2"/>
          <a:stretch>
            <a:fillRect/>
          </a:stretch>
        </p:blipFill>
        <p:spPr>
          <a:xfrm>
            <a:off x="586476" y="844063"/>
            <a:ext cx="7547207" cy="4220306"/>
          </a:xfrm>
          <a:prstGeom prst="rect">
            <a:avLst/>
          </a:prstGeom>
          <a:ln w="38100" cap="sq">
            <a:solidFill>
              <a:srgbClr val="000000"/>
            </a:solidFill>
            <a:prstDash val="solid"/>
            <a:miter lim="800000"/>
          </a:ln>
          <a:effectLst>
            <a:glow rad="63500">
              <a:schemeClr val="accent1">
                <a:satMod val="175000"/>
                <a:alpha val="40000"/>
              </a:schemeClr>
            </a:glow>
            <a:outerShdw blurRad="50800" dist="38100" dir="2700000" algn="tl" rotWithShape="0">
              <a:srgbClr val="000000">
                <a:alpha val="43000"/>
              </a:srgbClr>
            </a:outerShdw>
          </a:effectLst>
        </p:spPr>
      </p:pic>
      <p:sp>
        <p:nvSpPr>
          <p:cNvPr id="5" name="Shape 1">
            <a:extLst>
              <a:ext uri="{FF2B5EF4-FFF2-40B4-BE49-F238E27FC236}">
                <a16:creationId xmlns:a16="http://schemas.microsoft.com/office/drawing/2014/main" id="{0D152037-1B3B-4D3E-815F-F60D801A2996}"/>
              </a:ext>
            </a:extLst>
          </p:cNvPr>
          <p:cNvSpPr/>
          <p:nvPr/>
        </p:nvSpPr>
        <p:spPr>
          <a:xfrm>
            <a:off x="890100" y="84183"/>
            <a:ext cx="6939957" cy="621119"/>
          </a:xfrm>
          <a:prstGeom prst="roundRect">
            <a:avLst>
              <a:gd name="adj" fmla="val 29412"/>
            </a:avLst>
          </a:prstGeom>
          <a:noFill/>
          <a:ln w="38100">
            <a:solidFill>
              <a:schemeClr val="accent4"/>
            </a:solidFill>
            <a:prstDash val="solid"/>
          </a:ln>
          <a:effectLst>
            <a:outerShdw blurRad="50800" dist="38100" dir="5400000" algn="t" rotWithShape="0">
              <a:prstClr val="black">
                <a:alpha val="40000"/>
              </a:prstClr>
            </a:outerShdw>
          </a:effectLst>
        </p:spPr>
        <p:txBody>
          <a:bodyPr/>
          <a:lstStyle/>
          <a:p>
            <a:endParaRPr lang="en-IN" dirty="0"/>
          </a:p>
        </p:txBody>
      </p:sp>
    </p:spTree>
    <p:extLst>
      <p:ext uri="{BB962C8B-B14F-4D97-AF65-F5344CB8AC3E}">
        <p14:creationId xmlns:p14="http://schemas.microsoft.com/office/powerpoint/2010/main" val="3844079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Metric Queries: The Basics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2898648"/>
        </p:xfrm>
        <a:graphic>
          <a:graphicData uri="http://schemas.openxmlformats.org/drawingml/2006/table">
            <a:tbl>
              <a:tblPr/>
              <a:tblGrid>
                <a:gridCol w="17373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29184">
                <a:tc>
                  <a:txBody>
                    <a:bodyPr/>
                    <a:lstStyle/>
                    <a:p>
                      <a:pPr marL="0" indent="0">
                        <a:buNone/>
                      </a:pPr>
                      <a:r>
                        <a:rPr lang="en-US" sz="1300" b="1" dirty="0">
                          <a:solidFill>
                            <a:srgbClr val="FFFFFF"/>
                          </a:solidFill>
                          <a:latin typeface="+mj-lt" pitchFamily="34" charset="0"/>
                          <a:ea typeface="+mj-lt" pitchFamily="34" charset="-122"/>
                          <a:cs typeface="+mj-lt" pitchFamily="34" charset="-120"/>
                        </a:rPr>
                        <a:t>Metric</a:t>
                      </a:r>
                      <a:endParaRPr lang="en-US" sz="1300" dirty="0">
                        <a:latin typeface="+mj-lt" charset="0"/>
                        <a:ea typeface="+mj-lt" charset="0"/>
                        <a:cs typeface="+mj-lt"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tc>
                  <a:txBody>
                    <a:bodyPr/>
                    <a:lstStyle/>
                    <a:p>
                      <a:pPr marL="0" indent="0">
                        <a:buNone/>
                      </a:pPr>
                      <a:r>
                        <a:rPr lang="en-US" sz="1300" b="1" dirty="0">
                          <a:solidFill>
                            <a:srgbClr val="FFFFFF"/>
                          </a:solidFill>
                          <a:latin typeface="+mj-lt" pitchFamily="34" charset="0"/>
                          <a:ea typeface="+mj-lt" pitchFamily="34" charset="-122"/>
                          <a:cs typeface="+mj-lt" pitchFamily="34" charset="-120"/>
                        </a:rPr>
                        <a:t>DAX query</a:t>
                      </a:r>
                      <a:endParaRPr lang="en-US" sz="1300" dirty="0">
                        <a:latin typeface="+mj-lt" charset="0"/>
                        <a:ea typeface="+mj-lt" charset="0"/>
                        <a:cs typeface="+mj-lt"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tc>
                  <a:txBody>
                    <a:bodyPr/>
                    <a:lstStyle/>
                    <a:p>
                      <a:pPr marL="0" indent="0">
                        <a:buNone/>
                      </a:pPr>
                      <a:r>
                        <a:rPr lang="en-US" sz="1300" b="1" dirty="0">
                          <a:solidFill>
                            <a:srgbClr val="FFFFFF"/>
                          </a:solidFill>
                          <a:latin typeface="+mj-lt" pitchFamily="34" charset="0"/>
                          <a:ea typeface="+mj-lt" pitchFamily="34" charset="-122"/>
                          <a:cs typeface="+mj-lt" pitchFamily="34" charset="-120"/>
                        </a:rPr>
                        <a:t>Output</a:t>
                      </a:r>
                      <a:endParaRPr lang="en-US" sz="1300" dirty="0">
                        <a:latin typeface="+mj-lt" charset="0"/>
                        <a:ea typeface="+mj-lt" charset="0"/>
                        <a:cs typeface="+mj-lt"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Revenue</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Revenue = SUM(fact_bookings[revenue_realized])</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Rs 573.2M</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Total Bookings</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Total Bookings = COUNT(fact_bookings[booking_id])</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45,129</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Total Capacity</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Total Capacity = SUM(fact_aggregated_bookings[capacity])</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about 78K</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Occupancy %</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Occupancy % = DIVIDE(SUM(fact_aggregated_bookings[successful_bookings]), [Total Capacity])</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extLst>
                  <a:ext uri="{0D108BD9-81ED-4DB2-BD59-A6C34878D82A}">
                    <a16:rowId xmlns:a16="http://schemas.microsoft.com/office/drawing/2014/main" val="10004"/>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Average Rating</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Average Rating = AVERAGE(fact_bookings[ratings_given])</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3.62</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Insight banner"/>
          <p:cNvSpPr/>
          <p:nvPr/>
        </p:nvSpPr>
        <p:spPr>
          <a:xfrm>
            <a:off x="457200" y="4160520"/>
            <a:ext cx="7132320" cy="594360"/>
          </a:xfrm>
          <a:prstGeom prst="roundRect">
            <a:avLst>
              <a:gd name="adj" fmla="val 23077"/>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3" name="Text 2"/>
          <p:cNvSpPr txBox="1"/>
          <p:nvPr/>
        </p:nvSpPr>
        <p:spPr>
          <a:xfrm>
            <a:off x="685800" y="4206240"/>
            <a:ext cx="6675120" cy="50292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Tip: base measures first, then reuse them so every KPI stays consistent</a:t>
            </a:r>
            <a:endParaRPr lang="en-US" sz="1500" dirty="0"/>
          </a:p>
        </p:txBody>
      </p:sp>
      <p:pic>
        <p:nvPicPr>
          <p:cNvPr id="7" name="Mascot" descr="Thinking mascot"/>
          <p:cNvPicPr>
            <a:picLocks noChangeAspect="1"/>
          </p:cNvPicPr>
          <p:nvPr/>
        </p:nvPicPr>
        <p:blipFill>
          <a:blip r:embed="rId3"/>
          <a:stretch>
            <a:fillRect/>
          </a:stretch>
        </p:blipFill>
        <p:spPr>
          <a:xfrm>
            <a:off x="7818120" y="3931920"/>
            <a:ext cx="822960" cy="1097280"/>
          </a:xfrm>
          <a:prstGeom prst="rect">
            <a:avLst/>
          </a:prstGeom>
        </p:spPr>
      </p:pic>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Metric Queries: Smart Ones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3401568"/>
        </p:xfrm>
        <a:graphic>
          <a:graphicData uri="http://schemas.openxmlformats.org/drawingml/2006/table">
            <a:tbl>
              <a:tblPr/>
              <a:tblGrid>
                <a:gridCol w="17373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29184">
                <a:tc>
                  <a:txBody>
                    <a:bodyPr/>
                    <a:lstStyle/>
                    <a:p>
                      <a:pPr marL="0" indent="0">
                        <a:buNone/>
                      </a:pPr>
                      <a:r>
                        <a:rPr lang="en-US" sz="1300" b="1" dirty="0">
                          <a:solidFill>
                            <a:srgbClr val="FFFFFF"/>
                          </a:solidFill>
                          <a:latin typeface="+mj-lt" pitchFamily="34" charset="0"/>
                          <a:ea typeface="+mj-lt" pitchFamily="34" charset="-122"/>
                          <a:cs typeface="+mj-lt" pitchFamily="34" charset="-120"/>
                        </a:rPr>
                        <a:t>Metric</a:t>
                      </a:r>
                      <a:endParaRPr lang="en-US" sz="1300" dirty="0">
                        <a:latin typeface="+mj-lt" charset="0"/>
                        <a:ea typeface="+mj-lt" charset="0"/>
                        <a:cs typeface="+mj-lt"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tc>
                  <a:txBody>
                    <a:bodyPr/>
                    <a:lstStyle/>
                    <a:p>
                      <a:pPr marL="0" indent="0">
                        <a:buNone/>
                      </a:pPr>
                      <a:r>
                        <a:rPr lang="en-US" sz="1300" b="1" dirty="0">
                          <a:solidFill>
                            <a:srgbClr val="FFFFFF"/>
                          </a:solidFill>
                          <a:latin typeface="+mj-lt" pitchFamily="34" charset="0"/>
                          <a:ea typeface="+mj-lt" pitchFamily="34" charset="-122"/>
                          <a:cs typeface="+mj-lt" pitchFamily="34" charset="-120"/>
                        </a:rPr>
                        <a:t>DAX query</a:t>
                      </a:r>
                      <a:endParaRPr lang="en-US" sz="1300" dirty="0">
                        <a:latin typeface="+mj-lt" charset="0"/>
                        <a:ea typeface="+mj-lt" charset="0"/>
                        <a:cs typeface="+mj-lt"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tc>
                  <a:txBody>
                    <a:bodyPr/>
                    <a:lstStyle/>
                    <a:p>
                      <a:pPr marL="0" indent="0">
                        <a:buNone/>
                      </a:pPr>
                      <a:r>
                        <a:rPr lang="en-US" sz="1300" b="1" dirty="0">
                          <a:solidFill>
                            <a:srgbClr val="FFFFFF"/>
                          </a:solidFill>
                          <a:latin typeface="+mj-lt" pitchFamily="34" charset="0"/>
                          <a:ea typeface="+mj-lt" pitchFamily="34" charset="-122"/>
                          <a:cs typeface="+mj-lt" pitchFamily="34" charset="-120"/>
                        </a:rPr>
                        <a:t>Output</a:t>
                      </a:r>
                      <a:endParaRPr lang="en-US" sz="1300" dirty="0">
                        <a:latin typeface="+mj-lt" charset="0"/>
                        <a:ea typeface="+mj-lt" charset="0"/>
                        <a:cs typeface="+mj-lt"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Cancelled Bookings</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CALCULATE([Total Bookings], fact_bookings[booking_status] = "Cancelled")</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11,188</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Cancellation %</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DIVIDE([Cancelled Bookings], [Total Bookings])</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24.8%</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Revenue PM</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CALCULATE([Revenue], DATEADD(dim_date[date], -1, MONTH))</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Jun: Rs 573.2M</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Revenue MoM %</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DIVIDE([Revenue] - [Revenue PM], [Revenue PM])</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Jun -1.5%, Jul -11.6%</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extLst>
                  <a:ext uri="{0D108BD9-81ED-4DB2-BD59-A6C34878D82A}">
                    <a16:rowId xmlns:a16="http://schemas.microsoft.com/office/drawing/2014/main" val="10004"/>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NEW  RevPAR</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3B0"/>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DIVIDE([Revenue], [Total Capacity])</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3B0"/>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about Rs 7.3K</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3B0"/>
                    </a:solidFill>
                  </a:tcPr>
                </a:tc>
                <a:extLst>
                  <a:ext uri="{0D108BD9-81ED-4DB2-BD59-A6C34878D82A}">
                    <a16:rowId xmlns:a16="http://schemas.microsoft.com/office/drawing/2014/main" val="10005"/>
                  </a:ext>
                </a:extLst>
              </a:tr>
              <a:tr h="502920">
                <a:tc>
                  <a:txBody>
                    <a:bodyPr/>
                    <a:lstStyle/>
                    <a:p>
                      <a:pPr marL="0" indent="0">
                        <a:buNone/>
                      </a:pPr>
                      <a:r>
                        <a:rPr lang="en-US" sz="1300" b="1" dirty="0">
                          <a:solidFill>
                            <a:srgbClr val="0F1B4C"/>
                          </a:solidFill>
                          <a:latin typeface="Calibri" pitchFamily="34" charset="0"/>
                          <a:ea typeface="Calibri" pitchFamily="34" charset="-122"/>
                          <a:cs typeface="Calibri" pitchFamily="34" charset="-120"/>
                        </a:rPr>
                        <a:t>NEW  Weekend share</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3B0"/>
                    </a:solidFill>
                  </a:tcPr>
                </a:tc>
                <a:tc>
                  <a:txBody>
                    <a:bodyPr/>
                    <a:lstStyle/>
                    <a:p>
                      <a:pPr marL="0" indent="0">
                        <a:buNone/>
                      </a:pPr>
                      <a:r>
                        <a:rPr lang="en-US" sz="1100" dirty="0">
                          <a:solidFill>
                            <a:srgbClr val="0F1B4C"/>
                          </a:solidFill>
                          <a:latin typeface="Courier New" pitchFamily="34" charset="0"/>
                          <a:ea typeface="Courier New" pitchFamily="34" charset="-122"/>
                          <a:cs typeface="Courier New" pitchFamily="34" charset="-120"/>
                        </a:rPr>
                        <a:t>DIVIDE(CALCULATE(SUM(fact_aggregated_bookings[successful_bookings]), dim_date[day_type] = "weekend"), SUM(fact_aggregated_bookings[successful_bookings]))</a:t>
                      </a:r>
                      <a:endParaRPr lang="en-US" sz="1100" dirty="0">
                        <a:latin typeface="Courier New" charset="0"/>
                        <a:ea typeface="Courier New" charset="0"/>
                        <a:cs typeface="Courier New"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3B0"/>
                    </a:solidFill>
                  </a:tcPr>
                </a:tc>
                <a:tc>
                  <a:txBody>
                    <a:bodyPr/>
                    <a:lstStyle/>
                    <a:p>
                      <a:pPr marL="0" indent="0">
                        <a:buNone/>
                      </a:pPr>
                      <a:r>
                        <a:rPr lang="en-US" sz="1300" b="1" dirty="0">
                          <a:solidFill>
                            <a:srgbClr val="0B7A68"/>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73152" marR="73152" marT="27432" marB="27432"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3B0"/>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457200" y="4572000"/>
            <a:ext cx="8229600" cy="320040"/>
          </a:xfrm>
          <a:prstGeom prst="rect">
            <a:avLst/>
          </a:prstGeom>
          <a:noFill/>
          <a:ln/>
        </p:spPr>
        <p:txBody>
          <a:bodyPr wrap="square" lIns="0" tIns="0" rIns="0" bIns="0" rtlCol="0" anchor="ctr"/>
          <a:lstStyle/>
          <a:p>
            <a:pPr marL="0" indent="0">
              <a:buNone/>
            </a:pPr>
            <a:r>
              <a:rPr lang="en-US" sz="1200" dirty="0">
                <a:solidFill>
                  <a:srgbClr val="4F46E5"/>
                </a:solidFill>
              </a:rPr>
              <a:t>Yellow rows = extra measures we added.  LDC/PDC (profit/loss due to cancellation) stays as defined in the report.</a:t>
            </a:r>
            <a:endParaRPr lang="en-US" sz="12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482E2-9BE5-4869-88F2-C6C87528D702}"/>
              </a:ext>
            </a:extLst>
          </p:cNvPr>
          <p:cNvSpPr>
            <a:spLocks noGrp="1"/>
          </p:cNvSpPr>
          <p:nvPr>
            <p:ph type="title" idx="101"/>
          </p:nvPr>
        </p:nvSpPr>
        <p:spPr>
          <a:xfrm>
            <a:off x="2068271" y="89777"/>
            <a:ext cx="4165955" cy="685800"/>
          </a:xfrm>
        </p:spPr>
        <p:txBody>
          <a:bodyPr/>
          <a:lstStyle/>
          <a:p>
            <a:pPr algn="ctr"/>
            <a:r>
              <a:rPr lang="en-US" dirty="0"/>
              <a:t>Mock Up Dashboard</a:t>
            </a:r>
            <a:endParaRPr lang="en-IN" dirty="0"/>
          </a:p>
        </p:txBody>
      </p:sp>
      <p:pic>
        <p:nvPicPr>
          <p:cNvPr id="4" name="Picture 3">
            <a:extLst>
              <a:ext uri="{FF2B5EF4-FFF2-40B4-BE49-F238E27FC236}">
                <a16:creationId xmlns:a16="http://schemas.microsoft.com/office/drawing/2014/main" id="{1F04A7E6-2F6B-44CE-8025-3DCAEDAD1E9D}"/>
              </a:ext>
            </a:extLst>
          </p:cNvPr>
          <p:cNvPicPr>
            <a:picLocks noChangeAspect="1"/>
          </p:cNvPicPr>
          <p:nvPr/>
        </p:nvPicPr>
        <p:blipFill>
          <a:blip r:embed="rId2"/>
          <a:stretch>
            <a:fillRect/>
          </a:stretch>
        </p:blipFill>
        <p:spPr>
          <a:xfrm>
            <a:off x="411801" y="850456"/>
            <a:ext cx="7478897" cy="4037012"/>
          </a:xfrm>
          <a:prstGeom prst="rect">
            <a:avLst/>
          </a:prstGeom>
          <a:ln w="38100" cap="sq">
            <a:solidFill>
              <a:srgbClr val="000000"/>
            </a:solidFill>
            <a:prstDash val="solid"/>
            <a:miter lim="800000"/>
          </a:ln>
          <a:effectLst>
            <a:glow rad="63500">
              <a:schemeClr val="accent1">
                <a:satMod val="175000"/>
                <a:alpha val="40000"/>
              </a:schemeClr>
            </a:glow>
            <a:outerShdw blurRad="50800" dist="38100" dir="2700000" algn="tl" rotWithShape="0">
              <a:srgbClr val="000000">
                <a:alpha val="43000"/>
              </a:srgbClr>
            </a:outerShdw>
          </a:effectLst>
        </p:spPr>
      </p:pic>
    </p:spTree>
    <p:extLst>
      <p:ext uri="{BB962C8B-B14F-4D97-AF65-F5344CB8AC3E}">
        <p14:creationId xmlns:p14="http://schemas.microsoft.com/office/powerpoint/2010/main" val="1728580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The Output: Our Dashboard</a:t>
            </a:r>
            <a:endParaRPr lang="en-US" sz="2800" dirty="0"/>
          </a:p>
        </p:txBody>
      </p:sp>
      <p:sp>
        <p:nvSpPr>
          <p:cNvPr id="4" name="Screenshot frame 1"/>
          <p:cNvSpPr/>
          <p:nvPr/>
        </p:nvSpPr>
        <p:spPr>
          <a:xfrm>
            <a:off x="457200" y="1188720"/>
            <a:ext cx="4078224" cy="2570132"/>
          </a:xfrm>
          <a:prstGeom prst="roundRect">
            <a:avLst>
              <a:gd name="adj" fmla="val 3558"/>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pic>
        <p:nvPicPr>
          <p:cNvPr id="5" name="Screenshot 1" descr="Page 1 Overview: KPIs, city, platform, property"/>
          <p:cNvPicPr>
            <a:picLocks noChangeAspect="1"/>
          </p:cNvPicPr>
          <p:nvPr/>
        </p:nvPicPr>
        <p:blipFill>
          <a:blip r:embed="rId3"/>
          <a:stretch>
            <a:fillRect/>
          </a:stretch>
        </p:blipFill>
        <p:spPr>
          <a:xfrm>
            <a:off x="530352" y="1261872"/>
            <a:ext cx="3931920" cy="2423828"/>
          </a:xfrm>
          <a:prstGeom prst="rect">
            <a:avLst/>
          </a:prstGeom>
        </p:spPr>
      </p:pic>
      <p:sp>
        <p:nvSpPr>
          <p:cNvPr id="6" name="Text 2"/>
          <p:cNvSpPr txBox="1"/>
          <p:nvPr/>
        </p:nvSpPr>
        <p:spPr>
          <a:xfrm>
            <a:off x="457200" y="3868580"/>
            <a:ext cx="4078224" cy="502920"/>
          </a:xfrm>
          <a:prstGeom prst="rect">
            <a:avLst/>
          </a:prstGeom>
          <a:noFill/>
          <a:ln/>
        </p:spPr>
        <p:txBody>
          <a:bodyPr wrap="square" lIns="0" tIns="0" rIns="0" bIns="0" rtlCol="0" anchor="t"/>
          <a:lstStyle/>
          <a:p>
            <a:pPr marL="0" indent="0">
              <a:buNone/>
            </a:pPr>
            <a:r>
              <a:rPr lang="en-US" sz="1300" b="1" dirty="0">
                <a:solidFill>
                  <a:srgbClr val="0F1B4C"/>
                </a:solidFill>
              </a:rPr>
              <a:t>Page 1 Overview: KPIs, city, platform, property</a:t>
            </a:r>
            <a:endParaRPr lang="en-US" sz="1300" dirty="0"/>
          </a:p>
        </p:txBody>
      </p:sp>
      <p:sp>
        <p:nvSpPr>
          <p:cNvPr id="7" name="Screenshot frame 2"/>
          <p:cNvSpPr/>
          <p:nvPr/>
        </p:nvSpPr>
        <p:spPr>
          <a:xfrm>
            <a:off x="4663440" y="1188720"/>
            <a:ext cx="4078224" cy="2596260"/>
          </a:xfrm>
          <a:prstGeom prst="roundRect">
            <a:avLst>
              <a:gd name="adj" fmla="val 3679"/>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pic>
        <p:nvPicPr>
          <p:cNvPr id="8" name="Screenshot 2" descr="Page 2 Monthly: month slicer, capacity, weekdays"/>
          <p:cNvPicPr>
            <a:picLocks noChangeAspect="1"/>
          </p:cNvPicPr>
          <p:nvPr/>
        </p:nvPicPr>
        <p:blipFill>
          <a:blip r:embed="rId4"/>
          <a:stretch>
            <a:fillRect/>
          </a:stretch>
        </p:blipFill>
        <p:spPr>
          <a:xfrm>
            <a:off x="4736592" y="1261872"/>
            <a:ext cx="3931920" cy="2338839"/>
          </a:xfrm>
          <a:prstGeom prst="rect">
            <a:avLst/>
          </a:prstGeom>
        </p:spPr>
      </p:pic>
      <p:sp>
        <p:nvSpPr>
          <p:cNvPr id="9" name="Text 4"/>
          <p:cNvSpPr txBox="1"/>
          <p:nvPr/>
        </p:nvSpPr>
        <p:spPr>
          <a:xfrm>
            <a:off x="4663440" y="3830700"/>
            <a:ext cx="4078224" cy="502920"/>
          </a:xfrm>
          <a:prstGeom prst="rect">
            <a:avLst/>
          </a:prstGeom>
          <a:noFill/>
          <a:ln/>
        </p:spPr>
        <p:txBody>
          <a:bodyPr wrap="square" lIns="0" tIns="0" rIns="0" bIns="0" rtlCol="0" anchor="t"/>
          <a:lstStyle/>
          <a:p>
            <a:pPr marL="0" indent="0">
              <a:buNone/>
            </a:pPr>
            <a:r>
              <a:rPr lang="en-US" sz="1300" b="1" dirty="0">
                <a:solidFill>
                  <a:srgbClr val="0F1B4C"/>
                </a:solidFill>
              </a:rPr>
              <a:t>Page 2 Monthly: month slicer, capacity, weekdays</a:t>
            </a:r>
            <a:endParaRPr lang="en-US" sz="1300" dirty="0"/>
          </a:p>
        </p:txBody>
      </p:sp>
      <p:sp>
        <p:nvSpPr>
          <p:cNvPr id="10" name="Insight banner"/>
          <p:cNvSpPr/>
          <p:nvPr/>
        </p:nvSpPr>
        <p:spPr>
          <a:xfrm>
            <a:off x="457200" y="4434840"/>
            <a:ext cx="8229600" cy="457200"/>
          </a:xfrm>
          <a:prstGeom prst="roundRect">
            <a:avLst>
              <a:gd name="adj" fmla="val 30000"/>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11" name="Text 6"/>
          <p:cNvSpPr txBox="1"/>
          <p:nvPr/>
        </p:nvSpPr>
        <p:spPr>
          <a:xfrm>
            <a:off x="685800" y="4480560"/>
            <a:ext cx="7772400" cy="36576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All visuals react to the 6 filters on the left</a:t>
            </a:r>
            <a:endParaRPr lang="en-US" sz="15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May: The Baseline</a:t>
            </a:r>
            <a:endParaRPr lang="en-US" sz="2800" dirty="0"/>
          </a:p>
        </p:txBody>
      </p:sp>
      <p:sp>
        <p:nvSpPr>
          <p:cNvPr id="4" name="Screenshot frame"/>
          <p:cNvSpPr/>
          <p:nvPr/>
        </p:nvSpPr>
        <p:spPr>
          <a:xfrm>
            <a:off x="457200" y="1143000"/>
            <a:ext cx="5175504" cy="3119636"/>
          </a:xfrm>
          <a:prstGeom prst="roundRect">
            <a:avLst>
              <a:gd name="adj" fmla="val 2931"/>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pic>
        <p:nvPicPr>
          <p:cNvPr id="5" name="Monthly screenshot" descr="May: The Baseline dashboard screenshot"/>
          <p:cNvPicPr>
            <a:picLocks noChangeAspect="1"/>
          </p:cNvPicPr>
          <p:nvPr/>
        </p:nvPicPr>
        <p:blipFill>
          <a:blip r:embed="rId3"/>
          <a:stretch>
            <a:fillRect/>
          </a:stretch>
        </p:blipFill>
        <p:spPr>
          <a:xfrm>
            <a:off x="530352" y="1216152"/>
            <a:ext cx="5029200" cy="2973332"/>
          </a:xfrm>
          <a:prstGeom prst="rect">
            <a:avLst/>
          </a:prstGeom>
        </p:spPr>
      </p:pic>
      <p:sp>
        <p:nvSpPr>
          <p:cNvPr id="6" name="KPI chip Revenue"/>
          <p:cNvSpPr/>
          <p:nvPr/>
        </p:nvSpPr>
        <p:spPr>
          <a:xfrm>
            <a:off x="5897880" y="1143000"/>
            <a:ext cx="2788920" cy="530352"/>
          </a:xfrm>
          <a:prstGeom prst="roundRect">
            <a:avLst>
              <a:gd name="adj" fmla="val 25862"/>
            </a:avLst>
          </a:prstGeom>
          <a:solidFill>
            <a:srgbClr val="E0DEFF"/>
          </a:solidFill>
          <a:ln w="31750">
            <a:solidFill>
              <a:srgbClr val="0F1B4C"/>
            </a:solidFill>
            <a:prstDash val="solid"/>
          </a:ln>
          <a:effectLst>
            <a:outerShdw blurRad="12700" dist="50800" dir="2700000" algn="bl" rotWithShape="0">
              <a:srgbClr val="0F1B4C">
                <a:alpha val="100000"/>
              </a:srgbClr>
            </a:outerShdw>
          </a:effectLst>
        </p:spPr>
      </p:sp>
      <p:pic>
        <p:nvPicPr>
          <p:cNvPr id="7" name="Revenue icon" descr="Revenue icon"/>
          <p:cNvPicPr>
            <a:picLocks noChangeAspect="1"/>
          </p:cNvPicPr>
          <p:nvPr/>
        </p:nvPicPr>
        <p:blipFill>
          <a:blip r:embed="rId4"/>
          <a:stretch>
            <a:fillRect/>
          </a:stretch>
        </p:blipFill>
        <p:spPr>
          <a:xfrm>
            <a:off x="5989320" y="1234440"/>
            <a:ext cx="347472" cy="347472"/>
          </a:xfrm>
          <a:prstGeom prst="rect">
            <a:avLst/>
          </a:prstGeom>
        </p:spPr>
      </p:pic>
      <p:sp>
        <p:nvSpPr>
          <p:cNvPr id="8" name="Text 3"/>
          <p:cNvSpPr txBox="1"/>
          <p:nvPr/>
        </p:nvSpPr>
        <p:spPr>
          <a:xfrm>
            <a:off x="6428232" y="1179576"/>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Revenue</a:t>
            </a:r>
            <a:endParaRPr lang="en-US" sz="1200" dirty="0"/>
          </a:p>
        </p:txBody>
      </p:sp>
      <p:sp>
        <p:nvSpPr>
          <p:cNvPr id="9" name="Text 4"/>
          <p:cNvSpPr txBox="1"/>
          <p:nvPr/>
        </p:nvSpPr>
        <p:spPr>
          <a:xfrm>
            <a:off x="7269480" y="1179576"/>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573.2M</a:t>
            </a:r>
            <a:endParaRPr lang="en-US" sz="1500" dirty="0"/>
          </a:p>
        </p:txBody>
      </p:sp>
      <p:sp>
        <p:nvSpPr>
          <p:cNvPr id="10" name="Text 5"/>
          <p:cNvSpPr txBox="1"/>
          <p:nvPr/>
        </p:nvSpPr>
        <p:spPr>
          <a:xfrm>
            <a:off x="7269480" y="1426464"/>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first month</a:t>
            </a:r>
            <a:endParaRPr lang="en-US" sz="1000" dirty="0"/>
          </a:p>
        </p:txBody>
      </p:sp>
      <p:sp>
        <p:nvSpPr>
          <p:cNvPr id="11" name="KPI chip Occupancy"/>
          <p:cNvSpPr/>
          <p:nvPr/>
        </p:nvSpPr>
        <p:spPr>
          <a:xfrm>
            <a:off x="5897880" y="1764792"/>
            <a:ext cx="2788920" cy="530352"/>
          </a:xfrm>
          <a:prstGeom prst="roundRect">
            <a:avLst>
              <a:gd name="adj" fmla="val 25862"/>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pic>
        <p:nvPicPr>
          <p:cNvPr id="12" name="Occupancy icon" descr="Occupancy icon"/>
          <p:cNvPicPr>
            <a:picLocks noChangeAspect="1"/>
          </p:cNvPicPr>
          <p:nvPr/>
        </p:nvPicPr>
        <p:blipFill>
          <a:blip r:embed="rId5"/>
          <a:stretch>
            <a:fillRect/>
          </a:stretch>
        </p:blipFill>
        <p:spPr>
          <a:xfrm>
            <a:off x="5989320" y="1856232"/>
            <a:ext cx="347472" cy="347472"/>
          </a:xfrm>
          <a:prstGeom prst="rect">
            <a:avLst/>
          </a:prstGeom>
        </p:spPr>
      </p:pic>
      <p:sp>
        <p:nvSpPr>
          <p:cNvPr id="13" name="Text 7"/>
          <p:cNvSpPr txBox="1"/>
          <p:nvPr/>
        </p:nvSpPr>
        <p:spPr>
          <a:xfrm>
            <a:off x="6428232" y="1801368"/>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Occupancy</a:t>
            </a:r>
            <a:endParaRPr lang="en-US" sz="1200" dirty="0"/>
          </a:p>
        </p:txBody>
      </p:sp>
      <p:sp>
        <p:nvSpPr>
          <p:cNvPr id="14" name="Text 8"/>
          <p:cNvSpPr txBox="1"/>
          <p:nvPr/>
        </p:nvSpPr>
        <p:spPr>
          <a:xfrm>
            <a:off x="7269480" y="1801368"/>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59%</a:t>
            </a:r>
            <a:endParaRPr lang="en-US" sz="1500" dirty="0"/>
          </a:p>
        </p:txBody>
      </p:sp>
      <p:sp>
        <p:nvSpPr>
          <p:cNvPr id="15" name="Text 9"/>
          <p:cNvSpPr txBox="1"/>
          <p:nvPr/>
        </p:nvSpPr>
        <p:spPr>
          <a:xfrm>
            <a:off x="7269480" y="2048256"/>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first month</a:t>
            </a:r>
            <a:endParaRPr lang="en-US" sz="1000" dirty="0"/>
          </a:p>
        </p:txBody>
      </p:sp>
      <p:sp>
        <p:nvSpPr>
          <p:cNvPr id="16" name="KPI chip Avg rating"/>
          <p:cNvSpPr/>
          <p:nvPr/>
        </p:nvSpPr>
        <p:spPr>
          <a:xfrm>
            <a:off x="5897880" y="2386584"/>
            <a:ext cx="2788920" cy="530352"/>
          </a:xfrm>
          <a:prstGeom prst="roundRect">
            <a:avLst>
              <a:gd name="adj" fmla="val 25862"/>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17" name="Avg rating icon" descr="Avg rating icon"/>
          <p:cNvPicPr>
            <a:picLocks noChangeAspect="1"/>
          </p:cNvPicPr>
          <p:nvPr/>
        </p:nvPicPr>
        <p:blipFill>
          <a:blip r:embed="rId6"/>
          <a:stretch>
            <a:fillRect/>
          </a:stretch>
        </p:blipFill>
        <p:spPr>
          <a:xfrm>
            <a:off x="5989320" y="2478024"/>
            <a:ext cx="347472" cy="347472"/>
          </a:xfrm>
          <a:prstGeom prst="rect">
            <a:avLst/>
          </a:prstGeom>
        </p:spPr>
      </p:pic>
      <p:sp>
        <p:nvSpPr>
          <p:cNvPr id="18" name="Text 11"/>
          <p:cNvSpPr txBox="1"/>
          <p:nvPr/>
        </p:nvSpPr>
        <p:spPr>
          <a:xfrm>
            <a:off x="6428232" y="2423160"/>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Avg rating</a:t>
            </a:r>
            <a:endParaRPr lang="en-US" sz="1200" dirty="0"/>
          </a:p>
        </p:txBody>
      </p:sp>
      <p:sp>
        <p:nvSpPr>
          <p:cNvPr id="19" name="Text 12"/>
          <p:cNvSpPr txBox="1"/>
          <p:nvPr/>
        </p:nvSpPr>
        <p:spPr>
          <a:xfrm>
            <a:off x="7269480" y="2423160"/>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3.62</a:t>
            </a:r>
            <a:endParaRPr lang="en-US" sz="1500" dirty="0"/>
          </a:p>
        </p:txBody>
      </p:sp>
      <p:sp>
        <p:nvSpPr>
          <p:cNvPr id="20" name="Text 13"/>
          <p:cNvSpPr txBox="1"/>
          <p:nvPr/>
        </p:nvSpPr>
        <p:spPr>
          <a:xfrm>
            <a:off x="7269480" y="2670048"/>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first month</a:t>
            </a:r>
            <a:endParaRPr lang="en-US" sz="1000" dirty="0"/>
          </a:p>
        </p:txBody>
      </p:sp>
      <p:sp>
        <p:nvSpPr>
          <p:cNvPr id="21" name="KPI chip Cancel (CR)"/>
          <p:cNvSpPr/>
          <p:nvPr/>
        </p:nvSpPr>
        <p:spPr>
          <a:xfrm>
            <a:off x="5897880" y="3008376"/>
            <a:ext cx="2788920" cy="530352"/>
          </a:xfrm>
          <a:prstGeom prst="roundRect">
            <a:avLst>
              <a:gd name="adj" fmla="val 25862"/>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22" name="Cancel (CR) icon" descr="Cancel (CR) icon"/>
          <p:cNvPicPr>
            <a:picLocks noChangeAspect="1"/>
          </p:cNvPicPr>
          <p:nvPr/>
        </p:nvPicPr>
        <p:blipFill>
          <a:blip r:embed="rId7"/>
          <a:stretch>
            <a:fillRect/>
          </a:stretch>
        </p:blipFill>
        <p:spPr>
          <a:xfrm>
            <a:off x="5989320" y="3099816"/>
            <a:ext cx="347472" cy="347472"/>
          </a:xfrm>
          <a:prstGeom prst="rect">
            <a:avLst/>
          </a:prstGeom>
        </p:spPr>
      </p:pic>
      <p:sp>
        <p:nvSpPr>
          <p:cNvPr id="23" name="Text 15"/>
          <p:cNvSpPr txBox="1"/>
          <p:nvPr/>
        </p:nvSpPr>
        <p:spPr>
          <a:xfrm>
            <a:off x="6428232" y="3044952"/>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Cancel (CR)</a:t>
            </a:r>
            <a:endParaRPr lang="en-US" sz="1200" dirty="0"/>
          </a:p>
        </p:txBody>
      </p:sp>
      <p:sp>
        <p:nvSpPr>
          <p:cNvPr id="24" name="Text 16"/>
          <p:cNvSpPr txBox="1"/>
          <p:nvPr/>
        </p:nvSpPr>
        <p:spPr>
          <a:xfrm>
            <a:off x="7269480" y="3044952"/>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24.8%</a:t>
            </a:r>
            <a:endParaRPr lang="en-US" sz="1500" dirty="0"/>
          </a:p>
        </p:txBody>
      </p:sp>
      <p:sp>
        <p:nvSpPr>
          <p:cNvPr id="25" name="Text 17"/>
          <p:cNvSpPr txBox="1"/>
          <p:nvPr/>
        </p:nvSpPr>
        <p:spPr>
          <a:xfrm>
            <a:off x="7269480" y="3291840"/>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first month</a:t>
            </a:r>
            <a:endParaRPr lang="en-US" sz="1000" dirty="0"/>
          </a:p>
        </p:txBody>
      </p:sp>
      <p:sp>
        <p:nvSpPr>
          <p:cNvPr id="26" name="KPI chip LDC / PDC"/>
          <p:cNvSpPr/>
          <p:nvPr/>
        </p:nvSpPr>
        <p:spPr>
          <a:xfrm>
            <a:off x="5897880" y="3630168"/>
            <a:ext cx="2788920" cy="530352"/>
          </a:xfrm>
          <a:prstGeom prst="roundRect">
            <a:avLst>
              <a:gd name="adj" fmla="val 25862"/>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27" name="LDC / PDC icon" descr="LDC / PDC icon"/>
          <p:cNvPicPr>
            <a:picLocks noChangeAspect="1"/>
          </p:cNvPicPr>
          <p:nvPr/>
        </p:nvPicPr>
        <p:blipFill>
          <a:blip r:embed="rId8"/>
          <a:stretch>
            <a:fillRect/>
          </a:stretch>
        </p:blipFill>
        <p:spPr>
          <a:xfrm>
            <a:off x="5989320" y="3721608"/>
            <a:ext cx="347472" cy="347472"/>
          </a:xfrm>
          <a:prstGeom prst="rect">
            <a:avLst/>
          </a:prstGeom>
        </p:spPr>
      </p:pic>
      <p:sp>
        <p:nvSpPr>
          <p:cNvPr id="28" name="Text 19"/>
          <p:cNvSpPr txBox="1"/>
          <p:nvPr/>
        </p:nvSpPr>
        <p:spPr>
          <a:xfrm>
            <a:off x="6428232" y="3666744"/>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LDC / PDC</a:t>
            </a:r>
            <a:endParaRPr lang="en-US" sz="1200" dirty="0"/>
          </a:p>
        </p:txBody>
      </p:sp>
      <p:sp>
        <p:nvSpPr>
          <p:cNvPr id="29" name="Text 20"/>
          <p:cNvSpPr txBox="1"/>
          <p:nvPr/>
        </p:nvSpPr>
        <p:spPr>
          <a:xfrm>
            <a:off x="7269480" y="3666744"/>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99.7M</a:t>
            </a:r>
            <a:endParaRPr lang="en-US" sz="1500" dirty="0"/>
          </a:p>
        </p:txBody>
      </p:sp>
      <p:sp>
        <p:nvSpPr>
          <p:cNvPr id="30" name="Text 21"/>
          <p:cNvSpPr txBox="1"/>
          <p:nvPr/>
        </p:nvSpPr>
        <p:spPr>
          <a:xfrm>
            <a:off x="7269480" y="3913632"/>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first month</a:t>
            </a:r>
            <a:endParaRPr lang="en-US" sz="1000" dirty="0"/>
          </a:p>
        </p:txBody>
      </p:sp>
      <p:sp>
        <p:nvSpPr>
          <p:cNvPr id="31" name="Insight banner"/>
          <p:cNvSpPr/>
          <p:nvPr/>
        </p:nvSpPr>
        <p:spPr>
          <a:xfrm>
            <a:off x="457200" y="4370832"/>
            <a:ext cx="8229600" cy="566928"/>
          </a:xfrm>
          <a:prstGeom prst="roundRect">
            <a:avLst>
              <a:gd name="adj" fmla="val 24194"/>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32" name="Text 23"/>
          <p:cNvSpPr txBox="1"/>
          <p:nvPr/>
        </p:nvSpPr>
        <p:spPr>
          <a:xfrm>
            <a:off x="685800" y="4416552"/>
            <a:ext cx="7772400" cy="475488"/>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Baseline month: Rs 573M revenue, 59% occupancy, 24.8% cancellations</a:t>
            </a:r>
            <a:endParaRPr lang="en-US" sz="1500" dirty="0"/>
          </a:p>
        </p:txBody>
      </p:sp>
      <p:sp>
        <p:nvSpPr>
          <p:cNvPr id="3"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June: A Slight Slip</a:t>
            </a:r>
            <a:endParaRPr lang="en-US" sz="2800" dirty="0"/>
          </a:p>
        </p:txBody>
      </p:sp>
      <p:sp>
        <p:nvSpPr>
          <p:cNvPr id="4" name="Screenshot frame"/>
          <p:cNvSpPr/>
          <p:nvPr/>
        </p:nvSpPr>
        <p:spPr>
          <a:xfrm>
            <a:off x="457200" y="1143000"/>
            <a:ext cx="5175504" cy="3137747"/>
          </a:xfrm>
          <a:prstGeom prst="roundRect">
            <a:avLst>
              <a:gd name="adj" fmla="val 2914"/>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pic>
        <p:nvPicPr>
          <p:cNvPr id="5" name="Monthly screenshot" descr="June: A Slight Slip dashboard screenshot"/>
          <p:cNvPicPr>
            <a:picLocks noChangeAspect="1"/>
          </p:cNvPicPr>
          <p:nvPr/>
        </p:nvPicPr>
        <p:blipFill>
          <a:blip r:embed="rId3"/>
          <a:stretch>
            <a:fillRect/>
          </a:stretch>
        </p:blipFill>
        <p:spPr>
          <a:xfrm>
            <a:off x="530352" y="1216152"/>
            <a:ext cx="5029200" cy="2991443"/>
          </a:xfrm>
          <a:prstGeom prst="rect">
            <a:avLst/>
          </a:prstGeom>
        </p:spPr>
      </p:pic>
      <p:sp>
        <p:nvSpPr>
          <p:cNvPr id="6" name="KPI chip Revenue"/>
          <p:cNvSpPr/>
          <p:nvPr/>
        </p:nvSpPr>
        <p:spPr>
          <a:xfrm>
            <a:off x="5897880" y="1143000"/>
            <a:ext cx="2788920" cy="530352"/>
          </a:xfrm>
          <a:prstGeom prst="roundRect">
            <a:avLst>
              <a:gd name="adj" fmla="val 25862"/>
            </a:avLst>
          </a:prstGeom>
          <a:solidFill>
            <a:srgbClr val="E0DEFF"/>
          </a:solidFill>
          <a:ln w="31750">
            <a:solidFill>
              <a:srgbClr val="0F1B4C"/>
            </a:solidFill>
            <a:prstDash val="solid"/>
          </a:ln>
          <a:effectLst>
            <a:outerShdw blurRad="12700" dist="50800" dir="2700000" algn="bl" rotWithShape="0">
              <a:srgbClr val="0F1B4C">
                <a:alpha val="100000"/>
              </a:srgbClr>
            </a:outerShdw>
          </a:effectLst>
        </p:spPr>
      </p:sp>
      <p:pic>
        <p:nvPicPr>
          <p:cNvPr id="7" name="Revenue icon" descr="Revenue icon"/>
          <p:cNvPicPr>
            <a:picLocks noChangeAspect="1"/>
          </p:cNvPicPr>
          <p:nvPr/>
        </p:nvPicPr>
        <p:blipFill>
          <a:blip r:embed="rId4"/>
          <a:stretch>
            <a:fillRect/>
          </a:stretch>
        </p:blipFill>
        <p:spPr>
          <a:xfrm>
            <a:off x="5989320" y="1234440"/>
            <a:ext cx="347472" cy="347472"/>
          </a:xfrm>
          <a:prstGeom prst="rect">
            <a:avLst/>
          </a:prstGeom>
        </p:spPr>
      </p:pic>
      <p:sp>
        <p:nvSpPr>
          <p:cNvPr id="8" name="Text 3"/>
          <p:cNvSpPr txBox="1"/>
          <p:nvPr/>
        </p:nvSpPr>
        <p:spPr>
          <a:xfrm>
            <a:off x="6428232" y="1179576"/>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Revenue</a:t>
            </a:r>
            <a:endParaRPr lang="en-US" sz="1200" dirty="0"/>
          </a:p>
        </p:txBody>
      </p:sp>
      <p:sp>
        <p:nvSpPr>
          <p:cNvPr id="9" name="Text 4"/>
          <p:cNvSpPr txBox="1"/>
          <p:nvPr/>
        </p:nvSpPr>
        <p:spPr>
          <a:xfrm>
            <a:off x="7269480" y="1179576"/>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564.8M</a:t>
            </a:r>
            <a:endParaRPr lang="en-US" sz="1500" dirty="0"/>
          </a:p>
        </p:txBody>
      </p:sp>
      <p:sp>
        <p:nvSpPr>
          <p:cNvPr id="10" name="Text 5"/>
          <p:cNvSpPr txBox="1"/>
          <p:nvPr/>
        </p:nvSpPr>
        <p:spPr>
          <a:xfrm>
            <a:off x="7269480" y="1426464"/>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PM 573.2M (-1.48%)</a:t>
            </a:r>
            <a:endParaRPr lang="en-US" sz="1000" dirty="0"/>
          </a:p>
        </p:txBody>
      </p:sp>
      <p:sp>
        <p:nvSpPr>
          <p:cNvPr id="11" name="KPI chip Occupancy"/>
          <p:cNvSpPr/>
          <p:nvPr/>
        </p:nvSpPr>
        <p:spPr>
          <a:xfrm>
            <a:off x="5897880" y="1764792"/>
            <a:ext cx="2788920" cy="530352"/>
          </a:xfrm>
          <a:prstGeom prst="roundRect">
            <a:avLst>
              <a:gd name="adj" fmla="val 25862"/>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pic>
        <p:nvPicPr>
          <p:cNvPr id="12" name="Occupancy icon" descr="Occupancy icon"/>
          <p:cNvPicPr>
            <a:picLocks noChangeAspect="1"/>
          </p:cNvPicPr>
          <p:nvPr/>
        </p:nvPicPr>
        <p:blipFill>
          <a:blip r:embed="rId5"/>
          <a:stretch>
            <a:fillRect/>
          </a:stretch>
        </p:blipFill>
        <p:spPr>
          <a:xfrm>
            <a:off x="5989320" y="1856232"/>
            <a:ext cx="347472" cy="347472"/>
          </a:xfrm>
          <a:prstGeom prst="rect">
            <a:avLst/>
          </a:prstGeom>
        </p:spPr>
      </p:pic>
      <p:sp>
        <p:nvSpPr>
          <p:cNvPr id="13" name="Text 7"/>
          <p:cNvSpPr txBox="1"/>
          <p:nvPr/>
        </p:nvSpPr>
        <p:spPr>
          <a:xfrm>
            <a:off x="6428232" y="1801368"/>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Occupancy</a:t>
            </a:r>
            <a:endParaRPr lang="en-US" sz="1200" dirty="0"/>
          </a:p>
        </p:txBody>
      </p:sp>
      <p:sp>
        <p:nvSpPr>
          <p:cNvPr id="14" name="Text 8"/>
          <p:cNvSpPr txBox="1"/>
          <p:nvPr/>
        </p:nvSpPr>
        <p:spPr>
          <a:xfrm>
            <a:off x="7269480" y="1801368"/>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58%</a:t>
            </a:r>
            <a:endParaRPr lang="en-US" sz="1500" dirty="0"/>
          </a:p>
        </p:txBody>
      </p:sp>
      <p:sp>
        <p:nvSpPr>
          <p:cNvPr id="15" name="Text 9"/>
          <p:cNvSpPr txBox="1"/>
          <p:nvPr/>
        </p:nvSpPr>
        <p:spPr>
          <a:xfrm>
            <a:off x="7269480" y="2048256"/>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PM 59%</a:t>
            </a:r>
            <a:endParaRPr lang="en-US" sz="1000" dirty="0"/>
          </a:p>
        </p:txBody>
      </p:sp>
      <p:sp>
        <p:nvSpPr>
          <p:cNvPr id="16" name="KPI chip Avg rating"/>
          <p:cNvSpPr/>
          <p:nvPr/>
        </p:nvSpPr>
        <p:spPr>
          <a:xfrm>
            <a:off x="5897880" y="2386584"/>
            <a:ext cx="2788920" cy="530352"/>
          </a:xfrm>
          <a:prstGeom prst="roundRect">
            <a:avLst>
              <a:gd name="adj" fmla="val 25862"/>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17" name="Avg rating icon" descr="Avg rating icon"/>
          <p:cNvPicPr>
            <a:picLocks noChangeAspect="1"/>
          </p:cNvPicPr>
          <p:nvPr/>
        </p:nvPicPr>
        <p:blipFill>
          <a:blip r:embed="rId6"/>
          <a:stretch>
            <a:fillRect/>
          </a:stretch>
        </p:blipFill>
        <p:spPr>
          <a:xfrm>
            <a:off x="5989320" y="2478024"/>
            <a:ext cx="347472" cy="347472"/>
          </a:xfrm>
          <a:prstGeom prst="rect">
            <a:avLst/>
          </a:prstGeom>
        </p:spPr>
      </p:pic>
      <p:sp>
        <p:nvSpPr>
          <p:cNvPr id="18" name="Text 11"/>
          <p:cNvSpPr txBox="1"/>
          <p:nvPr/>
        </p:nvSpPr>
        <p:spPr>
          <a:xfrm>
            <a:off x="6428232" y="2423160"/>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Avg rating</a:t>
            </a:r>
            <a:endParaRPr lang="en-US" sz="1200" dirty="0"/>
          </a:p>
        </p:txBody>
      </p:sp>
      <p:sp>
        <p:nvSpPr>
          <p:cNvPr id="19" name="Text 12"/>
          <p:cNvSpPr txBox="1"/>
          <p:nvPr/>
        </p:nvSpPr>
        <p:spPr>
          <a:xfrm>
            <a:off x="7269480" y="2423160"/>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3.61</a:t>
            </a:r>
            <a:endParaRPr lang="en-US" sz="1500" dirty="0"/>
          </a:p>
        </p:txBody>
      </p:sp>
      <p:sp>
        <p:nvSpPr>
          <p:cNvPr id="20" name="Text 13"/>
          <p:cNvSpPr txBox="1"/>
          <p:nvPr/>
        </p:nvSpPr>
        <p:spPr>
          <a:xfrm>
            <a:off x="7269480" y="2670048"/>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PM 3.62</a:t>
            </a:r>
            <a:endParaRPr lang="en-US" sz="1000" dirty="0"/>
          </a:p>
        </p:txBody>
      </p:sp>
      <p:sp>
        <p:nvSpPr>
          <p:cNvPr id="21" name="KPI chip Cancel (CR)"/>
          <p:cNvSpPr/>
          <p:nvPr/>
        </p:nvSpPr>
        <p:spPr>
          <a:xfrm>
            <a:off x="5897880" y="3008376"/>
            <a:ext cx="2788920" cy="530352"/>
          </a:xfrm>
          <a:prstGeom prst="roundRect">
            <a:avLst>
              <a:gd name="adj" fmla="val 25862"/>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22" name="Cancel (CR) icon" descr="Cancel (CR) icon"/>
          <p:cNvPicPr>
            <a:picLocks noChangeAspect="1"/>
          </p:cNvPicPr>
          <p:nvPr/>
        </p:nvPicPr>
        <p:blipFill>
          <a:blip r:embed="rId7"/>
          <a:stretch>
            <a:fillRect/>
          </a:stretch>
        </p:blipFill>
        <p:spPr>
          <a:xfrm>
            <a:off x="5989320" y="3099816"/>
            <a:ext cx="347472" cy="347472"/>
          </a:xfrm>
          <a:prstGeom prst="rect">
            <a:avLst/>
          </a:prstGeom>
        </p:spPr>
      </p:pic>
      <p:sp>
        <p:nvSpPr>
          <p:cNvPr id="23" name="Text 15"/>
          <p:cNvSpPr txBox="1"/>
          <p:nvPr/>
        </p:nvSpPr>
        <p:spPr>
          <a:xfrm>
            <a:off x="6428232" y="3044952"/>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Cancel (CR)</a:t>
            </a:r>
            <a:endParaRPr lang="en-US" sz="1200" dirty="0"/>
          </a:p>
        </p:txBody>
      </p:sp>
      <p:sp>
        <p:nvSpPr>
          <p:cNvPr id="24" name="Text 16"/>
          <p:cNvSpPr txBox="1"/>
          <p:nvPr/>
        </p:nvSpPr>
        <p:spPr>
          <a:xfrm>
            <a:off x="7269480" y="3044952"/>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25.1%</a:t>
            </a:r>
            <a:endParaRPr lang="en-US" sz="1500" dirty="0"/>
          </a:p>
        </p:txBody>
      </p:sp>
      <p:sp>
        <p:nvSpPr>
          <p:cNvPr id="25" name="Text 17"/>
          <p:cNvSpPr txBox="1"/>
          <p:nvPr/>
        </p:nvSpPr>
        <p:spPr>
          <a:xfrm>
            <a:off x="7269480" y="3291840"/>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PM 24.8%</a:t>
            </a:r>
            <a:endParaRPr lang="en-US" sz="1000" dirty="0"/>
          </a:p>
        </p:txBody>
      </p:sp>
      <p:sp>
        <p:nvSpPr>
          <p:cNvPr id="26" name="KPI chip LDC / PDC"/>
          <p:cNvSpPr/>
          <p:nvPr/>
        </p:nvSpPr>
        <p:spPr>
          <a:xfrm>
            <a:off x="5897880" y="3630168"/>
            <a:ext cx="2788920" cy="530352"/>
          </a:xfrm>
          <a:prstGeom prst="roundRect">
            <a:avLst>
              <a:gd name="adj" fmla="val 25862"/>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27" name="LDC / PDC icon" descr="LDC / PDC icon"/>
          <p:cNvPicPr>
            <a:picLocks noChangeAspect="1"/>
          </p:cNvPicPr>
          <p:nvPr/>
        </p:nvPicPr>
        <p:blipFill>
          <a:blip r:embed="rId8"/>
          <a:stretch>
            <a:fillRect/>
          </a:stretch>
        </p:blipFill>
        <p:spPr>
          <a:xfrm>
            <a:off x="5989320" y="3721608"/>
            <a:ext cx="347472" cy="347472"/>
          </a:xfrm>
          <a:prstGeom prst="rect">
            <a:avLst/>
          </a:prstGeom>
        </p:spPr>
      </p:pic>
      <p:sp>
        <p:nvSpPr>
          <p:cNvPr id="28" name="Text 19"/>
          <p:cNvSpPr txBox="1"/>
          <p:nvPr/>
        </p:nvSpPr>
        <p:spPr>
          <a:xfrm>
            <a:off x="6428232" y="3666744"/>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LDC / PDC</a:t>
            </a:r>
            <a:endParaRPr lang="en-US" sz="1200" dirty="0"/>
          </a:p>
        </p:txBody>
      </p:sp>
      <p:sp>
        <p:nvSpPr>
          <p:cNvPr id="29" name="Text 20"/>
          <p:cNvSpPr txBox="1"/>
          <p:nvPr/>
        </p:nvSpPr>
        <p:spPr>
          <a:xfrm>
            <a:off x="7269480" y="3666744"/>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99.9M</a:t>
            </a:r>
            <a:endParaRPr lang="en-US" sz="1500" dirty="0"/>
          </a:p>
        </p:txBody>
      </p:sp>
      <p:sp>
        <p:nvSpPr>
          <p:cNvPr id="30" name="Text 21"/>
          <p:cNvSpPr txBox="1"/>
          <p:nvPr/>
        </p:nvSpPr>
        <p:spPr>
          <a:xfrm>
            <a:off x="7269480" y="3913632"/>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PM 99.7M</a:t>
            </a:r>
            <a:endParaRPr lang="en-US" sz="1000" dirty="0"/>
          </a:p>
        </p:txBody>
      </p:sp>
      <p:sp>
        <p:nvSpPr>
          <p:cNvPr id="31" name="Insight banner"/>
          <p:cNvSpPr/>
          <p:nvPr/>
        </p:nvSpPr>
        <p:spPr>
          <a:xfrm>
            <a:off x="457200" y="4370832"/>
            <a:ext cx="8229600" cy="566928"/>
          </a:xfrm>
          <a:prstGeom prst="roundRect">
            <a:avLst>
              <a:gd name="adj" fmla="val 24194"/>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32" name="Text 23"/>
          <p:cNvSpPr txBox="1"/>
          <p:nvPr/>
        </p:nvSpPr>
        <p:spPr>
          <a:xfrm>
            <a:off x="685800" y="4416552"/>
            <a:ext cx="7772400" cy="475488"/>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Slight slip: revenue -1.5%, occupancy -1 point, cancellations creep up to 25.1%</a:t>
            </a:r>
            <a:endParaRPr lang="en-US" sz="1500" dirty="0"/>
          </a:p>
        </p:txBody>
      </p:sp>
      <p:sp>
        <p:nvSpPr>
          <p:cNvPr id="3"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July: The Big Drop</a:t>
            </a:r>
            <a:endParaRPr lang="en-US" sz="2800" dirty="0"/>
          </a:p>
        </p:txBody>
      </p:sp>
      <p:sp>
        <p:nvSpPr>
          <p:cNvPr id="4" name="Screenshot frame"/>
          <p:cNvSpPr/>
          <p:nvPr/>
        </p:nvSpPr>
        <p:spPr>
          <a:xfrm>
            <a:off x="457200" y="1143000"/>
            <a:ext cx="5175504" cy="3139164"/>
          </a:xfrm>
          <a:prstGeom prst="roundRect">
            <a:avLst>
              <a:gd name="adj" fmla="val 2913"/>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pic>
        <p:nvPicPr>
          <p:cNvPr id="5" name="Monthly screenshot" descr="July: The Big Drop dashboard screenshot"/>
          <p:cNvPicPr>
            <a:picLocks noChangeAspect="1"/>
          </p:cNvPicPr>
          <p:nvPr/>
        </p:nvPicPr>
        <p:blipFill>
          <a:blip r:embed="rId3"/>
          <a:stretch>
            <a:fillRect/>
          </a:stretch>
        </p:blipFill>
        <p:spPr>
          <a:xfrm>
            <a:off x="530352" y="1216152"/>
            <a:ext cx="5029200" cy="2992860"/>
          </a:xfrm>
          <a:prstGeom prst="rect">
            <a:avLst/>
          </a:prstGeom>
        </p:spPr>
      </p:pic>
      <p:sp>
        <p:nvSpPr>
          <p:cNvPr id="6" name="KPI chip Revenue"/>
          <p:cNvSpPr/>
          <p:nvPr/>
        </p:nvSpPr>
        <p:spPr>
          <a:xfrm>
            <a:off x="5897880" y="1143000"/>
            <a:ext cx="2788920" cy="530352"/>
          </a:xfrm>
          <a:prstGeom prst="roundRect">
            <a:avLst>
              <a:gd name="adj" fmla="val 25862"/>
            </a:avLst>
          </a:prstGeom>
          <a:solidFill>
            <a:srgbClr val="E0DEFF"/>
          </a:solidFill>
          <a:ln w="31750">
            <a:solidFill>
              <a:srgbClr val="0F1B4C"/>
            </a:solidFill>
            <a:prstDash val="solid"/>
          </a:ln>
          <a:effectLst>
            <a:outerShdw blurRad="12700" dist="50800" dir="2700000" algn="bl" rotWithShape="0">
              <a:srgbClr val="0F1B4C">
                <a:alpha val="100000"/>
              </a:srgbClr>
            </a:outerShdw>
          </a:effectLst>
        </p:spPr>
      </p:sp>
      <p:pic>
        <p:nvPicPr>
          <p:cNvPr id="7" name="Revenue icon" descr="Revenue icon"/>
          <p:cNvPicPr>
            <a:picLocks noChangeAspect="1"/>
          </p:cNvPicPr>
          <p:nvPr/>
        </p:nvPicPr>
        <p:blipFill>
          <a:blip r:embed="rId4"/>
          <a:stretch>
            <a:fillRect/>
          </a:stretch>
        </p:blipFill>
        <p:spPr>
          <a:xfrm>
            <a:off x="5989320" y="1234440"/>
            <a:ext cx="347472" cy="347472"/>
          </a:xfrm>
          <a:prstGeom prst="rect">
            <a:avLst/>
          </a:prstGeom>
        </p:spPr>
      </p:pic>
      <p:sp>
        <p:nvSpPr>
          <p:cNvPr id="8" name="Text 3"/>
          <p:cNvSpPr txBox="1"/>
          <p:nvPr/>
        </p:nvSpPr>
        <p:spPr>
          <a:xfrm>
            <a:off x="6428232" y="1179576"/>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Revenue</a:t>
            </a:r>
            <a:endParaRPr lang="en-US" sz="1200" dirty="0"/>
          </a:p>
        </p:txBody>
      </p:sp>
      <p:sp>
        <p:nvSpPr>
          <p:cNvPr id="9" name="Text 4"/>
          <p:cNvSpPr txBox="1"/>
          <p:nvPr/>
        </p:nvSpPr>
        <p:spPr>
          <a:xfrm>
            <a:off x="7269480" y="1179576"/>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499.2M</a:t>
            </a:r>
            <a:endParaRPr lang="en-US" sz="1500" dirty="0"/>
          </a:p>
        </p:txBody>
      </p:sp>
      <p:sp>
        <p:nvSpPr>
          <p:cNvPr id="10" name="Text 5"/>
          <p:cNvSpPr txBox="1"/>
          <p:nvPr/>
        </p:nvSpPr>
        <p:spPr>
          <a:xfrm>
            <a:off x="7269480" y="1426464"/>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PM 564.8M (-11.61%)</a:t>
            </a:r>
            <a:endParaRPr lang="en-US" sz="1000" dirty="0"/>
          </a:p>
        </p:txBody>
      </p:sp>
      <p:sp>
        <p:nvSpPr>
          <p:cNvPr id="11" name="KPI chip Occupancy"/>
          <p:cNvSpPr/>
          <p:nvPr/>
        </p:nvSpPr>
        <p:spPr>
          <a:xfrm>
            <a:off x="5897880" y="1764792"/>
            <a:ext cx="2788920" cy="530352"/>
          </a:xfrm>
          <a:prstGeom prst="roundRect">
            <a:avLst>
              <a:gd name="adj" fmla="val 25862"/>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pic>
        <p:nvPicPr>
          <p:cNvPr id="12" name="Occupancy icon" descr="Occupancy icon"/>
          <p:cNvPicPr>
            <a:picLocks noChangeAspect="1"/>
          </p:cNvPicPr>
          <p:nvPr/>
        </p:nvPicPr>
        <p:blipFill>
          <a:blip r:embed="rId5"/>
          <a:stretch>
            <a:fillRect/>
          </a:stretch>
        </p:blipFill>
        <p:spPr>
          <a:xfrm>
            <a:off x="5989320" y="1856232"/>
            <a:ext cx="347472" cy="347472"/>
          </a:xfrm>
          <a:prstGeom prst="rect">
            <a:avLst/>
          </a:prstGeom>
        </p:spPr>
      </p:pic>
      <p:sp>
        <p:nvSpPr>
          <p:cNvPr id="13" name="Text 7"/>
          <p:cNvSpPr txBox="1"/>
          <p:nvPr/>
        </p:nvSpPr>
        <p:spPr>
          <a:xfrm>
            <a:off x="6428232" y="1801368"/>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Occupancy</a:t>
            </a:r>
            <a:endParaRPr lang="en-US" sz="1200" dirty="0"/>
          </a:p>
        </p:txBody>
      </p:sp>
      <p:sp>
        <p:nvSpPr>
          <p:cNvPr id="14" name="Text 8"/>
          <p:cNvSpPr txBox="1"/>
          <p:nvPr/>
        </p:nvSpPr>
        <p:spPr>
          <a:xfrm>
            <a:off x="7269480" y="1801368"/>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57%</a:t>
            </a:r>
            <a:endParaRPr lang="en-US" sz="1500" dirty="0"/>
          </a:p>
        </p:txBody>
      </p:sp>
      <p:sp>
        <p:nvSpPr>
          <p:cNvPr id="15" name="Text 9"/>
          <p:cNvSpPr txBox="1"/>
          <p:nvPr/>
        </p:nvSpPr>
        <p:spPr>
          <a:xfrm>
            <a:off x="7269480" y="2048256"/>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PM 58%</a:t>
            </a:r>
            <a:endParaRPr lang="en-US" sz="1000" dirty="0"/>
          </a:p>
        </p:txBody>
      </p:sp>
      <p:sp>
        <p:nvSpPr>
          <p:cNvPr id="16" name="KPI chip Avg rating"/>
          <p:cNvSpPr/>
          <p:nvPr/>
        </p:nvSpPr>
        <p:spPr>
          <a:xfrm>
            <a:off x="5897880" y="2386584"/>
            <a:ext cx="2788920" cy="530352"/>
          </a:xfrm>
          <a:prstGeom prst="roundRect">
            <a:avLst>
              <a:gd name="adj" fmla="val 25862"/>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17" name="Avg rating icon" descr="Avg rating icon"/>
          <p:cNvPicPr>
            <a:picLocks noChangeAspect="1"/>
          </p:cNvPicPr>
          <p:nvPr/>
        </p:nvPicPr>
        <p:blipFill>
          <a:blip r:embed="rId6"/>
          <a:stretch>
            <a:fillRect/>
          </a:stretch>
        </p:blipFill>
        <p:spPr>
          <a:xfrm>
            <a:off x="5989320" y="2478024"/>
            <a:ext cx="347472" cy="347472"/>
          </a:xfrm>
          <a:prstGeom prst="rect">
            <a:avLst/>
          </a:prstGeom>
        </p:spPr>
      </p:pic>
      <p:sp>
        <p:nvSpPr>
          <p:cNvPr id="18" name="Text 11"/>
          <p:cNvSpPr txBox="1"/>
          <p:nvPr/>
        </p:nvSpPr>
        <p:spPr>
          <a:xfrm>
            <a:off x="6428232" y="2423160"/>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Avg rating</a:t>
            </a:r>
            <a:endParaRPr lang="en-US" sz="1200" dirty="0"/>
          </a:p>
        </p:txBody>
      </p:sp>
      <p:sp>
        <p:nvSpPr>
          <p:cNvPr id="19" name="Text 12"/>
          <p:cNvSpPr txBox="1"/>
          <p:nvPr/>
        </p:nvSpPr>
        <p:spPr>
          <a:xfrm>
            <a:off x="7269480" y="2423160"/>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3.62</a:t>
            </a:r>
            <a:endParaRPr lang="en-US" sz="1500" dirty="0"/>
          </a:p>
        </p:txBody>
      </p:sp>
      <p:sp>
        <p:nvSpPr>
          <p:cNvPr id="20" name="Text 13"/>
          <p:cNvSpPr txBox="1"/>
          <p:nvPr/>
        </p:nvSpPr>
        <p:spPr>
          <a:xfrm>
            <a:off x="7269480" y="2670048"/>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PM 3.61</a:t>
            </a:r>
            <a:endParaRPr lang="en-US" sz="1000" dirty="0"/>
          </a:p>
        </p:txBody>
      </p:sp>
      <p:sp>
        <p:nvSpPr>
          <p:cNvPr id="21" name="KPI chip Cancel (CR)"/>
          <p:cNvSpPr/>
          <p:nvPr/>
        </p:nvSpPr>
        <p:spPr>
          <a:xfrm>
            <a:off x="5897880" y="3008376"/>
            <a:ext cx="2788920" cy="530352"/>
          </a:xfrm>
          <a:prstGeom prst="roundRect">
            <a:avLst>
              <a:gd name="adj" fmla="val 25862"/>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22" name="Cancel (CR) icon" descr="Cancel (CR) icon"/>
          <p:cNvPicPr>
            <a:picLocks noChangeAspect="1"/>
          </p:cNvPicPr>
          <p:nvPr/>
        </p:nvPicPr>
        <p:blipFill>
          <a:blip r:embed="rId7"/>
          <a:stretch>
            <a:fillRect/>
          </a:stretch>
        </p:blipFill>
        <p:spPr>
          <a:xfrm>
            <a:off x="5989320" y="3099816"/>
            <a:ext cx="347472" cy="347472"/>
          </a:xfrm>
          <a:prstGeom prst="rect">
            <a:avLst/>
          </a:prstGeom>
        </p:spPr>
      </p:pic>
      <p:sp>
        <p:nvSpPr>
          <p:cNvPr id="23" name="Text 15"/>
          <p:cNvSpPr txBox="1"/>
          <p:nvPr/>
        </p:nvSpPr>
        <p:spPr>
          <a:xfrm>
            <a:off x="6428232" y="3044952"/>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Cancel (CR)</a:t>
            </a:r>
            <a:endParaRPr lang="en-US" sz="1200" dirty="0"/>
          </a:p>
        </p:txBody>
      </p:sp>
      <p:sp>
        <p:nvSpPr>
          <p:cNvPr id="24" name="Text 16"/>
          <p:cNvSpPr txBox="1"/>
          <p:nvPr/>
        </p:nvSpPr>
        <p:spPr>
          <a:xfrm>
            <a:off x="7269480" y="3044952"/>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24.4%</a:t>
            </a:r>
            <a:endParaRPr lang="en-US" sz="1500" dirty="0"/>
          </a:p>
        </p:txBody>
      </p:sp>
      <p:sp>
        <p:nvSpPr>
          <p:cNvPr id="25" name="Text 17"/>
          <p:cNvSpPr txBox="1"/>
          <p:nvPr/>
        </p:nvSpPr>
        <p:spPr>
          <a:xfrm>
            <a:off x="7269480" y="3291840"/>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PM 25.1%</a:t>
            </a:r>
            <a:endParaRPr lang="en-US" sz="1000" dirty="0"/>
          </a:p>
        </p:txBody>
      </p:sp>
      <p:sp>
        <p:nvSpPr>
          <p:cNvPr id="26" name="KPI chip LDC / PDC"/>
          <p:cNvSpPr/>
          <p:nvPr/>
        </p:nvSpPr>
        <p:spPr>
          <a:xfrm>
            <a:off x="5897880" y="3630168"/>
            <a:ext cx="2788920" cy="530352"/>
          </a:xfrm>
          <a:prstGeom prst="roundRect">
            <a:avLst>
              <a:gd name="adj" fmla="val 25862"/>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27" name="LDC / PDC icon" descr="LDC / PDC icon"/>
          <p:cNvPicPr>
            <a:picLocks noChangeAspect="1"/>
          </p:cNvPicPr>
          <p:nvPr/>
        </p:nvPicPr>
        <p:blipFill>
          <a:blip r:embed="rId8"/>
          <a:stretch>
            <a:fillRect/>
          </a:stretch>
        </p:blipFill>
        <p:spPr>
          <a:xfrm>
            <a:off x="5989320" y="3721608"/>
            <a:ext cx="347472" cy="347472"/>
          </a:xfrm>
          <a:prstGeom prst="rect">
            <a:avLst/>
          </a:prstGeom>
        </p:spPr>
      </p:pic>
      <p:sp>
        <p:nvSpPr>
          <p:cNvPr id="28" name="Text 19"/>
          <p:cNvSpPr txBox="1"/>
          <p:nvPr/>
        </p:nvSpPr>
        <p:spPr>
          <a:xfrm>
            <a:off x="6428232" y="3666744"/>
            <a:ext cx="914400" cy="457200"/>
          </a:xfrm>
          <a:prstGeom prst="rect">
            <a:avLst/>
          </a:prstGeom>
          <a:noFill/>
          <a:ln/>
        </p:spPr>
        <p:txBody>
          <a:bodyPr wrap="square" lIns="0" tIns="0" rIns="0" bIns="0" rtlCol="0" anchor="ctr"/>
          <a:lstStyle/>
          <a:p>
            <a:pPr marL="0" indent="0">
              <a:buNone/>
            </a:pPr>
            <a:r>
              <a:rPr lang="en-US" sz="1200" b="1" dirty="0">
                <a:solidFill>
                  <a:srgbClr val="0F1B4C"/>
                </a:solidFill>
              </a:rPr>
              <a:t>LDC / PDC</a:t>
            </a:r>
            <a:endParaRPr lang="en-US" sz="1200" dirty="0"/>
          </a:p>
        </p:txBody>
      </p:sp>
      <p:sp>
        <p:nvSpPr>
          <p:cNvPr id="29" name="Text 20"/>
          <p:cNvSpPr txBox="1"/>
          <p:nvPr/>
        </p:nvSpPr>
        <p:spPr>
          <a:xfrm>
            <a:off x="7269480" y="3666744"/>
            <a:ext cx="1371600" cy="256032"/>
          </a:xfrm>
          <a:prstGeom prst="rect">
            <a:avLst/>
          </a:prstGeom>
          <a:noFill/>
          <a:ln/>
        </p:spPr>
        <p:txBody>
          <a:bodyPr wrap="square" lIns="0" tIns="0" rIns="0" bIns="0" rtlCol="0" anchor="ctr"/>
          <a:lstStyle/>
          <a:p>
            <a:pPr marL="0" indent="0" algn="r">
              <a:buNone/>
            </a:pPr>
            <a:r>
              <a:rPr lang="en-US" sz="1500" b="1" dirty="0">
                <a:solidFill>
                  <a:srgbClr val="0F1B4C"/>
                </a:solidFill>
                <a:latin typeface="+mj-lt" pitchFamily="34" charset="0"/>
                <a:ea typeface="+mj-lt" pitchFamily="34" charset="-122"/>
                <a:cs typeface="+mj-lt" pitchFamily="34" charset="-120"/>
              </a:rPr>
              <a:t>85.9M</a:t>
            </a:r>
            <a:endParaRPr lang="en-US" sz="1500" dirty="0"/>
          </a:p>
        </p:txBody>
      </p:sp>
      <p:sp>
        <p:nvSpPr>
          <p:cNvPr id="30" name="Text 21"/>
          <p:cNvSpPr txBox="1"/>
          <p:nvPr/>
        </p:nvSpPr>
        <p:spPr>
          <a:xfrm>
            <a:off x="7269480" y="3913632"/>
            <a:ext cx="1371600" cy="219456"/>
          </a:xfrm>
          <a:prstGeom prst="rect">
            <a:avLst/>
          </a:prstGeom>
          <a:noFill/>
          <a:ln/>
        </p:spPr>
        <p:txBody>
          <a:bodyPr wrap="square" lIns="0" tIns="0" rIns="0" bIns="0" rtlCol="0" anchor="ctr"/>
          <a:lstStyle/>
          <a:p>
            <a:pPr marL="0" indent="0" algn="r">
              <a:buNone/>
            </a:pPr>
            <a:r>
              <a:rPr lang="en-US" sz="1000" dirty="0">
                <a:solidFill>
                  <a:srgbClr val="4F46E5"/>
                </a:solidFill>
              </a:rPr>
              <a:t>PM 99.9M</a:t>
            </a:r>
            <a:endParaRPr lang="en-US" sz="1000" dirty="0"/>
          </a:p>
        </p:txBody>
      </p:sp>
      <p:sp>
        <p:nvSpPr>
          <p:cNvPr id="31" name="Insight banner"/>
          <p:cNvSpPr/>
          <p:nvPr/>
        </p:nvSpPr>
        <p:spPr>
          <a:xfrm>
            <a:off x="457200" y="4370832"/>
            <a:ext cx="8229600" cy="566928"/>
          </a:xfrm>
          <a:prstGeom prst="roundRect">
            <a:avLst>
              <a:gd name="adj" fmla="val 24194"/>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32" name="Text 23"/>
          <p:cNvSpPr txBox="1"/>
          <p:nvPr/>
        </p:nvSpPr>
        <p:spPr>
          <a:xfrm>
            <a:off x="685800" y="4416552"/>
            <a:ext cx="7772400" cy="475488"/>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Biggest drop: revenue -11.6%, but cancellations improve to 24.4% and LDC falls to Rs 85.9M</a:t>
            </a:r>
            <a:endParaRPr lang="en-US" sz="1500" dirty="0"/>
          </a:p>
        </p:txBody>
      </p:sp>
      <p:sp>
        <p:nvSpPr>
          <p:cNvPr id="3"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Month by Month: Revenue Slides</a:t>
            </a:r>
            <a:endParaRPr lang="en-US" sz="2800" dirty="0"/>
          </a:p>
        </p:txBody>
      </p:sp>
      <p:sp>
        <p:nvSpPr>
          <p:cNvPr id="4" name="Revenue chart card"/>
          <p:cNvSpPr/>
          <p:nvPr/>
        </p:nvSpPr>
        <p:spPr>
          <a:xfrm>
            <a:off x="457200" y="1143000"/>
            <a:ext cx="4206240" cy="2743200"/>
          </a:xfrm>
          <a:prstGeom prst="roundRect">
            <a:avLst>
              <a:gd name="adj" fmla="val 5000"/>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graphicFrame>
        <p:nvGraphicFramePr>
          <p:cNvPr id="5" name="Chart 0"/>
          <p:cNvGraphicFramePr/>
          <p:nvPr/>
        </p:nvGraphicFramePr>
        <p:xfrm>
          <a:off x="548640" y="1234440"/>
          <a:ext cx="402336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6" name="KPI tile Occupancy"/>
          <p:cNvSpPr/>
          <p:nvPr/>
        </p:nvSpPr>
        <p:spPr>
          <a:xfrm>
            <a:off x="4937760" y="1143000"/>
            <a:ext cx="1828800" cy="1280160"/>
          </a:xfrm>
          <a:prstGeom prst="roundRect">
            <a:avLst>
              <a:gd name="adj" fmla="val 10714"/>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pic>
        <p:nvPicPr>
          <p:cNvPr id="7" name="Occupancy icon" descr="Occupancy icon"/>
          <p:cNvPicPr>
            <a:picLocks noChangeAspect="1"/>
          </p:cNvPicPr>
          <p:nvPr/>
        </p:nvPicPr>
        <p:blipFill>
          <a:blip r:embed="rId4"/>
          <a:stretch>
            <a:fillRect/>
          </a:stretch>
        </p:blipFill>
        <p:spPr>
          <a:xfrm>
            <a:off x="5047488" y="1252728"/>
            <a:ext cx="411480" cy="411480"/>
          </a:xfrm>
          <a:prstGeom prst="rect">
            <a:avLst/>
          </a:prstGeom>
        </p:spPr>
      </p:pic>
      <p:sp>
        <p:nvSpPr>
          <p:cNvPr id="8" name="Text 3"/>
          <p:cNvSpPr txBox="1"/>
          <p:nvPr/>
        </p:nvSpPr>
        <p:spPr>
          <a:xfrm>
            <a:off x="5504688" y="1252728"/>
            <a:ext cx="1188720" cy="411480"/>
          </a:xfrm>
          <a:prstGeom prst="rect">
            <a:avLst/>
          </a:prstGeom>
          <a:noFill/>
          <a:ln/>
        </p:spPr>
        <p:txBody>
          <a:bodyPr wrap="square" lIns="0" tIns="0" rIns="0" bIns="0" rtlCol="0" anchor="ctr"/>
          <a:lstStyle/>
          <a:p>
            <a:pPr marL="0" indent="0">
              <a:buNone/>
            </a:pPr>
            <a:r>
              <a:rPr lang="en-US" sz="1300" b="1" dirty="0">
                <a:solidFill>
                  <a:srgbClr val="0F1B4C"/>
                </a:solidFill>
              </a:rPr>
              <a:t>Occupancy</a:t>
            </a:r>
            <a:endParaRPr lang="en-US" sz="1300" dirty="0"/>
          </a:p>
        </p:txBody>
      </p:sp>
      <p:sp>
        <p:nvSpPr>
          <p:cNvPr id="9" name="Text 4"/>
          <p:cNvSpPr txBox="1"/>
          <p:nvPr/>
        </p:nvSpPr>
        <p:spPr>
          <a:xfrm>
            <a:off x="5029200" y="1709928"/>
            <a:ext cx="1645920" cy="640080"/>
          </a:xfrm>
          <a:prstGeom prst="rect">
            <a:avLst/>
          </a:prstGeom>
          <a:noFill/>
          <a:ln/>
        </p:spPr>
        <p:txBody>
          <a:bodyPr wrap="square" lIns="0" tIns="0" rIns="0" bIns="0" rtlCol="0" anchor="ctr"/>
          <a:lstStyle/>
          <a:p>
            <a:pPr marL="0" indent="0" algn="ctr">
              <a:buNone/>
            </a:pPr>
            <a:r>
              <a:rPr lang="en-US" sz="1300" b="1" dirty="0">
                <a:solidFill>
                  <a:srgbClr val="0F1B4C"/>
                </a:solidFill>
                <a:latin typeface="+mj-lt" pitchFamily="34" charset="0"/>
                <a:ea typeface="+mj-lt" pitchFamily="34" charset="-122"/>
                <a:cs typeface="+mj-lt" pitchFamily="34" charset="-120"/>
              </a:rPr>
              <a:t>59 &gt; 58 &gt; 57%</a:t>
            </a:r>
            <a:endParaRPr lang="en-US" sz="1300" dirty="0"/>
          </a:p>
        </p:txBody>
      </p:sp>
      <p:sp>
        <p:nvSpPr>
          <p:cNvPr id="10" name="KPI tile Cancellation"/>
          <p:cNvSpPr/>
          <p:nvPr/>
        </p:nvSpPr>
        <p:spPr>
          <a:xfrm>
            <a:off x="6858000" y="1143000"/>
            <a:ext cx="1828800" cy="1280160"/>
          </a:xfrm>
          <a:prstGeom prst="roundRect">
            <a:avLst>
              <a:gd name="adj" fmla="val 10714"/>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11" name="Cancellation icon" descr="Cancellation icon"/>
          <p:cNvPicPr>
            <a:picLocks noChangeAspect="1"/>
          </p:cNvPicPr>
          <p:nvPr/>
        </p:nvPicPr>
        <p:blipFill>
          <a:blip r:embed="rId5"/>
          <a:stretch>
            <a:fillRect/>
          </a:stretch>
        </p:blipFill>
        <p:spPr>
          <a:xfrm>
            <a:off x="6967728" y="1252728"/>
            <a:ext cx="411480" cy="411480"/>
          </a:xfrm>
          <a:prstGeom prst="rect">
            <a:avLst/>
          </a:prstGeom>
        </p:spPr>
      </p:pic>
      <p:sp>
        <p:nvSpPr>
          <p:cNvPr id="12" name="Text 6"/>
          <p:cNvSpPr txBox="1"/>
          <p:nvPr/>
        </p:nvSpPr>
        <p:spPr>
          <a:xfrm>
            <a:off x="7424928" y="1252728"/>
            <a:ext cx="1188720" cy="411480"/>
          </a:xfrm>
          <a:prstGeom prst="rect">
            <a:avLst/>
          </a:prstGeom>
          <a:noFill/>
          <a:ln/>
        </p:spPr>
        <p:txBody>
          <a:bodyPr wrap="square" lIns="0" tIns="0" rIns="0" bIns="0" rtlCol="0" anchor="ctr"/>
          <a:lstStyle/>
          <a:p>
            <a:pPr marL="0" indent="0">
              <a:buNone/>
            </a:pPr>
            <a:r>
              <a:rPr lang="en-US" sz="1300" b="1" dirty="0">
                <a:solidFill>
                  <a:srgbClr val="0F1B4C"/>
                </a:solidFill>
              </a:rPr>
              <a:t>Cancellation</a:t>
            </a:r>
            <a:endParaRPr lang="en-US" sz="1300" dirty="0"/>
          </a:p>
        </p:txBody>
      </p:sp>
      <p:sp>
        <p:nvSpPr>
          <p:cNvPr id="13" name="Text 7"/>
          <p:cNvSpPr txBox="1"/>
          <p:nvPr/>
        </p:nvSpPr>
        <p:spPr>
          <a:xfrm>
            <a:off x="6949440" y="1709928"/>
            <a:ext cx="1645920" cy="640080"/>
          </a:xfrm>
          <a:prstGeom prst="rect">
            <a:avLst/>
          </a:prstGeom>
          <a:noFill/>
          <a:ln/>
        </p:spPr>
        <p:txBody>
          <a:bodyPr wrap="square" lIns="0" tIns="0" rIns="0" bIns="0" rtlCol="0" anchor="ctr"/>
          <a:lstStyle/>
          <a:p>
            <a:pPr marL="0" indent="0" algn="ctr">
              <a:buNone/>
            </a:pPr>
            <a:r>
              <a:rPr lang="en-US" sz="1300" b="1" dirty="0">
                <a:solidFill>
                  <a:srgbClr val="0F1B4C"/>
                </a:solidFill>
                <a:latin typeface="+mj-lt" pitchFamily="34" charset="0"/>
                <a:ea typeface="+mj-lt" pitchFamily="34" charset="-122"/>
                <a:cs typeface="+mj-lt" pitchFamily="34" charset="-120"/>
              </a:rPr>
              <a:t>24.8 &gt; 25.1 &gt; 24.4%</a:t>
            </a:r>
            <a:endParaRPr lang="en-US" sz="1300" dirty="0"/>
          </a:p>
        </p:txBody>
      </p:sp>
      <p:sp>
        <p:nvSpPr>
          <p:cNvPr id="14" name="KPI tile Avg rating"/>
          <p:cNvSpPr/>
          <p:nvPr/>
        </p:nvSpPr>
        <p:spPr>
          <a:xfrm>
            <a:off x="4937760" y="2560320"/>
            <a:ext cx="1828800" cy="1280160"/>
          </a:xfrm>
          <a:prstGeom prst="roundRect">
            <a:avLst>
              <a:gd name="adj" fmla="val 10714"/>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15" name="Avg rating icon" descr="Avg rating icon"/>
          <p:cNvPicPr>
            <a:picLocks noChangeAspect="1"/>
          </p:cNvPicPr>
          <p:nvPr/>
        </p:nvPicPr>
        <p:blipFill>
          <a:blip r:embed="rId6"/>
          <a:stretch>
            <a:fillRect/>
          </a:stretch>
        </p:blipFill>
        <p:spPr>
          <a:xfrm>
            <a:off x="5047488" y="2670048"/>
            <a:ext cx="411480" cy="411480"/>
          </a:xfrm>
          <a:prstGeom prst="rect">
            <a:avLst/>
          </a:prstGeom>
        </p:spPr>
      </p:pic>
      <p:sp>
        <p:nvSpPr>
          <p:cNvPr id="16" name="Text 9"/>
          <p:cNvSpPr txBox="1"/>
          <p:nvPr/>
        </p:nvSpPr>
        <p:spPr>
          <a:xfrm>
            <a:off x="5504688" y="2670048"/>
            <a:ext cx="1188720" cy="411480"/>
          </a:xfrm>
          <a:prstGeom prst="rect">
            <a:avLst/>
          </a:prstGeom>
          <a:noFill/>
          <a:ln/>
        </p:spPr>
        <p:txBody>
          <a:bodyPr wrap="square" lIns="0" tIns="0" rIns="0" bIns="0" rtlCol="0" anchor="ctr"/>
          <a:lstStyle/>
          <a:p>
            <a:pPr marL="0" indent="0">
              <a:buNone/>
            </a:pPr>
            <a:r>
              <a:rPr lang="en-US" sz="1300" b="1" dirty="0">
                <a:solidFill>
                  <a:srgbClr val="0F1B4C"/>
                </a:solidFill>
              </a:rPr>
              <a:t>Avg rating</a:t>
            </a:r>
            <a:endParaRPr lang="en-US" sz="1300" dirty="0"/>
          </a:p>
        </p:txBody>
      </p:sp>
      <p:sp>
        <p:nvSpPr>
          <p:cNvPr id="17" name="Text 10"/>
          <p:cNvSpPr txBox="1"/>
          <p:nvPr/>
        </p:nvSpPr>
        <p:spPr>
          <a:xfrm>
            <a:off x="5029200" y="3127248"/>
            <a:ext cx="1645920" cy="640080"/>
          </a:xfrm>
          <a:prstGeom prst="rect">
            <a:avLst/>
          </a:prstGeom>
          <a:noFill/>
          <a:ln/>
        </p:spPr>
        <p:txBody>
          <a:bodyPr wrap="square" lIns="0" tIns="0" rIns="0" bIns="0" rtlCol="0" anchor="ctr"/>
          <a:lstStyle/>
          <a:p>
            <a:pPr marL="0" indent="0" algn="ctr">
              <a:buNone/>
            </a:pPr>
            <a:r>
              <a:rPr lang="en-US" sz="1300" b="1" dirty="0">
                <a:solidFill>
                  <a:srgbClr val="0F1B4C"/>
                </a:solidFill>
                <a:latin typeface="+mj-lt" pitchFamily="34" charset="0"/>
                <a:ea typeface="+mj-lt" pitchFamily="34" charset="-122"/>
                <a:cs typeface="+mj-lt" pitchFamily="34" charset="-120"/>
              </a:rPr>
              <a:t>3.62 &gt; 3.61 &gt; 3.62</a:t>
            </a:r>
            <a:endParaRPr lang="en-US" sz="1300" dirty="0"/>
          </a:p>
        </p:txBody>
      </p:sp>
      <p:sp>
        <p:nvSpPr>
          <p:cNvPr id="18" name="KPI tile LDC / PDC"/>
          <p:cNvSpPr/>
          <p:nvPr/>
        </p:nvSpPr>
        <p:spPr>
          <a:xfrm>
            <a:off x="6858000" y="2560320"/>
            <a:ext cx="1828800" cy="1280160"/>
          </a:xfrm>
          <a:prstGeom prst="roundRect">
            <a:avLst>
              <a:gd name="adj" fmla="val 10714"/>
            </a:avLst>
          </a:prstGeom>
          <a:solidFill>
            <a:srgbClr val="E0DEFF"/>
          </a:solidFill>
          <a:ln w="31750">
            <a:solidFill>
              <a:srgbClr val="0F1B4C"/>
            </a:solidFill>
            <a:prstDash val="solid"/>
          </a:ln>
          <a:effectLst>
            <a:outerShdw blurRad="12700" dist="50800" dir="2700000" algn="bl" rotWithShape="0">
              <a:srgbClr val="0F1B4C">
                <a:alpha val="100000"/>
              </a:srgbClr>
            </a:outerShdw>
          </a:effectLst>
        </p:spPr>
      </p:sp>
      <p:pic>
        <p:nvPicPr>
          <p:cNvPr id="19" name="LDC / PDC icon" descr="LDC / PDC icon"/>
          <p:cNvPicPr>
            <a:picLocks noChangeAspect="1"/>
          </p:cNvPicPr>
          <p:nvPr/>
        </p:nvPicPr>
        <p:blipFill>
          <a:blip r:embed="rId7"/>
          <a:stretch>
            <a:fillRect/>
          </a:stretch>
        </p:blipFill>
        <p:spPr>
          <a:xfrm>
            <a:off x="6967728" y="2670048"/>
            <a:ext cx="411480" cy="411480"/>
          </a:xfrm>
          <a:prstGeom prst="rect">
            <a:avLst/>
          </a:prstGeom>
        </p:spPr>
      </p:pic>
      <p:sp>
        <p:nvSpPr>
          <p:cNvPr id="20" name="Text 12"/>
          <p:cNvSpPr txBox="1"/>
          <p:nvPr/>
        </p:nvSpPr>
        <p:spPr>
          <a:xfrm>
            <a:off x="7424928" y="2670048"/>
            <a:ext cx="1188720" cy="411480"/>
          </a:xfrm>
          <a:prstGeom prst="rect">
            <a:avLst/>
          </a:prstGeom>
          <a:noFill/>
          <a:ln/>
        </p:spPr>
        <p:txBody>
          <a:bodyPr wrap="square" lIns="0" tIns="0" rIns="0" bIns="0" rtlCol="0" anchor="ctr"/>
          <a:lstStyle/>
          <a:p>
            <a:pPr marL="0" indent="0">
              <a:buNone/>
            </a:pPr>
            <a:r>
              <a:rPr lang="en-US" sz="1300" b="1" dirty="0">
                <a:solidFill>
                  <a:srgbClr val="0F1B4C"/>
                </a:solidFill>
              </a:rPr>
              <a:t>LDC / PDC</a:t>
            </a:r>
            <a:endParaRPr lang="en-US" sz="1300" dirty="0"/>
          </a:p>
        </p:txBody>
      </p:sp>
      <p:sp>
        <p:nvSpPr>
          <p:cNvPr id="21" name="Text 13"/>
          <p:cNvSpPr txBox="1"/>
          <p:nvPr/>
        </p:nvSpPr>
        <p:spPr>
          <a:xfrm>
            <a:off x="6949440" y="3127248"/>
            <a:ext cx="1645920" cy="640080"/>
          </a:xfrm>
          <a:prstGeom prst="rect">
            <a:avLst/>
          </a:prstGeom>
          <a:noFill/>
          <a:ln/>
        </p:spPr>
        <p:txBody>
          <a:bodyPr wrap="square" lIns="0" tIns="0" rIns="0" bIns="0" rtlCol="0" anchor="ctr"/>
          <a:lstStyle/>
          <a:p>
            <a:pPr marL="0" indent="0" algn="ctr">
              <a:buNone/>
            </a:pPr>
            <a:r>
              <a:rPr lang="en-US" sz="1300" b="1" dirty="0">
                <a:solidFill>
                  <a:srgbClr val="0F1B4C"/>
                </a:solidFill>
                <a:latin typeface="+mj-lt" pitchFamily="34" charset="0"/>
                <a:ea typeface="+mj-lt" pitchFamily="34" charset="-122"/>
                <a:cs typeface="+mj-lt" pitchFamily="34" charset="-120"/>
              </a:rPr>
              <a:t>99.7 &gt; 99.9 &gt; 85.9M</a:t>
            </a:r>
            <a:endParaRPr lang="en-US" sz="1300" dirty="0"/>
          </a:p>
        </p:txBody>
      </p:sp>
      <p:sp>
        <p:nvSpPr>
          <p:cNvPr id="22" name="Insight banner"/>
          <p:cNvSpPr/>
          <p:nvPr/>
        </p:nvSpPr>
        <p:spPr>
          <a:xfrm>
            <a:off x="457200" y="4023360"/>
            <a:ext cx="8229600" cy="777240"/>
          </a:xfrm>
          <a:prstGeom prst="roundRect">
            <a:avLst>
              <a:gd name="adj" fmla="val 17647"/>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23" name="Text 15"/>
          <p:cNvSpPr txBox="1"/>
          <p:nvPr/>
        </p:nvSpPr>
        <p:spPr>
          <a:xfrm>
            <a:off x="685800" y="4069080"/>
            <a:ext cx="7772400" cy="68580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Revenue fell 12.9% from May to July, but occupancy slipped only 2 points: the loss looks like price and mix, not empty rooms (to verify)</a:t>
            </a:r>
            <a:endParaRPr lang="en-US" sz="15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Insight 1: Cities Tell Tales</a:t>
            </a:r>
            <a:endParaRPr lang="en-US" sz="2800" dirty="0"/>
          </a:p>
        </p:txBody>
      </p:sp>
      <p:sp>
        <p:nvSpPr>
          <p:cNvPr id="4" name="City chart card"/>
          <p:cNvSpPr/>
          <p:nvPr/>
        </p:nvSpPr>
        <p:spPr>
          <a:xfrm>
            <a:off x="457200" y="1143000"/>
            <a:ext cx="4206240" cy="2697480"/>
          </a:xfrm>
          <a:prstGeom prst="roundRect">
            <a:avLst>
              <a:gd name="adj" fmla="val 5085"/>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graphicFrame>
        <p:nvGraphicFramePr>
          <p:cNvPr id="5" name="Chart 0"/>
          <p:cNvGraphicFramePr/>
          <p:nvPr/>
        </p:nvGraphicFramePr>
        <p:xfrm>
          <a:off x="548640" y="1234440"/>
          <a:ext cx="402336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City card 1"/>
          <p:cNvSpPr/>
          <p:nvPr/>
        </p:nvSpPr>
        <p:spPr>
          <a:xfrm>
            <a:off x="4937760" y="1143000"/>
            <a:ext cx="3749040" cy="822960"/>
          </a:xfrm>
          <a:prstGeom prst="roundRect">
            <a:avLst>
              <a:gd name="adj" fmla="val 16667"/>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pic>
        <p:nvPicPr>
          <p:cNvPr id="7" name="City icon" descr="City icon"/>
          <p:cNvPicPr>
            <a:picLocks noChangeAspect="1"/>
          </p:cNvPicPr>
          <p:nvPr/>
        </p:nvPicPr>
        <p:blipFill>
          <a:blip r:embed="rId4"/>
          <a:stretch>
            <a:fillRect/>
          </a:stretch>
        </p:blipFill>
        <p:spPr>
          <a:xfrm>
            <a:off x="5047488" y="1298448"/>
            <a:ext cx="502920" cy="502920"/>
          </a:xfrm>
          <a:prstGeom prst="rect">
            <a:avLst/>
          </a:prstGeom>
        </p:spPr>
      </p:pic>
      <p:sp>
        <p:nvSpPr>
          <p:cNvPr id="8" name="Text 3"/>
          <p:cNvSpPr txBox="1"/>
          <p:nvPr/>
        </p:nvSpPr>
        <p:spPr>
          <a:xfrm>
            <a:off x="5669280" y="1188720"/>
            <a:ext cx="2926080" cy="320040"/>
          </a:xfrm>
          <a:prstGeom prst="rect">
            <a:avLst/>
          </a:prstGeom>
          <a:noFill/>
          <a:ln/>
        </p:spPr>
        <p:txBody>
          <a:bodyPr wrap="square" lIns="0" tIns="0" rIns="0" bIns="0" rtlCol="0" anchor="ctr"/>
          <a:lstStyle/>
          <a:p>
            <a:pPr marL="0" indent="0">
              <a:buNone/>
            </a:pPr>
            <a:r>
              <a:rPr lang="en-US" sz="1400" b="1" dirty="0">
                <a:solidFill>
                  <a:srgbClr val="0F1B4C"/>
                </a:solidFill>
                <a:latin typeface="+mj-lt" pitchFamily="34" charset="0"/>
                <a:ea typeface="+mj-lt" pitchFamily="34" charset="-122"/>
                <a:cs typeface="+mj-lt" pitchFamily="34" charset="-120"/>
              </a:rPr>
              <a:t>Mumbai: the cash cow</a:t>
            </a:r>
            <a:endParaRPr lang="en-US" sz="1400" dirty="0"/>
          </a:p>
        </p:txBody>
      </p:sp>
      <p:sp>
        <p:nvSpPr>
          <p:cNvPr id="9" name="Text 4"/>
          <p:cNvSpPr txBox="1"/>
          <p:nvPr/>
        </p:nvSpPr>
        <p:spPr>
          <a:xfrm>
            <a:off x="5669280" y="1508760"/>
            <a:ext cx="2926080" cy="411480"/>
          </a:xfrm>
          <a:prstGeom prst="rect">
            <a:avLst/>
          </a:prstGeom>
          <a:noFill/>
          <a:ln/>
        </p:spPr>
        <p:txBody>
          <a:bodyPr wrap="square" lIns="0" tIns="0" rIns="0" bIns="0" rtlCol="0" anchor="t"/>
          <a:lstStyle/>
          <a:p>
            <a:pPr marL="0" indent="0">
              <a:buNone/>
            </a:pPr>
            <a:r>
              <a:rPr lang="en-US" sz="1200" dirty="0">
                <a:solidFill>
                  <a:srgbClr val="0F1B4C"/>
                </a:solidFill>
              </a:rPr>
              <a:t>39% of revenue (Rs 225M)</a:t>
            </a:r>
            <a:endParaRPr lang="en-US" sz="1200" dirty="0"/>
          </a:p>
        </p:txBody>
      </p:sp>
      <p:sp>
        <p:nvSpPr>
          <p:cNvPr id="10" name="City card 2"/>
          <p:cNvSpPr/>
          <p:nvPr/>
        </p:nvSpPr>
        <p:spPr>
          <a:xfrm>
            <a:off x="4937760" y="2057400"/>
            <a:ext cx="3749040" cy="822960"/>
          </a:xfrm>
          <a:prstGeom prst="roundRect">
            <a:avLst>
              <a:gd name="adj" fmla="val 16667"/>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11" name="City icon" descr="City icon"/>
          <p:cNvPicPr>
            <a:picLocks noChangeAspect="1"/>
          </p:cNvPicPr>
          <p:nvPr/>
        </p:nvPicPr>
        <p:blipFill>
          <a:blip r:embed="rId4"/>
          <a:stretch>
            <a:fillRect/>
          </a:stretch>
        </p:blipFill>
        <p:spPr>
          <a:xfrm>
            <a:off x="5047488" y="2212848"/>
            <a:ext cx="502920" cy="502920"/>
          </a:xfrm>
          <a:prstGeom prst="rect">
            <a:avLst/>
          </a:prstGeom>
        </p:spPr>
      </p:pic>
      <p:sp>
        <p:nvSpPr>
          <p:cNvPr id="12" name="Text 6"/>
          <p:cNvSpPr txBox="1"/>
          <p:nvPr/>
        </p:nvSpPr>
        <p:spPr>
          <a:xfrm>
            <a:off x="5669280" y="2103120"/>
            <a:ext cx="2926080" cy="320040"/>
          </a:xfrm>
          <a:prstGeom prst="rect">
            <a:avLst/>
          </a:prstGeom>
          <a:noFill/>
          <a:ln/>
        </p:spPr>
        <p:txBody>
          <a:bodyPr wrap="square" lIns="0" tIns="0" rIns="0" bIns="0" rtlCol="0" anchor="ctr"/>
          <a:lstStyle/>
          <a:p>
            <a:pPr marL="0" indent="0">
              <a:buNone/>
            </a:pPr>
            <a:r>
              <a:rPr lang="en-US" sz="1400" b="1" dirty="0">
                <a:solidFill>
                  <a:srgbClr val="0F1B4C"/>
                </a:solidFill>
                <a:latin typeface="+mj-lt" pitchFamily="34" charset="0"/>
                <a:ea typeface="+mj-lt" pitchFamily="34" charset="-122"/>
                <a:cs typeface="+mj-lt" pitchFamily="34" charset="-120"/>
              </a:rPr>
              <a:t>Delhi: the hidden gem</a:t>
            </a:r>
            <a:endParaRPr lang="en-US" sz="1400" dirty="0"/>
          </a:p>
        </p:txBody>
      </p:sp>
      <p:sp>
        <p:nvSpPr>
          <p:cNvPr id="13" name="Text 7"/>
          <p:cNvSpPr txBox="1"/>
          <p:nvPr/>
        </p:nvSpPr>
        <p:spPr>
          <a:xfrm>
            <a:off x="5669280" y="2423160"/>
            <a:ext cx="2926080" cy="411480"/>
          </a:xfrm>
          <a:prstGeom prst="rect">
            <a:avLst/>
          </a:prstGeom>
          <a:noFill/>
          <a:ln/>
        </p:spPr>
        <p:txBody>
          <a:bodyPr wrap="square" lIns="0" tIns="0" rIns="0" bIns="0" rtlCol="0" anchor="t"/>
          <a:lstStyle/>
          <a:p>
            <a:pPr marL="0" indent="0">
              <a:buNone/>
            </a:pPr>
            <a:r>
              <a:rPr lang="en-US" sz="1200" dirty="0">
                <a:solidFill>
                  <a:srgbClr val="0F1B4C"/>
                </a:solidFill>
              </a:rPr>
              <a:t>Lowest revenue, yet best occupancy (61%) and rating (3.8)</a:t>
            </a:r>
            <a:endParaRPr lang="en-US" sz="1200" dirty="0"/>
          </a:p>
        </p:txBody>
      </p:sp>
      <p:sp>
        <p:nvSpPr>
          <p:cNvPr id="14" name="City card 3"/>
          <p:cNvSpPr/>
          <p:nvPr/>
        </p:nvSpPr>
        <p:spPr>
          <a:xfrm>
            <a:off x="4937760" y="2971800"/>
            <a:ext cx="3749040" cy="822960"/>
          </a:xfrm>
          <a:prstGeom prst="roundRect">
            <a:avLst>
              <a:gd name="adj" fmla="val 16667"/>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15" name="City icon" descr="City icon"/>
          <p:cNvPicPr>
            <a:picLocks noChangeAspect="1"/>
          </p:cNvPicPr>
          <p:nvPr/>
        </p:nvPicPr>
        <p:blipFill>
          <a:blip r:embed="rId4"/>
          <a:stretch>
            <a:fillRect/>
          </a:stretch>
        </p:blipFill>
        <p:spPr>
          <a:xfrm>
            <a:off x="5047488" y="3127248"/>
            <a:ext cx="502920" cy="502920"/>
          </a:xfrm>
          <a:prstGeom prst="rect">
            <a:avLst/>
          </a:prstGeom>
        </p:spPr>
      </p:pic>
      <p:sp>
        <p:nvSpPr>
          <p:cNvPr id="16" name="Text 9"/>
          <p:cNvSpPr txBox="1"/>
          <p:nvPr/>
        </p:nvSpPr>
        <p:spPr>
          <a:xfrm>
            <a:off x="5669280" y="3017520"/>
            <a:ext cx="2926080" cy="320040"/>
          </a:xfrm>
          <a:prstGeom prst="rect">
            <a:avLst/>
          </a:prstGeom>
          <a:noFill/>
          <a:ln/>
        </p:spPr>
        <p:txBody>
          <a:bodyPr wrap="square" lIns="0" tIns="0" rIns="0" bIns="0" rtlCol="0" anchor="ctr"/>
          <a:lstStyle/>
          <a:p>
            <a:pPr marL="0" indent="0">
              <a:buNone/>
            </a:pPr>
            <a:r>
              <a:rPr lang="en-US" sz="1400" b="1" dirty="0">
                <a:solidFill>
                  <a:srgbClr val="0F1B4C"/>
                </a:solidFill>
                <a:latin typeface="+mj-lt" pitchFamily="34" charset="0"/>
                <a:ea typeface="+mj-lt" pitchFamily="34" charset="-122"/>
                <a:cs typeface="+mj-lt" pitchFamily="34" charset="-120"/>
              </a:rPr>
              <a:t>Bangalore: needs love</a:t>
            </a:r>
            <a:endParaRPr lang="en-US" sz="1400" dirty="0"/>
          </a:p>
        </p:txBody>
      </p:sp>
      <p:sp>
        <p:nvSpPr>
          <p:cNvPr id="17" name="Text 10"/>
          <p:cNvSpPr txBox="1"/>
          <p:nvPr/>
        </p:nvSpPr>
        <p:spPr>
          <a:xfrm>
            <a:off x="5669280" y="3337560"/>
            <a:ext cx="2926080" cy="411480"/>
          </a:xfrm>
          <a:prstGeom prst="rect">
            <a:avLst/>
          </a:prstGeom>
          <a:noFill/>
          <a:ln/>
        </p:spPr>
        <p:txBody>
          <a:bodyPr wrap="square" lIns="0" tIns="0" rIns="0" bIns="0" rtlCol="0" anchor="t"/>
          <a:lstStyle/>
          <a:p>
            <a:pPr marL="0" indent="0">
              <a:buNone/>
            </a:pPr>
            <a:r>
              <a:rPr lang="en-US" sz="1200" dirty="0">
                <a:solidFill>
                  <a:srgbClr val="0F1B4C"/>
                </a:solidFill>
              </a:rPr>
              <a:t>Lowest rating (3.4) and occupancy only 57%</a:t>
            </a:r>
            <a:endParaRPr lang="en-US" sz="1200" dirty="0"/>
          </a:p>
        </p:txBody>
      </p:sp>
      <p:sp>
        <p:nvSpPr>
          <p:cNvPr id="18" name="Insight banner"/>
          <p:cNvSpPr/>
          <p:nvPr/>
        </p:nvSpPr>
        <p:spPr>
          <a:xfrm>
            <a:off x="457200" y="4023360"/>
            <a:ext cx="8229600" cy="685800"/>
          </a:xfrm>
          <a:prstGeom prst="roundRect">
            <a:avLst>
              <a:gd name="adj" fmla="val 20000"/>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19" name="Text 12"/>
          <p:cNvSpPr txBox="1"/>
          <p:nvPr/>
        </p:nvSpPr>
        <p:spPr>
          <a:xfrm>
            <a:off x="685800" y="4069080"/>
            <a:ext cx="7772400" cy="59436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Action: protect Mumbai, test higher rates in Delhi, fix guest experience in Bangalore</a:t>
            </a:r>
            <a:endParaRPr lang="en-US" sz="15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Insight: Room Class Fill</a:t>
            </a:r>
            <a:endParaRPr lang="en-US" sz="2800" dirty="0"/>
          </a:p>
        </p:txBody>
      </p:sp>
      <p:sp>
        <p:nvSpPr>
          <p:cNvPr id="4" name="Room class chart card"/>
          <p:cNvSpPr/>
          <p:nvPr/>
        </p:nvSpPr>
        <p:spPr>
          <a:xfrm>
            <a:off x="457200" y="1143000"/>
            <a:ext cx="4206240" cy="2697480"/>
          </a:xfrm>
          <a:prstGeom prst="roundRect">
            <a:avLst>
              <a:gd name="adj" fmla="val 5085"/>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graphicFrame>
        <p:nvGraphicFramePr>
          <p:cNvPr id="5" name="Chart 0"/>
          <p:cNvGraphicFramePr/>
          <p:nvPr/>
        </p:nvGraphicFramePr>
        <p:xfrm>
          <a:off x="548640" y="1234440"/>
          <a:ext cx="402336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Room stat 1"/>
          <p:cNvSpPr/>
          <p:nvPr/>
        </p:nvSpPr>
        <p:spPr>
          <a:xfrm>
            <a:off x="4937760" y="1143000"/>
            <a:ext cx="3749040" cy="822960"/>
          </a:xfrm>
          <a:prstGeom prst="roundRect">
            <a:avLst>
              <a:gd name="adj" fmla="val 16667"/>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7" name="Room icon" descr="Room icon"/>
          <p:cNvPicPr>
            <a:picLocks noChangeAspect="1"/>
          </p:cNvPicPr>
          <p:nvPr/>
        </p:nvPicPr>
        <p:blipFill>
          <a:blip r:embed="rId4"/>
          <a:stretch>
            <a:fillRect/>
          </a:stretch>
        </p:blipFill>
        <p:spPr>
          <a:xfrm>
            <a:off x="5047488" y="1298448"/>
            <a:ext cx="502920" cy="502920"/>
          </a:xfrm>
          <a:prstGeom prst="rect">
            <a:avLst/>
          </a:prstGeom>
        </p:spPr>
      </p:pic>
      <p:sp>
        <p:nvSpPr>
          <p:cNvPr id="8" name="Text 3"/>
          <p:cNvSpPr txBox="1"/>
          <p:nvPr/>
        </p:nvSpPr>
        <p:spPr>
          <a:xfrm>
            <a:off x="5669280" y="1188720"/>
            <a:ext cx="1371600" cy="73152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~56-59%</a:t>
            </a:r>
            <a:endParaRPr lang="en-US" sz="1600" dirty="0"/>
          </a:p>
        </p:txBody>
      </p:sp>
      <p:sp>
        <p:nvSpPr>
          <p:cNvPr id="9" name="Text 4"/>
          <p:cNvSpPr txBox="1"/>
          <p:nvPr/>
        </p:nvSpPr>
        <p:spPr>
          <a:xfrm>
            <a:off x="7040880" y="1188720"/>
            <a:ext cx="1554480" cy="731520"/>
          </a:xfrm>
          <a:prstGeom prst="rect">
            <a:avLst/>
          </a:prstGeom>
          <a:noFill/>
          <a:ln/>
        </p:spPr>
        <p:txBody>
          <a:bodyPr wrap="square" lIns="0" tIns="0" rIns="0" bIns="0" rtlCol="0" anchor="ctr"/>
          <a:lstStyle/>
          <a:p>
            <a:pPr marL="0" indent="0">
              <a:buNone/>
            </a:pPr>
            <a:r>
              <a:rPr lang="en-US" sz="1100" dirty="0">
                <a:solidFill>
                  <a:srgbClr val="0F1B4C"/>
                </a:solidFill>
              </a:rPr>
              <a:t>utilisation in every class (Elite 59%, Presidential 56%)</a:t>
            </a:r>
            <a:endParaRPr lang="en-US" sz="1100" dirty="0"/>
          </a:p>
        </p:txBody>
      </p:sp>
      <p:sp>
        <p:nvSpPr>
          <p:cNvPr id="10" name="Room stat 2"/>
          <p:cNvSpPr/>
          <p:nvPr/>
        </p:nvSpPr>
        <p:spPr>
          <a:xfrm>
            <a:off x="4937760" y="2057400"/>
            <a:ext cx="3749040" cy="822960"/>
          </a:xfrm>
          <a:prstGeom prst="roundRect">
            <a:avLst>
              <a:gd name="adj" fmla="val 16667"/>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11" name="Room icon" descr="Room icon"/>
          <p:cNvPicPr>
            <a:picLocks noChangeAspect="1"/>
          </p:cNvPicPr>
          <p:nvPr/>
        </p:nvPicPr>
        <p:blipFill>
          <a:blip r:embed="rId4"/>
          <a:stretch>
            <a:fillRect/>
          </a:stretch>
        </p:blipFill>
        <p:spPr>
          <a:xfrm>
            <a:off x="5047488" y="2212848"/>
            <a:ext cx="502920" cy="502920"/>
          </a:xfrm>
          <a:prstGeom prst="rect">
            <a:avLst/>
          </a:prstGeom>
        </p:spPr>
      </p:pic>
      <p:sp>
        <p:nvSpPr>
          <p:cNvPr id="12" name="Text 6"/>
          <p:cNvSpPr txBox="1"/>
          <p:nvPr/>
        </p:nvSpPr>
        <p:spPr>
          <a:xfrm>
            <a:off x="5669280" y="2103120"/>
            <a:ext cx="1371600" cy="73152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9K vs 5K</a:t>
            </a:r>
            <a:endParaRPr lang="en-US" sz="1600" dirty="0"/>
          </a:p>
        </p:txBody>
      </p:sp>
      <p:sp>
        <p:nvSpPr>
          <p:cNvPr id="13" name="Text 7"/>
          <p:cNvSpPr txBox="1"/>
          <p:nvPr/>
        </p:nvSpPr>
        <p:spPr>
          <a:xfrm>
            <a:off x="7040880" y="2103120"/>
            <a:ext cx="1554480" cy="731520"/>
          </a:xfrm>
          <a:prstGeom prst="rect">
            <a:avLst/>
          </a:prstGeom>
          <a:noFill/>
          <a:ln/>
        </p:spPr>
        <p:txBody>
          <a:bodyPr wrap="square" lIns="0" tIns="0" rIns="0" bIns="0" rtlCol="0" anchor="ctr"/>
          <a:lstStyle/>
          <a:p>
            <a:pPr marL="0" indent="0">
              <a:buNone/>
            </a:pPr>
            <a:r>
              <a:rPr lang="en-US" sz="1100" dirty="0">
                <a:solidFill>
                  <a:srgbClr val="0F1B4C"/>
                </a:solidFill>
              </a:rPr>
              <a:t>Presidential rooms: only 5K of 9K capacity booked</a:t>
            </a:r>
            <a:endParaRPr lang="en-US" sz="1100" dirty="0"/>
          </a:p>
        </p:txBody>
      </p:sp>
      <p:sp>
        <p:nvSpPr>
          <p:cNvPr id="14" name="Room stat 3"/>
          <p:cNvSpPr/>
          <p:nvPr/>
        </p:nvSpPr>
        <p:spPr>
          <a:xfrm>
            <a:off x="4937760" y="2971800"/>
            <a:ext cx="3749040" cy="822960"/>
          </a:xfrm>
          <a:prstGeom prst="roundRect">
            <a:avLst>
              <a:gd name="adj" fmla="val 16667"/>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pic>
        <p:nvPicPr>
          <p:cNvPr id="15" name="Room icon" descr="Room icon"/>
          <p:cNvPicPr>
            <a:picLocks noChangeAspect="1"/>
          </p:cNvPicPr>
          <p:nvPr/>
        </p:nvPicPr>
        <p:blipFill>
          <a:blip r:embed="rId4"/>
          <a:stretch>
            <a:fillRect/>
          </a:stretch>
        </p:blipFill>
        <p:spPr>
          <a:xfrm>
            <a:off x="5047488" y="3127248"/>
            <a:ext cx="502920" cy="502920"/>
          </a:xfrm>
          <a:prstGeom prst="rect">
            <a:avLst/>
          </a:prstGeom>
        </p:spPr>
      </p:pic>
      <p:sp>
        <p:nvSpPr>
          <p:cNvPr id="16" name="Text 9"/>
          <p:cNvSpPr txBox="1"/>
          <p:nvPr/>
        </p:nvSpPr>
        <p:spPr>
          <a:xfrm>
            <a:off x="5669280" y="3017520"/>
            <a:ext cx="1371600" cy="73152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July: down</a:t>
            </a:r>
            <a:endParaRPr lang="en-US" sz="1600" dirty="0"/>
          </a:p>
        </p:txBody>
      </p:sp>
      <p:sp>
        <p:nvSpPr>
          <p:cNvPr id="17" name="Text 10"/>
          <p:cNvSpPr txBox="1"/>
          <p:nvPr/>
        </p:nvSpPr>
        <p:spPr>
          <a:xfrm>
            <a:off x="7040880" y="3017520"/>
            <a:ext cx="1554480" cy="731520"/>
          </a:xfrm>
          <a:prstGeom prst="rect">
            <a:avLst/>
          </a:prstGeom>
          <a:noFill/>
          <a:ln/>
        </p:spPr>
        <p:txBody>
          <a:bodyPr wrap="square" lIns="0" tIns="0" rIns="0" bIns="0" rtlCol="0" anchor="ctr"/>
          <a:lstStyle/>
          <a:p>
            <a:pPr marL="0" indent="0">
              <a:buNone/>
            </a:pPr>
            <a:r>
              <a:rPr lang="en-US" sz="1100" dirty="0">
                <a:solidFill>
                  <a:srgbClr val="0F1B4C"/>
                </a:solidFill>
              </a:rPr>
              <a:t>cancellations fell in every class (Standard 3.3K to 2.7K)</a:t>
            </a:r>
            <a:endParaRPr lang="en-US" sz="1100" dirty="0"/>
          </a:p>
        </p:txBody>
      </p:sp>
      <p:sp>
        <p:nvSpPr>
          <p:cNvPr id="18" name="Insight banner"/>
          <p:cNvSpPr/>
          <p:nvPr/>
        </p:nvSpPr>
        <p:spPr>
          <a:xfrm>
            <a:off x="457200" y="4023360"/>
            <a:ext cx="8229600" cy="685800"/>
          </a:xfrm>
          <a:prstGeom prst="roundRect">
            <a:avLst>
              <a:gd name="adj" fmla="val 20000"/>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19" name="Text 12"/>
          <p:cNvSpPr txBox="1"/>
          <p:nvPr/>
        </p:nvSpPr>
        <p:spPr>
          <a:xfrm>
            <a:off x="685800" y="4069080"/>
            <a:ext cx="7772400" cy="59436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Empty rooms are spread across every class: use dynamic pricing and upgrade offers, not one-class fixes</a:t>
            </a:r>
            <a:endParaRPr lang="en-US" sz="15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Insight: Hotels June vs July</a:t>
            </a:r>
            <a:endParaRPr lang="en-US" sz="2800" dirty="0"/>
          </a:p>
        </p:txBody>
      </p:sp>
      <p:sp>
        <p:nvSpPr>
          <p:cNvPr id="4" name="Property chart card"/>
          <p:cNvSpPr/>
          <p:nvPr/>
        </p:nvSpPr>
        <p:spPr>
          <a:xfrm>
            <a:off x="457200" y="1143000"/>
            <a:ext cx="4206240" cy="2697480"/>
          </a:xfrm>
          <a:prstGeom prst="roundRect">
            <a:avLst>
              <a:gd name="adj" fmla="val 5085"/>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graphicFrame>
        <p:nvGraphicFramePr>
          <p:cNvPr id="5" name="Chart 0"/>
          <p:cNvGraphicFramePr/>
          <p:nvPr/>
        </p:nvGraphicFramePr>
        <p:xfrm>
          <a:off x="548640" y="1234440"/>
          <a:ext cx="402336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Hotel stat 1"/>
          <p:cNvSpPr/>
          <p:nvPr/>
        </p:nvSpPr>
        <p:spPr>
          <a:xfrm>
            <a:off x="4937760" y="1143000"/>
            <a:ext cx="3749040" cy="822960"/>
          </a:xfrm>
          <a:prstGeom prst="roundRect">
            <a:avLst>
              <a:gd name="adj" fmla="val 16667"/>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7" name="Table icon" descr="Table icon"/>
          <p:cNvPicPr>
            <a:picLocks noChangeAspect="1"/>
          </p:cNvPicPr>
          <p:nvPr/>
        </p:nvPicPr>
        <p:blipFill>
          <a:blip r:embed="rId4"/>
          <a:stretch>
            <a:fillRect/>
          </a:stretch>
        </p:blipFill>
        <p:spPr>
          <a:xfrm>
            <a:off x="5047488" y="1298448"/>
            <a:ext cx="502920" cy="502920"/>
          </a:xfrm>
          <a:prstGeom prst="rect">
            <a:avLst/>
          </a:prstGeom>
        </p:spPr>
      </p:pic>
      <p:sp>
        <p:nvSpPr>
          <p:cNvPr id="8" name="Text 3"/>
          <p:cNvSpPr txBox="1"/>
          <p:nvPr/>
        </p:nvSpPr>
        <p:spPr>
          <a:xfrm>
            <a:off x="5669280" y="1188720"/>
            <a:ext cx="2926080" cy="320040"/>
          </a:xfrm>
          <a:prstGeom prst="rect">
            <a:avLst/>
          </a:prstGeom>
          <a:noFill/>
          <a:ln/>
        </p:spPr>
        <p:txBody>
          <a:bodyPr wrap="square" lIns="0" tIns="0" rIns="0" bIns="0" rtlCol="0" anchor="ctr"/>
          <a:lstStyle/>
          <a:p>
            <a:pPr marL="0" indent="0">
              <a:buNone/>
            </a:pPr>
            <a:r>
              <a:rPr lang="en-US" sz="1400" b="1" dirty="0">
                <a:solidFill>
                  <a:srgbClr val="0F1B4C"/>
                </a:solidFill>
                <a:latin typeface="+mj-lt" pitchFamily="34" charset="0"/>
                <a:ea typeface="+mj-lt" pitchFamily="34" charset="-122"/>
                <a:cs typeface="+mj-lt" pitchFamily="34" charset="-120"/>
              </a:rPr>
              <a:t>Bay -16%, Blu -14%</a:t>
            </a:r>
            <a:endParaRPr lang="en-US" sz="1400" dirty="0"/>
          </a:p>
        </p:txBody>
      </p:sp>
      <p:sp>
        <p:nvSpPr>
          <p:cNvPr id="9" name="Text 4"/>
          <p:cNvSpPr txBox="1"/>
          <p:nvPr/>
        </p:nvSpPr>
        <p:spPr>
          <a:xfrm>
            <a:off x="5669280" y="1508760"/>
            <a:ext cx="2926080" cy="411480"/>
          </a:xfrm>
          <a:prstGeom prst="rect">
            <a:avLst/>
          </a:prstGeom>
          <a:noFill/>
          <a:ln/>
        </p:spPr>
        <p:txBody>
          <a:bodyPr wrap="square" lIns="0" tIns="0" rIns="0" bIns="0" rtlCol="0" anchor="t"/>
          <a:lstStyle/>
          <a:p>
            <a:pPr marL="0" indent="0">
              <a:buNone/>
            </a:pPr>
            <a:r>
              <a:rPr lang="en-US" sz="1200" dirty="0">
                <a:solidFill>
                  <a:srgbClr val="0F1B4C"/>
                </a:solidFill>
              </a:rPr>
              <a:t>biggest July drops (87 to 73M, 86 to 74M)</a:t>
            </a:r>
            <a:endParaRPr lang="en-US" sz="1200" dirty="0"/>
          </a:p>
        </p:txBody>
      </p:sp>
      <p:sp>
        <p:nvSpPr>
          <p:cNvPr id="10" name="Hotel stat 2"/>
          <p:cNvSpPr/>
          <p:nvPr/>
        </p:nvSpPr>
        <p:spPr>
          <a:xfrm>
            <a:off x="4937760" y="2057400"/>
            <a:ext cx="3749040" cy="822960"/>
          </a:xfrm>
          <a:prstGeom prst="roundRect">
            <a:avLst>
              <a:gd name="adj" fmla="val 16667"/>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11" name="Table icon" descr="Table icon"/>
          <p:cNvPicPr>
            <a:picLocks noChangeAspect="1"/>
          </p:cNvPicPr>
          <p:nvPr/>
        </p:nvPicPr>
        <p:blipFill>
          <a:blip r:embed="rId4"/>
          <a:stretch>
            <a:fillRect/>
          </a:stretch>
        </p:blipFill>
        <p:spPr>
          <a:xfrm>
            <a:off x="5047488" y="2212848"/>
            <a:ext cx="502920" cy="502920"/>
          </a:xfrm>
          <a:prstGeom prst="rect">
            <a:avLst/>
          </a:prstGeom>
        </p:spPr>
      </p:pic>
      <p:sp>
        <p:nvSpPr>
          <p:cNvPr id="12" name="Text 6"/>
          <p:cNvSpPr txBox="1"/>
          <p:nvPr/>
        </p:nvSpPr>
        <p:spPr>
          <a:xfrm>
            <a:off x="5669280" y="2103120"/>
            <a:ext cx="2926080" cy="320040"/>
          </a:xfrm>
          <a:prstGeom prst="rect">
            <a:avLst/>
          </a:prstGeom>
          <a:noFill/>
          <a:ln/>
        </p:spPr>
        <p:txBody>
          <a:bodyPr wrap="square" lIns="0" tIns="0" rIns="0" bIns="0" rtlCol="0" anchor="ctr"/>
          <a:lstStyle/>
          <a:p>
            <a:pPr marL="0" indent="0">
              <a:buNone/>
            </a:pPr>
            <a:r>
              <a:rPr lang="en-US" sz="1400" b="1" dirty="0">
                <a:solidFill>
                  <a:srgbClr val="0F1B4C"/>
                </a:solidFill>
                <a:latin typeface="+mj-lt" pitchFamily="34" charset="0"/>
                <a:ea typeface="+mj-lt" pitchFamily="34" charset="-122"/>
                <a:cs typeface="+mj-lt" pitchFamily="34" charset="-120"/>
              </a:rPr>
              <a:t>City, Palace -6%</a:t>
            </a:r>
            <a:endParaRPr lang="en-US" sz="1400" dirty="0"/>
          </a:p>
        </p:txBody>
      </p:sp>
      <p:sp>
        <p:nvSpPr>
          <p:cNvPr id="13" name="Text 7"/>
          <p:cNvSpPr txBox="1"/>
          <p:nvPr/>
        </p:nvSpPr>
        <p:spPr>
          <a:xfrm>
            <a:off x="5669280" y="2423160"/>
            <a:ext cx="2926080" cy="411480"/>
          </a:xfrm>
          <a:prstGeom prst="rect">
            <a:avLst/>
          </a:prstGeom>
          <a:noFill/>
          <a:ln/>
        </p:spPr>
        <p:txBody>
          <a:bodyPr wrap="square" lIns="0" tIns="0" rIns="0" bIns="0" rtlCol="0" anchor="t"/>
          <a:lstStyle/>
          <a:p>
            <a:pPr marL="0" indent="0">
              <a:buNone/>
            </a:pPr>
            <a:r>
              <a:rPr lang="en-US" sz="1200" dirty="0">
                <a:solidFill>
                  <a:srgbClr val="0F1B4C"/>
                </a:solidFill>
              </a:rPr>
              <a:t>smaller drops (94 to 88M, 100 to 94M)</a:t>
            </a:r>
            <a:endParaRPr lang="en-US" sz="1200" dirty="0"/>
          </a:p>
        </p:txBody>
      </p:sp>
      <p:sp>
        <p:nvSpPr>
          <p:cNvPr id="14" name="Hotel stat 3"/>
          <p:cNvSpPr/>
          <p:nvPr/>
        </p:nvSpPr>
        <p:spPr>
          <a:xfrm>
            <a:off x="4937760" y="2971800"/>
            <a:ext cx="3749040" cy="822960"/>
          </a:xfrm>
          <a:prstGeom prst="roundRect">
            <a:avLst>
              <a:gd name="adj" fmla="val 16667"/>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pic>
        <p:nvPicPr>
          <p:cNvPr id="15" name="Table icon" descr="Table icon"/>
          <p:cNvPicPr>
            <a:picLocks noChangeAspect="1"/>
          </p:cNvPicPr>
          <p:nvPr/>
        </p:nvPicPr>
        <p:blipFill>
          <a:blip r:embed="rId4"/>
          <a:stretch>
            <a:fillRect/>
          </a:stretch>
        </p:blipFill>
        <p:spPr>
          <a:xfrm>
            <a:off x="5047488" y="3127248"/>
            <a:ext cx="502920" cy="502920"/>
          </a:xfrm>
          <a:prstGeom prst="rect">
            <a:avLst/>
          </a:prstGeom>
        </p:spPr>
      </p:pic>
      <p:sp>
        <p:nvSpPr>
          <p:cNvPr id="16" name="Text 9"/>
          <p:cNvSpPr txBox="1"/>
          <p:nvPr/>
        </p:nvSpPr>
        <p:spPr>
          <a:xfrm>
            <a:off x="5669280" y="3017520"/>
            <a:ext cx="2926080" cy="320040"/>
          </a:xfrm>
          <a:prstGeom prst="rect">
            <a:avLst/>
          </a:prstGeom>
          <a:noFill/>
          <a:ln/>
        </p:spPr>
        <p:txBody>
          <a:bodyPr wrap="square" lIns="0" tIns="0" rIns="0" bIns="0" rtlCol="0" anchor="ctr"/>
          <a:lstStyle/>
          <a:p>
            <a:pPr marL="0" indent="0">
              <a:buNone/>
            </a:pPr>
            <a:r>
              <a:rPr lang="en-US" sz="1400" b="1" dirty="0">
                <a:solidFill>
                  <a:srgbClr val="0F1B4C"/>
                </a:solidFill>
                <a:latin typeface="+mj-lt" pitchFamily="34" charset="0"/>
                <a:ea typeface="+mj-lt" pitchFamily="34" charset="-122"/>
                <a:cs typeface="+mj-lt" pitchFamily="34" charset="-120"/>
              </a:rPr>
              <a:t>Occupancy flat</a:t>
            </a:r>
            <a:endParaRPr lang="en-US" sz="1400" dirty="0"/>
          </a:p>
        </p:txBody>
      </p:sp>
      <p:sp>
        <p:nvSpPr>
          <p:cNvPr id="17" name="Text 10"/>
          <p:cNvSpPr txBox="1"/>
          <p:nvPr/>
        </p:nvSpPr>
        <p:spPr>
          <a:xfrm>
            <a:off x="5669280" y="3337560"/>
            <a:ext cx="2926080" cy="411480"/>
          </a:xfrm>
          <a:prstGeom prst="rect">
            <a:avLst/>
          </a:prstGeom>
          <a:noFill/>
          <a:ln/>
        </p:spPr>
        <p:txBody>
          <a:bodyPr wrap="square" lIns="0" tIns="0" rIns="0" bIns="0" rtlCol="0" anchor="t"/>
          <a:lstStyle/>
          <a:p>
            <a:pPr marL="0" indent="0">
              <a:buNone/>
            </a:pPr>
            <a:r>
              <a:rPr lang="en-US" sz="1200" dirty="0">
                <a:solidFill>
                  <a:srgbClr val="0F1B4C"/>
                </a:solidFill>
              </a:rPr>
              <a:t>Blu 62% and Bay 58% in both months</a:t>
            </a:r>
            <a:endParaRPr lang="en-US" sz="1200" dirty="0"/>
          </a:p>
        </p:txBody>
      </p:sp>
      <p:sp>
        <p:nvSpPr>
          <p:cNvPr id="18" name="Insight banner"/>
          <p:cNvSpPr/>
          <p:nvPr/>
        </p:nvSpPr>
        <p:spPr>
          <a:xfrm>
            <a:off x="457200" y="4023360"/>
            <a:ext cx="8229600" cy="685800"/>
          </a:xfrm>
          <a:prstGeom prst="roundRect">
            <a:avLst>
              <a:gd name="adj" fmla="val 20000"/>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19" name="Text 12"/>
          <p:cNvSpPr txBox="1"/>
          <p:nvPr/>
        </p:nvSpPr>
        <p:spPr>
          <a:xfrm>
            <a:off x="685800" y="4069080"/>
            <a:ext cx="7772400" cy="59436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July revenue fell with no occupancy change in Bay and Blu: again points to price, not footfall</a:t>
            </a:r>
            <a:endParaRPr lang="en-US" sz="15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Insight 2: Cancel Culture</a:t>
            </a:r>
            <a:endParaRPr lang="en-US" sz="2800" dirty="0"/>
          </a:p>
        </p:txBody>
      </p:sp>
      <p:sp>
        <p:nvSpPr>
          <p:cNvPr id="4" name="Doughnut card"/>
          <p:cNvSpPr/>
          <p:nvPr/>
        </p:nvSpPr>
        <p:spPr>
          <a:xfrm>
            <a:off x="457200" y="1143000"/>
            <a:ext cx="3108960" cy="2697480"/>
          </a:xfrm>
          <a:prstGeom prst="roundRect">
            <a:avLst>
              <a:gd name="adj" fmla="val 5085"/>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graphicFrame>
        <p:nvGraphicFramePr>
          <p:cNvPr id="5" name="Chart 0"/>
          <p:cNvGraphicFramePr/>
          <p:nvPr/>
        </p:nvGraphicFramePr>
        <p:xfrm>
          <a:off x="548640" y="1234440"/>
          <a:ext cx="292608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Fact 1"/>
          <p:cNvSpPr/>
          <p:nvPr/>
        </p:nvSpPr>
        <p:spPr>
          <a:xfrm>
            <a:off x="3840480" y="1143000"/>
            <a:ext cx="4846320" cy="822960"/>
          </a:xfrm>
          <a:prstGeom prst="roundRect">
            <a:avLst>
              <a:gd name="adj" fmla="val 16667"/>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7" name="1 in 4 icon" descr="1 in 4 icon"/>
          <p:cNvPicPr>
            <a:picLocks noChangeAspect="1"/>
          </p:cNvPicPr>
          <p:nvPr/>
        </p:nvPicPr>
        <p:blipFill>
          <a:blip r:embed="rId4"/>
          <a:stretch>
            <a:fillRect/>
          </a:stretch>
        </p:blipFill>
        <p:spPr>
          <a:xfrm>
            <a:off x="3977640" y="1298448"/>
            <a:ext cx="502920" cy="502920"/>
          </a:xfrm>
          <a:prstGeom prst="rect">
            <a:avLst/>
          </a:prstGeom>
        </p:spPr>
      </p:pic>
      <p:sp>
        <p:nvSpPr>
          <p:cNvPr id="8" name="Text 3"/>
          <p:cNvSpPr txBox="1"/>
          <p:nvPr/>
        </p:nvSpPr>
        <p:spPr>
          <a:xfrm>
            <a:off x="4617720" y="1188720"/>
            <a:ext cx="1554480" cy="731520"/>
          </a:xfrm>
          <a:prstGeom prst="rect">
            <a:avLst/>
          </a:prstGeom>
          <a:noFill/>
          <a:ln/>
        </p:spPr>
        <p:txBody>
          <a:bodyPr wrap="square" lIns="0" tIns="0" rIns="0" bIns="0" rtlCol="0" anchor="ctr"/>
          <a:lstStyle/>
          <a:p>
            <a:pPr marL="0" indent="0">
              <a:buNone/>
            </a:pPr>
            <a:r>
              <a:rPr lang="en-US" sz="1800" b="1" dirty="0">
                <a:solidFill>
                  <a:srgbClr val="0F1B4C"/>
                </a:solidFill>
                <a:latin typeface="+mj-lt" pitchFamily="34" charset="0"/>
                <a:ea typeface="+mj-lt" pitchFamily="34" charset="-122"/>
                <a:cs typeface="+mj-lt" pitchFamily="34" charset="-120"/>
              </a:rPr>
              <a:t>1 in 4</a:t>
            </a:r>
            <a:endParaRPr lang="en-US" sz="1800" dirty="0"/>
          </a:p>
        </p:txBody>
      </p:sp>
      <p:sp>
        <p:nvSpPr>
          <p:cNvPr id="9" name="Text 4"/>
          <p:cNvSpPr txBox="1"/>
          <p:nvPr/>
        </p:nvSpPr>
        <p:spPr>
          <a:xfrm>
            <a:off x="6172200" y="1188720"/>
            <a:ext cx="2423160" cy="731520"/>
          </a:xfrm>
          <a:prstGeom prst="rect">
            <a:avLst/>
          </a:prstGeom>
          <a:noFill/>
          <a:ln/>
        </p:spPr>
        <p:txBody>
          <a:bodyPr wrap="square" lIns="0" tIns="0" rIns="0" bIns="0" rtlCol="0" anchor="ctr"/>
          <a:lstStyle/>
          <a:p>
            <a:pPr marL="0" indent="0">
              <a:buNone/>
            </a:pPr>
            <a:r>
              <a:rPr lang="en-US" sz="1200" dirty="0">
                <a:solidFill>
                  <a:srgbClr val="0F1B4C"/>
                </a:solidFill>
              </a:rPr>
              <a:t>bookings cancelled: 24.8% (11,188 of 45,129)</a:t>
            </a:r>
            <a:endParaRPr lang="en-US" sz="1200" dirty="0"/>
          </a:p>
        </p:txBody>
      </p:sp>
      <p:sp>
        <p:nvSpPr>
          <p:cNvPr id="10" name="Fact 2"/>
          <p:cNvSpPr/>
          <p:nvPr/>
        </p:nvSpPr>
        <p:spPr>
          <a:xfrm>
            <a:off x="3840480" y="2057400"/>
            <a:ext cx="4846320" cy="822960"/>
          </a:xfrm>
          <a:prstGeom prst="roundRect">
            <a:avLst>
              <a:gd name="adj" fmla="val 16667"/>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11" name="Rs 99.7M icon" descr="Rs 99.7M icon"/>
          <p:cNvPicPr>
            <a:picLocks noChangeAspect="1"/>
          </p:cNvPicPr>
          <p:nvPr/>
        </p:nvPicPr>
        <p:blipFill>
          <a:blip r:embed="rId5"/>
          <a:stretch>
            <a:fillRect/>
          </a:stretch>
        </p:blipFill>
        <p:spPr>
          <a:xfrm>
            <a:off x="3977640" y="2212848"/>
            <a:ext cx="502920" cy="502920"/>
          </a:xfrm>
          <a:prstGeom prst="rect">
            <a:avLst/>
          </a:prstGeom>
        </p:spPr>
      </p:pic>
      <p:sp>
        <p:nvSpPr>
          <p:cNvPr id="12" name="Text 6"/>
          <p:cNvSpPr txBox="1"/>
          <p:nvPr/>
        </p:nvSpPr>
        <p:spPr>
          <a:xfrm>
            <a:off x="4617720" y="2103120"/>
            <a:ext cx="1554480" cy="731520"/>
          </a:xfrm>
          <a:prstGeom prst="rect">
            <a:avLst/>
          </a:prstGeom>
          <a:noFill/>
          <a:ln/>
        </p:spPr>
        <p:txBody>
          <a:bodyPr wrap="square" lIns="0" tIns="0" rIns="0" bIns="0" rtlCol="0" anchor="ctr"/>
          <a:lstStyle/>
          <a:p>
            <a:pPr marL="0" indent="0">
              <a:buNone/>
            </a:pPr>
            <a:r>
              <a:rPr lang="en-US" sz="1800" b="1" dirty="0">
                <a:solidFill>
                  <a:srgbClr val="0F1B4C"/>
                </a:solidFill>
                <a:latin typeface="+mj-lt" pitchFamily="34" charset="0"/>
                <a:ea typeface="+mj-lt" pitchFamily="34" charset="-122"/>
                <a:cs typeface="+mj-lt" pitchFamily="34" charset="-120"/>
              </a:rPr>
              <a:t>Rs 99.7M</a:t>
            </a:r>
            <a:endParaRPr lang="en-US" sz="1800" dirty="0"/>
          </a:p>
        </p:txBody>
      </p:sp>
      <p:sp>
        <p:nvSpPr>
          <p:cNvPr id="13" name="Text 7"/>
          <p:cNvSpPr txBox="1"/>
          <p:nvPr/>
        </p:nvSpPr>
        <p:spPr>
          <a:xfrm>
            <a:off x="6172200" y="2103120"/>
            <a:ext cx="2423160" cy="731520"/>
          </a:xfrm>
          <a:prstGeom prst="rect">
            <a:avLst/>
          </a:prstGeom>
          <a:noFill/>
          <a:ln/>
        </p:spPr>
        <p:txBody>
          <a:bodyPr wrap="square" lIns="0" tIns="0" rIns="0" bIns="0" rtlCol="0" anchor="ctr"/>
          <a:lstStyle/>
          <a:p>
            <a:pPr marL="0" indent="0">
              <a:buNone/>
            </a:pPr>
            <a:r>
              <a:rPr lang="en-US" sz="1200" dirty="0">
                <a:solidFill>
                  <a:srgbClr val="0F1B4C"/>
                </a:solidFill>
              </a:rPr>
              <a:t>LDC/PDC, about 17% of May revenue</a:t>
            </a:r>
            <a:endParaRPr lang="en-US" sz="1200" dirty="0"/>
          </a:p>
        </p:txBody>
      </p:sp>
      <p:sp>
        <p:nvSpPr>
          <p:cNvPr id="14" name="Fact 3"/>
          <p:cNvSpPr/>
          <p:nvPr/>
        </p:nvSpPr>
        <p:spPr>
          <a:xfrm>
            <a:off x="3840480" y="2971800"/>
            <a:ext cx="4846320" cy="822960"/>
          </a:xfrm>
          <a:prstGeom prst="roundRect">
            <a:avLst>
              <a:gd name="adj" fmla="val 16667"/>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pic>
        <p:nvPicPr>
          <p:cNvPr id="15" name="3 months icon" descr="3 months icon"/>
          <p:cNvPicPr>
            <a:picLocks noChangeAspect="1"/>
          </p:cNvPicPr>
          <p:nvPr/>
        </p:nvPicPr>
        <p:blipFill>
          <a:blip r:embed="rId6"/>
          <a:stretch>
            <a:fillRect/>
          </a:stretch>
        </p:blipFill>
        <p:spPr>
          <a:xfrm>
            <a:off x="3977640" y="3127248"/>
            <a:ext cx="502920" cy="502920"/>
          </a:xfrm>
          <a:prstGeom prst="rect">
            <a:avLst/>
          </a:prstGeom>
        </p:spPr>
      </p:pic>
      <p:sp>
        <p:nvSpPr>
          <p:cNvPr id="16" name="Text 9"/>
          <p:cNvSpPr txBox="1"/>
          <p:nvPr/>
        </p:nvSpPr>
        <p:spPr>
          <a:xfrm>
            <a:off x="4617720" y="3017520"/>
            <a:ext cx="1554480" cy="731520"/>
          </a:xfrm>
          <a:prstGeom prst="rect">
            <a:avLst/>
          </a:prstGeom>
          <a:noFill/>
          <a:ln/>
        </p:spPr>
        <p:txBody>
          <a:bodyPr wrap="square" lIns="0" tIns="0" rIns="0" bIns="0" rtlCol="0" anchor="ctr"/>
          <a:lstStyle/>
          <a:p>
            <a:pPr marL="0" indent="0">
              <a:buNone/>
            </a:pPr>
            <a:r>
              <a:rPr lang="en-US" sz="1800" b="1" dirty="0">
                <a:solidFill>
                  <a:srgbClr val="0F1B4C"/>
                </a:solidFill>
                <a:latin typeface="+mj-lt" pitchFamily="34" charset="0"/>
                <a:ea typeface="+mj-lt" pitchFamily="34" charset="-122"/>
                <a:cs typeface="+mj-lt" pitchFamily="34" charset="-120"/>
              </a:rPr>
              <a:t>3 months</a:t>
            </a:r>
            <a:endParaRPr lang="en-US" sz="1800" dirty="0"/>
          </a:p>
        </p:txBody>
      </p:sp>
      <p:sp>
        <p:nvSpPr>
          <p:cNvPr id="17" name="Text 10"/>
          <p:cNvSpPr txBox="1"/>
          <p:nvPr/>
        </p:nvSpPr>
        <p:spPr>
          <a:xfrm>
            <a:off x="6172200" y="3017520"/>
            <a:ext cx="2423160" cy="731520"/>
          </a:xfrm>
          <a:prstGeom prst="rect">
            <a:avLst/>
          </a:prstGeom>
          <a:noFill/>
          <a:ln/>
        </p:spPr>
        <p:txBody>
          <a:bodyPr wrap="square" lIns="0" tIns="0" rIns="0" bIns="0" rtlCol="0" anchor="ctr"/>
          <a:lstStyle/>
          <a:p>
            <a:pPr marL="0" indent="0">
              <a:buNone/>
            </a:pPr>
            <a:r>
              <a:rPr lang="en-US" sz="1200" dirty="0">
                <a:solidFill>
                  <a:srgbClr val="0F1B4C"/>
                </a:solidFill>
              </a:rPr>
              <a:t>rate stuck near 25%; July best at 24.4%, LDC down 14%</a:t>
            </a:r>
            <a:endParaRPr lang="en-US" sz="1200" dirty="0"/>
          </a:p>
        </p:txBody>
      </p:sp>
      <p:sp>
        <p:nvSpPr>
          <p:cNvPr id="18" name="Insight banner"/>
          <p:cNvSpPr/>
          <p:nvPr/>
        </p:nvSpPr>
        <p:spPr>
          <a:xfrm>
            <a:off x="457200" y="4023360"/>
            <a:ext cx="8229600" cy="685800"/>
          </a:xfrm>
          <a:prstGeom prst="roundRect">
            <a:avLst>
              <a:gd name="adj" fmla="val 20000"/>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19" name="Text 12"/>
          <p:cNvSpPr txBox="1"/>
          <p:nvPr/>
        </p:nvSpPr>
        <p:spPr>
          <a:xfrm>
            <a:off x="685800" y="4069080"/>
            <a:ext cx="7772400" cy="59436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Fix: deposits or non-refundable rates, reminder nudges, tighter cancel windows; track by platform</a:t>
            </a:r>
            <a:endParaRPr lang="en-US" sz="15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Insight 3: Who Books and When</a:t>
            </a:r>
            <a:endParaRPr lang="en-US" sz="2800" dirty="0"/>
          </a:p>
        </p:txBody>
      </p:sp>
      <p:sp>
        <p:nvSpPr>
          <p:cNvPr id="4" name="Platform chart card"/>
          <p:cNvSpPr/>
          <p:nvPr/>
        </p:nvSpPr>
        <p:spPr>
          <a:xfrm>
            <a:off x="457200" y="1143000"/>
            <a:ext cx="4206240" cy="2697480"/>
          </a:xfrm>
          <a:prstGeom prst="roundRect">
            <a:avLst>
              <a:gd name="adj" fmla="val 5085"/>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graphicFrame>
        <p:nvGraphicFramePr>
          <p:cNvPr id="5" name="Chart 0"/>
          <p:cNvGraphicFramePr/>
          <p:nvPr/>
        </p:nvGraphicFramePr>
        <p:xfrm>
          <a:off x="548640" y="1234440"/>
          <a:ext cx="402336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Channel stat 1"/>
          <p:cNvSpPr/>
          <p:nvPr/>
        </p:nvSpPr>
        <p:spPr>
          <a:xfrm>
            <a:off x="4937760" y="1143000"/>
            <a:ext cx="3749040" cy="822960"/>
          </a:xfrm>
          <a:prstGeom prst="roundRect">
            <a:avLst>
              <a:gd name="adj" fmla="val 16667"/>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7" name="Platform icon" descr="Platform icon"/>
          <p:cNvPicPr>
            <a:picLocks noChangeAspect="1"/>
          </p:cNvPicPr>
          <p:nvPr/>
        </p:nvPicPr>
        <p:blipFill>
          <a:blip r:embed="rId4"/>
          <a:stretch>
            <a:fillRect/>
          </a:stretch>
        </p:blipFill>
        <p:spPr>
          <a:xfrm>
            <a:off x="5047488" y="1298448"/>
            <a:ext cx="502920" cy="502920"/>
          </a:xfrm>
          <a:prstGeom prst="rect">
            <a:avLst/>
          </a:prstGeom>
        </p:spPr>
      </p:pic>
      <p:sp>
        <p:nvSpPr>
          <p:cNvPr id="8" name="Text 3"/>
          <p:cNvSpPr txBox="1"/>
          <p:nvPr/>
        </p:nvSpPr>
        <p:spPr>
          <a:xfrm>
            <a:off x="5669280" y="1188720"/>
            <a:ext cx="1005840" cy="731520"/>
          </a:xfrm>
          <a:prstGeom prst="rect">
            <a:avLst/>
          </a:prstGeom>
          <a:noFill/>
          <a:ln/>
        </p:spPr>
        <p:txBody>
          <a:bodyPr wrap="square" lIns="0" tIns="0" rIns="0" bIns="0" rtlCol="0" anchor="ctr"/>
          <a:lstStyle/>
          <a:p>
            <a:pPr marL="0" indent="0">
              <a:buNone/>
            </a:pPr>
            <a:r>
              <a:rPr lang="en-US" sz="2400" b="1" dirty="0">
                <a:solidFill>
                  <a:srgbClr val="0F1B4C"/>
                </a:solidFill>
                <a:latin typeface="+mj-lt" pitchFamily="34" charset="0"/>
                <a:ea typeface="+mj-lt" pitchFamily="34" charset="-122"/>
                <a:cs typeface="+mj-lt" pitchFamily="34" charset="-120"/>
              </a:rPr>
              <a:t>42%</a:t>
            </a:r>
            <a:endParaRPr lang="en-US" sz="2400" dirty="0"/>
          </a:p>
        </p:txBody>
      </p:sp>
      <p:sp>
        <p:nvSpPr>
          <p:cNvPr id="9" name="Text 4"/>
          <p:cNvSpPr txBox="1"/>
          <p:nvPr/>
        </p:nvSpPr>
        <p:spPr>
          <a:xfrm>
            <a:off x="6675120" y="1188720"/>
            <a:ext cx="1920240" cy="731520"/>
          </a:xfrm>
          <a:prstGeom prst="rect">
            <a:avLst/>
          </a:prstGeom>
          <a:noFill/>
          <a:ln/>
        </p:spPr>
        <p:txBody>
          <a:bodyPr wrap="square" lIns="0" tIns="0" rIns="0" bIns="0" rtlCol="0" anchor="ctr"/>
          <a:lstStyle/>
          <a:p>
            <a:pPr marL="0" indent="0">
              <a:buNone/>
            </a:pPr>
            <a:r>
              <a:rPr lang="en-US" sz="1200" dirty="0">
                <a:solidFill>
                  <a:srgbClr val="0F1B4C"/>
                </a:solidFill>
              </a:rPr>
              <a:t>"others" alone (19K of 45K bookings)</a:t>
            </a:r>
            <a:endParaRPr lang="en-US" sz="1200" dirty="0"/>
          </a:p>
        </p:txBody>
      </p:sp>
      <p:sp>
        <p:nvSpPr>
          <p:cNvPr id="10" name="Channel stat 2"/>
          <p:cNvSpPr/>
          <p:nvPr/>
        </p:nvSpPr>
        <p:spPr>
          <a:xfrm>
            <a:off x="4937760" y="2057400"/>
            <a:ext cx="3749040" cy="822960"/>
          </a:xfrm>
          <a:prstGeom prst="roundRect">
            <a:avLst>
              <a:gd name="adj" fmla="val 16667"/>
            </a:avLst>
          </a:prstGeom>
          <a:solidFill>
            <a:srgbClr val="E0DEFF"/>
          </a:solidFill>
          <a:ln w="31750">
            <a:solidFill>
              <a:srgbClr val="0F1B4C"/>
            </a:solidFill>
            <a:prstDash val="solid"/>
          </a:ln>
          <a:effectLst>
            <a:outerShdw blurRad="12700" dist="50800" dir="2700000" algn="bl" rotWithShape="0">
              <a:srgbClr val="0F1B4C">
                <a:alpha val="100000"/>
              </a:srgbClr>
            </a:outerShdw>
          </a:effectLst>
        </p:spPr>
      </p:sp>
      <p:pic>
        <p:nvPicPr>
          <p:cNvPr id="11" name="Platform icon" descr="Platform icon"/>
          <p:cNvPicPr>
            <a:picLocks noChangeAspect="1"/>
          </p:cNvPicPr>
          <p:nvPr/>
        </p:nvPicPr>
        <p:blipFill>
          <a:blip r:embed="rId4"/>
          <a:stretch>
            <a:fillRect/>
          </a:stretch>
        </p:blipFill>
        <p:spPr>
          <a:xfrm>
            <a:off x="5047488" y="2212848"/>
            <a:ext cx="502920" cy="502920"/>
          </a:xfrm>
          <a:prstGeom prst="rect">
            <a:avLst/>
          </a:prstGeom>
        </p:spPr>
      </p:pic>
      <p:sp>
        <p:nvSpPr>
          <p:cNvPr id="12" name="Text 6"/>
          <p:cNvSpPr txBox="1"/>
          <p:nvPr/>
        </p:nvSpPr>
        <p:spPr>
          <a:xfrm>
            <a:off x="5669280" y="2103120"/>
            <a:ext cx="1005840" cy="731520"/>
          </a:xfrm>
          <a:prstGeom prst="rect">
            <a:avLst/>
          </a:prstGeom>
          <a:noFill/>
          <a:ln/>
        </p:spPr>
        <p:txBody>
          <a:bodyPr wrap="square" lIns="0" tIns="0" rIns="0" bIns="0" rtlCol="0" anchor="ctr"/>
          <a:lstStyle/>
          <a:p>
            <a:pPr marL="0" indent="0">
              <a:buNone/>
            </a:pPr>
            <a:r>
              <a:rPr lang="en-US" sz="2400" b="1" dirty="0">
                <a:solidFill>
                  <a:srgbClr val="0F1B4C"/>
                </a:solidFill>
                <a:latin typeface="+mj-lt" pitchFamily="34" charset="0"/>
                <a:ea typeface="+mj-lt" pitchFamily="34" charset="-122"/>
                <a:cs typeface="+mj-lt" pitchFamily="34" charset="-120"/>
              </a:rPr>
              <a:t>62%</a:t>
            </a:r>
            <a:endParaRPr lang="en-US" sz="2400" dirty="0"/>
          </a:p>
        </p:txBody>
      </p:sp>
      <p:sp>
        <p:nvSpPr>
          <p:cNvPr id="13" name="Text 7"/>
          <p:cNvSpPr txBox="1"/>
          <p:nvPr/>
        </p:nvSpPr>
        <p:spPr>
          <a:xfrm>
            <a:off x="6675120" y="2103120"/>
            <a:ext cx="1920240" cy="731520"/>
          </a:xfrm>
          <a:prstGeom prst="rect">
            <a:avLst/>
          </a:prstGeom>
          <a:noFill/>
          <a:ln/>
        </p:spPr>
        <p:txBody>
          <a:bodyPr wrap="square" lIns="0" tIns="0" rIns="0" bIns="0" rtlCol="0" anchor="ctr"/>
          <a:lstStyle/>
          <a:p>
            <a:pPr marL="0" indent="0">
              <a:buNone/>
            </a:pPr>
            <a:r>
              <a:rPr lang="en-US" sz="1200" dirty="0">
                <a:solidFill>
                  <a:srgbClr val="0F1B4C"/>
                </a:solidFill>
              </a:rPr>
              <a:t>top two channels: others + makeyourtrip</a:t>
            </a:r>
            <a:endParaRPr lang="en-US" sz="1200" dirty="0"/>
          </a:p>
        </p:txBody>
      </p:sp>
      <p:sp>
        <p:nvSpPr>
          <p:cNvPr id="14" name="Channel stat 3"/>
          <p:cNvSpPr/>
          <p:nvPr/>
        </p:nvSpPr>
        <p:spPr>
          <a:xfrm>
            <a:off x="4937760" y="2971800"/>
            <a:ext cx="3749040" cy="822960"/>
          </a:xfrm>
          <a:prstGeom prst="roundRect">
            <a:avLst>
              <a:gd name="adj" fmla="val 16667"/>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15" name="Platform icon" descr="Platform icon"/>
          <p:cNvPicPr>
            <a:picLocks noChangeAspect="1"/>
          </p:cNvPicPr>
          <p:nvPr/>
        </p:nvPicPr>
        <p:blipFill>
          <a:blip r:embed="rId4"/>
          <a:stretch>
            <a:fillRect/>
          </a:stretch>
        </p:blipFill>
        <p:spPr>
          <a:xfrm>
            <a:off x="5047488" y="3127248"/>
            <a:ext cx="502920" cy="502920"/>
          </a:xfrm>
          <a:prstGeom prst="rect">
            <a:avLst/>
          </a:prstGeom>
        </p:spPr>
      </p:pic>
      <p:sp>
        <p:nvSpPr>
          <p:cNvPr id="16" name="Text 9"/>
          <p:cNvSpPr txBox="1"/>
          <p:nvPr/>
        </p:nvSpPr>
        <p:spPr>
          <a:xfrm>
            <a:off x="5669280" y="3017520"/>
            <a:ext cx="1005840" cy="731520"/>
          </a:xfrm>
          <a:prstGeom prst="rect">
            <a:avLst/>
          </a:prstGeom>
          <a:noFill/>
          <a:ln/>
        </p:spPr>
        <p:txBody>
          <a:bodyPr wrap="square" lIns="0" tIns="0" rIns="0" bIns="0" rtlCol="0" anchor="ctr"/>
          <a:lstStyle/>
          <a:p>
            <a:pPr marL="0" indent="0">
              <a:buNone/>
            </a:pPr>
            <a:r>
              <a:rPr lang="en-US" sz="2400" b="1" dirty="0">
                <a:solidFill>
                  <a:srgbClr val="0F1B4C"/>
                </a:solidFill>
                <a:latin typeface="+mj-lt" pitchFamily="34" charset="0"/>
                <a:ea typeface="+mj-lt" pitchFamily="34" charset="-122"/>
                <a:cs typeface="+mj-lt" pitchFamily="34" charset="-120"/>
              </a:rPr>
              <a:t>13%</a:t>
            </a:r>
            <a:endParaRPr lang="en-US" sz="2400" dirty="0"/>
          </a:p>
        </p:txBody>
      </p:sp>
      <p:sp>
        <p:nvSpPr>
          <p:cNvPr id="17" name="Text 10"/>
          <p:cNvSpPr txBox="1"/>
          <p:nvPr/>
        </p:nvSpPr>
        <p:spPr>
          <a:xfrm>
            <a:off x="6675120" y="3017520"/>
            <a:ext cx="1920240" cy="731520"/>
          </a:xfrm>
          <a:prstGeom prst="rect">
            <a:avLst/>
          </a:prstGeom>
          <a:noFill/>
          <a:ln/>
        </p:spPr>
        <p:txBody>
          <a:bodyPr wrap="square" lIns="0" tIns="0" rIns="0" bIns="0" rtlCol="0" anchor="ctr"/>
          <a:lstStyle/>
          <a:p>
            <a:pPr marL="0" indent="0">
              <a:buNone/>
            </a:pPr>
            <a:r>
              <a:rPr lang="en-US" sz="1200" dirty="0">
                <a:solidFill>
                  <a:srgbClr val="0F1B4C"/>
                </a:solidFill>
              </a:rPr>
              <a:t>direct online + offline: only 6K bookings</a:t>
            </a:r>
            <a:endParaRPr lang="en-US" sz="1200" dirty="0"/>
          </a:p>
        </p:txBody>
      </p:sp>
      <p:sp>
        <p:nvSpPr>
          <p:cNvPr id="18" name="Insight banner"/>
          <p:cNvSpPr/>
          <p:nvPr/>
        </p:nvSpPr>
        <p:spPr>
          <a:xfrm>
            <a:off x="457200" y="4023360"/>
            <a:ext cx="8229600" cy="685800"/>
          </a:xfrm>
          <a:prstGeom prst="roundRect">
            <a:avLst>
              <a:gd name="adj" fmla="val 20000"/>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19" name="Text 12"/>
          <p:cNvSpPr txBox="1"/>
          <p:nvPr/>
        </p:nvSpPr>
        <p:spPr>
          <a:xfrm>
            <a:off x="685800" y="4069080"/>
            <a:ext cx="7772400" cy="59436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Grow direct bookings, and use weekday offers: weekends hold 59% of occupancy, weekdays only 41%</a:t>
            </a:r>
            <a:endParaRPr lang="en-US" sz="15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Insight 4: Hotel Report Card</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2651760"/>
        </p:xfrm>
        <a:graphic>
          <a:graphicData uri="http://schemas.openxmlformats.org/drawingml/2006/table">
            <a:tbl>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47472">
                <a:tc>
                  <a:txBody>
                    <a:bodyPr/>
                    <a:lstStyle/>
                    <a:p>
                      <a:pPr marL="0" indent="0" algn="ctr">
                        <a:buNone/>
                      </a:pPr>
                      <a:r>
                        <a:rPr lang="en-US" sz="1300" b="1" dirty="0">
                          <a:solidFill>
                            <a:srgbClr val="FFFFFF"/>
                          </a:solidFill>
                          <a:latin typeface="+mj-lt" pitchFamily="34" charset="0"/>
                          <a:ea typeface="+mj-lt" pitchFamily="34" charset="-122"/>
                          <a:cs typeface="+mj-lt" pitchFamily="34" charset="-120"/>
                        </a:rPr>
                        <a:t>Hotel</a:t>
                      </a:r>
                      <a:endParaRPr lang="en-US" sz="1300" dirty="0">
                        <a:latin typeface="+mj-lt" charset="0"/>
                        <a:ea typeface="+mj-lt" charset="0"/>
                        <a:cs typeface="+mj-lt"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tc>
                  <a:txBody>
                    <a:bodyPr/>
                    <a:lstStyle/>
                    <a:p>
                      <a:pPr marL="0" indent="0" algn="ctr">
                        <a:buNone/>
                      </a:pPr>
                      <a:r>
                        <a:rPr lang="en-US" sz="1300" b="1" dirty="0">
                          <a:solidFill>
                            <a:srgbClr val="FFFFFF"/>
                          </a:solidFill>
                          <a:latin typeface="+mj-lt" pitchFamily="34" charset="0"/>
                          <a:ea typeface="+mj-lt" pitchFamily="34" charset="-122"/>
                          <a:cs typeface="+mj-lt" pitchFamily="34" charset="-120"/>
                        </a:rPr>
                        <a:t>Revenue</a:t>
                      </a:r>
                      <a:endParaRPr lang="en-US" sz="1300" dirty="0">
                        <a:latin typeface="+mj-lt" charset="0"/>
                        <a:ea typeface="+mj-lt" charset="0"/>
                        <a:cs typeface="+mj-lt"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tc>
                  <a:txBody>
                    <a:bodyPr/>
                    <a:lstStyle/>
                    <a:p>
                      <a:pPr marL="0" indent="0" algn="ctr">
                        <a:buNone/>
                      </a:pPr>
                      <a:r>
                        <a:rPr lang="en-US" sz="1300" b="1" dirty="0">
                          <a:solidFill>
                            <a:srgbClr val="FFFFFF"/>
                          </a:solidFill>
                          <a:latin typeface="+mj-lt" pitchFamily="34" charset="0"/>
                          <a:ea typeface="+mj-lt" pitchFamily="34" charset="-122"/>
                          <a:cs typeface="+mj-lt" pitchFamily="34" charset="-120"/>
                        </a:rPr>
                        <a:t>Avg rating</a:t>
                      </a:r>
                      <a:endParaRPr lang="en-US" sz="1300" dirty="0">
                        <a:latin typeface="+mj-lt" charset="0"/>
                        <a:ea typeface="+mj-lt" charset="0"/>
                        <a:cs typeface="+mj-lt"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tc>
                  <a:txBody>
                    <a:bodyPr/>
                    <a:lstStyle/>
                    <a:p>
                      <a:pPr marL="0" indent="0" algn="ctr">
                        <a:buNone/>
                      </a:pPr>
                      <a:r>
                        <a:rPr lang="en-US" sz="1300" b="1" dirty="0">
                          <a:solidFill>
                            <a:srgbClr val="FFFFFF"/>
                          </a:solidFill>
                          <a:latin typeface="+mj-lt" pitchFamily="34" charset="0"/>
                          <a:ea typeface="+mj-lt" pitchFamily="34" charset="-122"/>
                          <a:cs typeface="+mj-lt" pitchFamily="34" charset="-120"/>
                        </a:rPr>
                        <a:t>Occupancy</a:t>
                      </a:r>
                      <a:endParaRPr lang="en-US" sz="1300" dirty="0">
                        <a:latin typeface="+mj-lt" charset="0"/>
                        <a:ea typeface="+mj-lt" charset="0"/>
                        <a:cs typeface="+mj-lt"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tc>
                  <a:txBody>
                    <a:bodyPr/>
                    <a:lstStyle/>
                    <a:p>
                      <a:pPr marL="0" indent="0" algn="ctr">
                        <a:buNone/>
                      </a:pPr>
                      <a:r>
                        <a:rPr lang="en-US" sz="1300" b="1" dirty="0">
                          <a:solidFill>
                            <a:srgbClr val="FFFFFF"/>
                          </a:solidFill>
                          <a:latin typeface="+mj-lt" pitchFamily="34" charset="0"/>
                          <a:ea typeface="+mj-lt" pitchFamily="34" charset="-122"/>
                          <a:cs typeface="+mj-lt" pitchFamily="34" charset="-120"/>
                        </a:rPr>
                        <a:t>Bookings</a:t>
                      </a:r>
                      <a:endParaRPr lang="en-US" sz="1300" dirty="0">
                        <a:latin typeface="+mj-lt" charset="0"/>
                        <a:ea typeface="+mj-lt" charset="0"/>
                        <a:cs typeface="+mj-lt"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tc>
                  <a:txBody>
                    <a:bodyPr/>
                    <a:lstStyle/>
                    <a:p>
                      <a:pPr marL="0" indent="0" algn="ctr">
                        <a:buNone/>
                      </a:pPr>
                      <a:r>
                        <a:rPr lang="en-US" sz="1300" b="1" dirty="0">
                          <a:solidFill>
                            <a:srgbClr val="FFFFFF"/>
                          </a:solidFill>
                          <a:latin typeface="+mj-lt" pitchFamily="34" charset="0"/>
                          <a:ea typeface="+mj-lt" pitchFamily="34" charset="-122"/>
                          <a:cs typeface="+mj-lt" pitchFamily="34" charset="-120"/>
                        </a:rPr>
                        <a:t>Verdict</a:t>
                      </a:r>
                      <a:endParaRPr lang="en-US" sz="1300" dirty="0">
                        <a:latin typeface="+mj-lt" charset="0"/>
                        <a:ea typeface="+mj-lt" charset="0"/>
                        <a:cs typeface="+mj-lt"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0F1B4C"/>
                    </a:solidFill>
                  </a:tcPr>
                </a:tc>
                <a:extLst>
                  <a:ext uri="{0D108BD9-81ED-4DB2-BD59-A6C34878D82A}">
                    <a16:rowId xmlns:a16="http://schemas.microsoft.com/office/drawing/2014/main" val="10000"/>
                  </a:ext>
                </a:extLst>
              </a:tr>
              <a:tr h="384048">
                <a:tc>
                  <a:txBody>
                    <a:bodyPr/>
                    <a:lstStyle/>
                    <a:p>
                      <a:pPr marL="0" indent="0">
                        <a:buNone/>
                      </a:pPr>
                      <a:r>
                        <a:rPr lang="en-US" sz="1400" b="1" dirty="0">
                          <a:solidFill>
                            <a:srgbClr val="0F1B4C"/>
                          </a:solidFill>
                          <a:latin typeface="Calibri" pitchFamily="34" charset="0"/>
                          <a:ea typeface="Calibri" pitchFamily="34" charset="-122"/>
                          <a:cs typeface="Calibri" pitchFamily="34" charset="-120"/>
                        </a:rPr>
                        <a:t>Atliq Exotica</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107M</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3.64</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58%</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7,862</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F1B4C"/>
                          </a:solidFill>
                          <a:latin typeface="Calibri" pitchFamily="34" charset="0"/>
                          <a:ea typeface="Calibri" pitchFamily="34" charset="-122"/>
                          <a:cs typeface="Calibri" pitchFamily="34" charset="-120"/>
                        </a:rPr>
                        <a:t>Top earner</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22C3A6"/>
                    </a:solidFill>
                  </a:tcPr>
                </a:tc>
                <a:extLst>
                  <a:ext uri="{0D108BD9-81ED-4DB2-BD59-A6C34878D82A}">
                    <a16:rowId xmlns:a16="http://schemas.microsoft.com/office/drawing/2014/main" val="10001"/>
                  </a:ext>
                </a:extLst>
              </a:tr>
              <a:tr h="384048">
                <a:tc>
                  <a:txBody>
                    <a:bodyPr/>
                    <a:lstStyle/>
                    <a:p>
                      <a:pPr marL="0" indent="0">
                        <a:buNone/>
                      </a:pPr>
                      <a:r>
                        <a:rPr lang="en-US" sz="1400" b="1" dirty="0">
                          <a:solidFill>
                            <a:srgbClr val="0F1B4C"/>
                          </a:solidFill>
                          <a:latin typeface="Calibri" pitchFamily="34" charset="0"/>
                          <a:ea typeface="Calibri" pitchFamily="34" charset="-122"/>
                          <a:cs typeface="Calibri" pitchFamily="34" charset="-120"/>
                        </a:rPr>
                        <a:t>Atliq Palace</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102M</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3.76</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61%</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lgn="ctr">
                        <a:buNone/>
                      </a:pPr>
                      <a:r>
                        <a:rPr lang="en-US" sz="1400" b="1" dirty="0">
                          <a:solidFill>
                            <a:srgbClr val="0F1B4C"/>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22C3A6"/>
                    </a:solidFill>
                  </a:tcPr>
                </a:tc>
                <a:extLst>
                  <a:ext uri="{0D108BD9-81ED-4DB2-BD59-A6C34878D82A}">
                    <a16:rowId xmlns:a16="http://schemas.microsoft.com/office/drawing/2014/main" val="10002"/>
                  </a:ext>
                </a:extLst>
              </a:tr>
              <a:tr h="384048">
                <a:tc>
                  <a:txBody>
                    <a:bodyPr/>
                    <a:lstStyle/>
                    <a:p>
                      <a:pPr marL="0" indent="0">
                        <a:buNone/>
                      </a:pPr>
                      <a:r>
                        <a:rPr lang="en-US" sz="1400" b="1" dirty="0">
                          <a:solidFill>
                            <a:srgbClr val="0F1B4C"/>
                          </a:solidFill>
                          <a:latin typeface="Calibri" pitchFamily="34" charset="0"/>
                          <a:ea typeface="Calibri" pitchFamily="34" charset="-122"/>
                          <a:cs typeface="Calibri" pitchFamily="34" charset="-120"/>
                        </a:rPr>
                        <a:t>Atliq City</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97M</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3.70</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60%</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7,909</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F1B4C"/>
                          </a:solidFill>
                          <a:latin typeface="Calibri" pitchFamily="34" charset="0"/>
                          <a:ea typeface="Calibri" pitchFamily="34" charset="-122"/>
                          <a:cs typeface="Calibri" pitchFamily="34" charset="-120"/>
                        </a:rPr>
                        <a:t>Solid</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22C3A6"/>
                    </a:solidFill>
                  </a:tcPr>
                </a:tc>
                <a:extLst>
                  <a:ext uri="{0D108BD9-81ED-4DB2-BD59-A6C34878D82A}">
                    <a16:rowId xmlns:a16="http://schemas.microsoft.com/office/drawing/2014/main" val="10003"/>
                  </a:ext>
                </a:extLst>
              </a:tr>
              <a:tr h="384048">
                <a:tc>
                  <a:txBody>
                    <a:bodyPr/>
                    <a:lstStyle/>
                    <a:p>
                      <a:pPr marL="0" indent="0">
                        <a:buNone/>
                      </a:pPr>
                      <a:r>
                        <a:rPr lang="en-US" sz="1400" b="1" dirty="0">
                          <a:solidFill>
                            <a:srgbClr val="0F1B4C"/>
                          </a:solidFill>
                          <a:latin typeface="Calibri" pitchFamily="34" charset="0"/>
                          <a:ea typeface="Calibri" pitchFamily="34" charset="-122"/>
                          <a:cs typeface="Calibri" pitchFamily="34" charset="-120"/>
                        </a:rPr>
                        <a:t>Atliq Bay</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87M</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3.71</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59%</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7,121</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EAF2FF"/>
                    </a:solidFill>
                  </a:tcPr>
                </a:tc>
                <a:tc>
                  <a:txBody>
                    <a:bodyPr/>
                    <a:lstStyle/>
                    <a:p>
                      <a:pPr marL="0" indent="0" algn="ctr">
                        <a:buNone/>
                      </a:pPr>
                      <a:r>
                        <a:rPr lang="en-US" sz="1400" b="1" dirty="0">
                          <a:solidFill>
                            <a:srgbClr val="0F1B4C"/>
                          </a:solidFill>
                          <a:latin typeface="Calibri" pitchFamily="34" charset="0"/>
                          <a:ea typeface="Calibri" pitchFamily="34" charset="-122"/>
                          <a:cs typeface="Calibri" pitchFamily="34" charset="-120"/>
                        </a:rPr>
                        <a:t>Mid-pack</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D23F"/>
                    </a:solidFill>
                  </a:tcPr>
                </a:tc>
                <a:extLst>
                  <a:ext uri="{0D108BD9-81ED-4DB2-BD59-A6C34878D82A}">
                    <a16:rowId xmlns:a16="http://schemas.microsoft.com/office/drawing/2014/main" val="10004"/>
                  </a:ext>
                </a:extLst>
              </a:tr>
              <a:tr h="384048">
                <a:tc>
                  <a:txBody>
                    <a:bodyPr/>
                    <a:lstStyle/>
                    <a:p>
                      <a:pPr marL="0" indent="0">
                        <a:buNone/>
                      </a:pPr>
                      <a:r>
                        <a:rPr lang="en-US" sz="1400" b="1" dirty="0">
                          <a:solidFill>
                            <a:srgbClr val="0F1B4C"/>
                          </a:solidFill>
                          <a:latin typeface="Calibri" pitchFamily="34" charset="0"/>
                          <a:ea typeface="Calibri" pitchFamily="34" charset="-122"/>
                          <a:cs typeface="Calibri" pitchFamily="34" charset="-120"/>
                        </a:rPr>
                        <a:t>Atliq Blu</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87M</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3.93</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63%</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F1B4C"/>
                          </a:solidFill>
                          <a:latin typeface="Calibri" pitchFamily="34" charset="0"/>
                          <a:ea typeface="Calibri" pitchFamily="34" charset="-122"/>
                          <a:cs typeface="Calibri" pitchFamily="34" charset="-120"/>
                        </a:rPr>
                        <a:t>7,295</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F1B4C"/>
                          </a:solidFill>
                          <a:latin typeface="Calibri" pitchFamily="34" charset="0"/>
                          <a:ea typeface="Calibri" pitchFamily="34" charset="-122"/>
                          <a:cs typeface="Calibri" pitchFamily="34" charset="-120"/>
                        </a:rPr>
                        <a:t>Quality star</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22C3A6"/>
                    </a:solidFill>
                  </a:tcPr>
                </a:tc>
                <a:extLst>
                  <a:ext uri="{0D108BD9-81ED-4DB2-BD59-A6C34878D82A}">
                    <a16:rowId xmlns:a16="http://schemas.microsoft.com/office/drawing/2014/main" val="10005"/>
                  </a:ext>
                </a:extLst>
              </a:tr>
              <a:tr h="384048">
                <a:tc>
                  <a:txBody>
                    <a:bodyPr/>
                    <a:lstStyle/>
                    <a:p>
                      <a:pPr marL="0" indent="0">
                        <a:buNone/>
                      </a:pPr>
                      <a:r>
                        <a:rPr lang="en-US" sz="1400" b="1" dirty="0">
                          <a:solidFill>
                            <a:srgbClr val="0F1B4C"/>
                          </a:solidFill>
                          <a:latin typeface="Calibri" pitchFamily="34" charset="0"/>
                          <a:ea typeface="Calibri" pitchFamily="34" charset="-122"/>
                          <a:cs typeface="Calibri" pitchFamily="34" charset="-120"/>
                        </a:rPr>
                        <a:t>Atliq Grands</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E0DA"/>
                    </a:solidFill>
                  </a:tcPr>
                </a:tc>
                <a:tc>
                  <a:txBody>
                    <a:bodyPr/>
                    <a:lstStyle/>
                    <a:p>
                      <a:pPr marL="0" indent="0" algn="ctr">
                        <a:buNone/>
                      </a:pPr>
                      <a:r>
                        <a:rPr lang="en-US" sz="1400" b="1" dirty="0">
                          <a:solidFill>
                            <a:srgbClr val="0F1B4C"/>
                          </a:solidFill>
                          <a:latin typeface="Calibri" pitchFamily="34" charset="0"/>
                          <a:ea typeface="Calibri" pitchFamily="34" charset="-122"/>
                          <a:cs typeface="Calibri" pitchFamily="34" charset="-120"/>
                        </a:rPr>
                        <a:t>71M</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E0DA"/>
                    </a:solidFill>
                  </a:tcPr>
                </a:tc>
                <a:tc>
                  <a:txBody>
                    <a:bodyPr/>
                    <a:lstStyle/>
                    <a:p>
                      <a:pPr marL="0" indent="0" algn="ctr">
                        <a:buNone/>
                      </a:pPr>
                      <a:r>
                        <a:rPr lang="en-US" sz="1400" b="1" dirty="0">
                          <a:solidFill>
                            <a:srgbClr val="0F1B4C"/>
                          </a:solidFill>
                          <a:latin typeface="Calibri" pitchFamily="34" charset="0"/>
                          <a:ea typeface="Calibri" pitchFamily="34" charset="-122"/>
                          <a:cs typeface="Calibri" pitchFamily="34" charset="-120"/>
                        </a:rPr>
                        <a:t>3.09</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E0DA"/>
                    </a:solidFill>
                  </a:tcPr>
                </a:tc>
                <a:tc>
                  <a:txBody>
                    <a:bodyPr/>
                    <a:lstStyle/>
                    <a:p>
                      <a:pPr marL="0" indent="0" algn="ctr">
                        <a:buNone/>
                      </a:pPr>
                      <a:r>
                        <a:rPr lang="en-US" sz="1400" b="1" dirty="0">
                          <a:solidFill>
                            <a:srgbClr val="0F1B4C"/>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E0DA"/>
                    </a:solidFill>
                  </a:tcPr>
                </a:tc>
                <a:tc>
                  <a:txBody>
                    <a:bodyPr/>
                    <a:lstStyle/>
                    <a:p>
                      <a:pPr marL="0" indent="0" algn="ctr">
                        <a:buNone/>
                      </a:pPr>
                      <a:r>
                        <a:rPr lang="en-US" sz="1400" b="1" dirty="0">
                          <a:solidFill>
                            <a:srgbClr val="0F1B4C"/>
                          </a:solidFill>
                          <a:latin typeface="Calibri" pitchFamily="34" charset="0"/>
                          <a:ea typeface="Calibri" pitchFamily="34" charset="-122"/>
                          <a:cs typeface="Calibri" pitchFamily="34" charset="-120"/>
                        </a:rPr>
                        <a:t>5,689</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E0DA"/>
                    </a:solidFill>
                  </a:tcPr>
                </a:tc>
                <a:tc>
                  <a:txBody>
                    <a:bodyPr/>
                    <a:lstStyle/>
                    <a:p>
                      <a:pPr marL="0" indent="0" algn="ctr">
                        <a:buNone/>
                      </a:pPr>
                      <a:r>
                        <a:rPr lang="en-US" sz="1400" b="1" dirty="0">
                          <a:solidFill>
                            <a:srgbClr val="0F1B4C"/>
                          </a:solidFill>
                          <a:latin typeface="Calibri" pitchFamily="34" charset="0"/>
                          <a:ea typeface="Calibri" pitchFamily="34" charset="-122"/>
                          <a:cs typeface="Calibri" pitchFamily="34" charset="-120"/>
                        </a:rPr>
                        <a:t>Needs rescue</a:t>
                      </a:r>
                      <a:endParaRPr lang="en-US" sz="1400" dirty="0">
                        <a:latin typeface="Calibri" charset="0"/>
                        <a:ea typeface="Calibri" charset="0"/>
                        <a:cs typeface="Calibri" charset="0"/>
                      </a:endParaRPr>
                    </a:p>
                  </a:txBody>
                  <a:tcPr anchor="ctr">
                    <a:lnL w="25400" cap="flat" cmpd="sng" algn="ctr">
                      <a:solidFill>
                        <a:srgbClr val="0F1B4C"/>
                      </a:solidFill>
                      <a:prstDash val="solid"/>
                      <a:round/>
                      <a:headEnd type="none" w="med" len="med"/>
                      <a:tailEnd type="none" w="med" len="med"/>
                    </a:lnL>
                    <a:lnR w="25400" cap="flat" cmpd="sng" algn="ctr">
                      <a:solidFill>
                        <a:srgbClr val="0F1B4C"/>
                      </a:solidFill>
                      <a:prstDash val="solid"/>
                      <a:round/>
                      <a:headEnd type="none" w="med" len="med"/>
                      <a:tailEnd type="none" w="med" len="med"/>
                    </a:lnR>
                    <a:lnT w="25400" cap="flat" cmpd="sng" algn="ctr">
                      <a:solidFill>
                        <a:srgbClr val="0F1B4C"/>
                      </a:solidFill>
                      <a:prstDash val="solid"/>
                      <a:round/>
                      <a:headEnd type="none" w="med" len="med"/>
                      <a:tailEnd type="none" w="med" len="med"/>
                    </a:lnT>
                    <a:lnB w="25400" cap="flat" cmpd="sng" algn="ctr">
                      <a:solidFill>
                        <a:srgbClr val="0F1B4C"/>
                      </a:solidFill>
                      <a:prstDash val="solid"/>
                      <a:round/>
                      <a:headEnd type="none" w="med" len="med"/>
                      <a:tailEnd type="none" w="med" len="med"/>
                    </a:lnB>
                    <a:solidFill>
                      <a:srgbClr val="FF6B6B"/>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457200" y="3931920"/>
            <a:ext cx="8229600" cy="228600"/>
          </a:xfrm>
          <a:prstGeom prst="rect">
            <a:avLst/>
          </a:prstGeom>
          <a:noFill/>
          <a:ln/>
        </p:spPr>
        <p:txBody>
          <a:bodyPr wrap="square" lIns="0" tIns="0" rIns="0" bIns="0" rtlCol="0" anchor="ctr"/>
          <a:lstStyle/>
          <a:p>
            <a:pPr marL="0" indent="0">
              <a:buNone/>
            </a:pPr>
            <a:r>
              <a:rPr lang="en-US" sz="1100" dirty="0">
                <a:solidFill>
                  <a:srgbClr val="4F46E5"/>
                </a:solidFill>
              </a:rPr>
              <a:t>May data, six of seven properties (Seasons not visible in the screenshots)</a:t>
            </a:r>
            <a:endParaRPr lang="en-US" sz="1100" dirty="0"/>
          </a:p>
        </p:txBody>
      </p:sp>
      <p:sp>
        <p:nvSpPr>
          <p:cNvPr id="6" name="Insight banner"/>
          <p:cNvSpPr/>
          <p:nvPr/>
        </p:nvSpPr>
        <p:spPr>
          <a:xfrm>
            <a:off x="457200" y="4251960"/>
            <a:ext cx="8229600" cy="640080"/>
          </a:xfrm>
          <a:prstGeom prst="roundRect">
            <a:avLst>
              <a:gd name="adj" fmla="val 21429"/>
            </a:avLst>
          </a:prstGeom>
          <a:solidFill>
            <a:srgbClr val="FFD23F"/>
          </a:solidFill>
          <a:ln w="31750">
            <a:solidFill>
              <a:srgbClr val="0F1B4C"/>
            </a:solidFill>
            <a:prstDash val="solid"/>
          </a:ln>
          <a:effectLst>
            <a:outerShdw blurRad="12700" dist="50800" dir="2700000" algn="bl" rotWithShape="0">
              <a:srgbClr val="0F1B4C">
                <a:alpha val="100000"/>
              </a:srgbClr>
            </a:outerShdw>
          </a:effectLst>
        </p:spPr>
      </p:sp>
      <p:sp>
        <p:nvSpPr>
          <p:cNvPr id="7" name="Text 3"/>
          <p:cNvSpPr txBox="1"/>
          <p:nvPr/>
        </p:nvSpPr>
        <p:spPr>
          <a:xfrm>
            <a:off x="685800" y="4297680"/>
            <a:ext cx="7772400" cy="548640"/>
          </a:xfrm>
          <a:prstGeom prst="rect">
            <a:avLst/>
          </a:prstGeom>
          <a:noFill/>
          <a:ln/>
        </p:spPr>
        <p:txBody>
          <a:bodyPr wrap="square" lIns="0" tIns="0" rIns="0" bIns="0" rtlCol="0" anchor="ctr"/>
          <a:lstStyle/>
          <a:p>
            <a:pPr marL="0" indent="0">
              <a:buNone/>
            </a:pPr>
            <a:r>
              <a:rPr lang="en-US" sz="1500" b="1" dirty="0">
                <a:solidFill>
                  <a:srgbClr val="0F1B4C"/>
                </a:solidFill>
                <a:latin typeface="+mj-lt" pitchFamily="34" charset="0"/>
                <a:ea typeface="+mj-lt" pitchFamily="34" charset="-122"/>
                <a:cs typeface="+mj-lt" pitchFamily="34" charset="-120"/>
              </a:rPr>
              <a:t>Atliq Grands: rating 3.09 (0.5 below the next hotel), 53% occupancy, fewest bookings. Copy Atliq Blu (3.93, 63%)</a:t>
            </a:r>
            <a:endParaRPr lang="en-US" sz="15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All Insights at a Glance</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657600"/>
        </p:xfrm>
        <a:graphic>
          <a:graphicData uri="http://schemas.openxmlformats.org/drawingml/2006/table">
            <a:tbl>
              <a:tblPr/>
              <a:tblGrid>
                <a:gridCol w="3657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292608">
                <a:tc>
                  <a:txBody>
                    <a:bodyPr/>
                    <a:lstStyle/>
                    <a:p>
                      <a:pPr marL="0" indent="0">
                        <a:buNone/>
                      </a:pPr>
                      <a:r>
                        <a:rPr lang="en-US" sz="1200" b="1" dirty="0">
                          <a:solidFill>
                            <a:srgbClr val="FFFFFF"/>
                          </a:solidFill>
                          <a:latin typeface="+mj-lt" pitchFamily="34" charset="0"/>
                          <a:ea typeface="+mj-lt" pitchFamily="34" charset="-122"/>
                          <a:cs typeface="+mj-lt" pitchFamily="34" charset="-120"/>
                        </a:rPr>
                        <a:t>#</a:t>
                      </a:r>
                      <a:endParaRPr lang="en-US" sz="1200" dirty="0">
                        <a:latin typeface="+mj-lt" charset="0"/>
                        <a:ea typeface="+mj-lt" charset="0"/>
                        <a:cs typeface="+mj-lt"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0F1B4C"/>
                    </a:solidFill>
                  </a:tcPr>
                </a:tc>
                <a:tc>
                  <a:txBody>
                    <a:bodyPr/>
                    <a:lstStyle/>
                    <a:p>
                      <a:pPr marL="0" indent="0">
                        <a:buNone/>
                      </a:pPr>
                      <a:r>
                        <a:rPr lang="en-US" sz="1200" b="1" dirty="0">
                          <a:solidFill>
                            <a:srgbClr val="FFFFFF"/>
                          </a:solidFill>
                          <a:latin typeface="+mj-lt" pitchFamily="34" charset="0"/>
                          <a:ea typeface="+mj-lt" pitchFamily="34" charset="-122"/>
                          <a:cs typeface="+mj-lt" pitchFamily="34" charset="-120"/>
                        </a:rPr>
                        <a:t>Insight</a:t>
                      </a:r>
                      <a:endParaRPr lang="en-US" sz="1200" dirty="0">
                        <a:latin typeface="+mj-lt" charset="0"/>
                        <a:ea typeface="+mj-lt" charset="0"/>
                        <a:cs typeface="+mj-lt"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0F1B4C"/>
                    </a:solidFill>
                  </a:tcPr>
                </a:tc>
                <a:tc>
                  <a:txBody>
                    <a:bodyPr/>
                    <a:lstStyle/>
                    <a:p>
                      <a:pPr marL="0" indent="0">
                        <a:buNone/>
                      </a:pPr>
                      <a:r>
                        <a:rPr lang="en-US" sz="1200" b="1" dirty="0">
                          <a:solidFill>
                            <a:srgbClr val="FFFFFF"/>
                          </a:solidFill>
                          <a:latin typeface="+mj-lt" pitchFamily="34" charset="0"/>
                          <a:ea typeface="+mj-lt" pitchFamily="34" charset="-122"/>
                          <a:cs typeface="+mj-lt" pitchFamily="34" charset="-120"/>
                        </a:rPr>
                        <a:t>Evidence</a:t>
                      </a:r>
                      <a:endParaRPr lang="en-US" sz="1200" dirty="0">
                        <a:latin typeface="+mj-lt" charset="0"/>
                        <a:ea typeface="+mj-lt" charset="0"/>
                        <a:cs typeface="+mj-lt"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0F1B4C"/>
                    </a:solidFill>
                  </a:tcPr>
                </a:tc>
                <a:tc>
                  <a:txBody>
                    <a:bodyPr/>
                    <a:lstStyle/>
                    <a:p>
                      <a:pPr marL="0" indent="0">
                        <a:buNone/>
                      </a:pPr>
                      <a:r>
                        <a:rPr lang="en-US" sz="1200" b="1" dirty="0">
                          <a:solidFill>
                            <a:srgbClr val="FFFFFF"/>
                          </a:solidFill>
                          <a:latin typeface="+mj-lt" pitchFamily="34" charset="0"/>
                          <a:ea typeface="+mj-lt" pitchFamily="34" charset="-122"/>
                          <a:cs typeface="+mj-lt" pitchFamily="34" charset="-120"/>
                        </a:rPr>
                        <a:t>Action</a:t>
                      </a:r>
                      <a:endParaRPr lang="en-US" sz="1200" dirty="0">
                        <a:latin typeface="+mj-lt" charset="0"/>
                        <a:ea typeface="+mj-lt" charset="0"/>
                        <a:cs typeface="+mj-lt"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0F1B4C"/>
                    </a:solidFill>
                  </a:tcPr>
                </a:tc>
                <a:extLst>
                  <a:ext uri="{0D108BD9-81ED-4DB2-BD59-A6C34878D82A}">
                    <a16:rowId xmlns:a16="http://schemas.microsoft.com/office/drawing/2014/main" val="10000"/>
                  </a:ext>
                </a:extLst>
              </a:tr>
              <a:tr h="329184">
                <a:tc>
                  <a:txBody>
                    <a:bodyPr/>
                    <a:lstStyle/>
                    <a:p>
                      <a:pPr marL="0" indent="0" algn="ctr">
                        <a:buNone/>
                      </a:pPr>
                      <a:r>
                        <a:rPr lang="en-US" sz="1200" b="1" dirty="0">
                          <a:solidFill>
                            <a:srgbClr val="0F1B4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b="1" dirty="0">
                          <a:solidFill>
                            <a:srgbClr val="0F1B4C"/>
                          </a:solidFill>
                          <a:latin typeface="Calibri" pitchFamily="34" charset="0"/>
                          <a:ea typeface="Calibri" pitchFamily="34" charset="-122"/>
                          <a:cs typeface="Calibri" pitchFamily="34" charset="-120"/>
                        </a:rPr>
                        <a:t>Revenue falls faster than occupancy</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Rev -12.9%, occupancy -2 pts</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Check rates and room mix</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lang="en-US" sz="1200" b="1" dirty="0">
                          <a:solidFill>
                            <a:srgbClr val="0F1B4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b="1" dirty="0">
                          <a:solidFill>
                            <a:srgbClr val="0F1B4C"/>
                          </a:solidFill>
                          <a:latin typeface="Calibri" pitchFamily="34" charset="0"/>
                          <a:ea typeface="Calibri" pitchFamily="34" charset="-122"/>
                          <a:cs typeface="Calibri" pitchFamily="34" charset="-120"/>
                        </a:rPr>
                        <a:t>1 in 4 bookings cancelled</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24.8%, loss about Rs 99.7M</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Deposits, reminders</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extLst>
                  <a:ext uri="{0D108BD9-81ED-4DB2-BD59-A6C34878D82A}">
                    <a16:rowId xmlns:a16="http://schemas.microsoft.com/office/drawing/2014/main" val="10002"/>
                  </a:ext>
                </a:extLst>
              </a:tr>
              <a:tr h="329184">
                <a:tc>
                  <a:txBody>
                    <a:bodyPr/>
                    <a:lstStyle/>
                    <a:p>
                      <a:pPr marL="0" indent="0" algn="ctr">
                        <a:buNone/>
                      </a:pPr>
                      <a:r>
                        <a:rPr lang="en-US" sz="1200" b="1" dirty="0">
                          <a:solidFill>
                            <a:srgbClr val="0F1B4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b="1" dirty="0">
                          <a:solidFill>
                            <a:srgbClr val="0F1B4C"/>
                          </a:solidFill>
                          <a:latin typeface="Calibri" pitchFamily="34" charset="0"/>
                          <a:ea typeface="Calibri" pitchFamily="34" charset="-122"/>
                          <a:cs typeface="Calibri" pitchFamily="34" charset="-120"/>
                        </a:rPr>
                        <a:t>Mumbai carries the chain</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39% of revenue</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Protect it, grow other cities</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lang="en-US" sz="1200" b="1" dirty="0">
                          <a:solidFill>
                            <a:srgbClr val="0F1B4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b="1" dirty="0">
                          <a:solidFill>
                            <a:srgbClr val="0F1B4C"/>
                          </a:solidFill>
                          <a:latin typeface="Calibri" pitchFamily="34" charset="0"/>
                          <a:ea typeface="Calibri" pitchFamily="34" charset="-122"/>
                          <a:cs typeface="Calibri" pitchFamily="34" charset="-120"/>
                        </a:rPr>
                        <a:t>Delhi may be underpriced</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Best occupancy 61%, rating 3.8, lowest revenue</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Test higher rates</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extLst>
                  <a:ext uri="{0D108BD9-81ED-4DB2-BD59-A6C34878D82A}">
                    <a16:rowId xmlns:a16="http://schemas.microsoft.com/office/drawing/2014/main" val="10004"/>
                  </a:ext>
                </a:extLst>
              </a:tr>
              <a:tr h="329184">
                <a:tc>
                  <a:txBody>
                    <a:bodyPr/>
                    <a:lstStyle/>
                    <a:p>
                      <a:pPr marL="0" indent="0" algn="ctr">
                        <a:buNone/>
                      </a:pPr>
                      <a:r>
                        <a:rPr lang="en-US" sz="1200" b="1" dirty="0">
                          <a:solidFill>
                            <a:srgbClr val="0F1B4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b="1" dirty="0">
                          <a:solidFill>
                            <a:srgbClr val="0F1B4C"/>
                          </a:solidFill>
                          <a:latin typeface="Calibri" pitchFamily="34" charset="0"/>
                          <a:ea typeface="Calibri" pitchFamily="34" charset="-122"/>
                          <a:cs typeface="Calibri" pitchFamily="34" charset="-120"/>
                        </a:rPr>
                        <a:t>Bangalore service gap</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Rating 3.4, occupancy 57%</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Guest-experience audit</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lang="en-US" sz="1200" b="1" dirty="0">
                          <a:solidFill>
                            <a:srgbClr val="0F1B4C"/>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b="1" dirty="0">
                          <a:solidFill>
                            <a:srgbClr val="0F1B4C"/>
                          </a:solidFill>
                          <a:latin typeface="Calibri" pitchFamily="34" charset="0"/>
                          <a:ea typeface="Calibri" pitchFamily="34" charset="-122"/>
                          <a:cs typeface="Calibri" pitchFamily="34" charset="-120"/>
                        </a:rPr>
                        <a:t>Channel dependence</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Top two 62%, direct only 13%</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Push direct booking</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extLst>
                  <a:ext uri="{0D108BD9-81ED-4DB2-BD59-A6C34878D82A}">
                    <a16:rowId xmlns:a16="http://schemas.microsoft.com/office/drawing/2014/main" val="10006"/>
                  </a:ext>
                </a:extLst>
              </a:tr>
              <a:tr h="329184">
                <a:tc>
                  <a:txBody>
                    <a:bodyPr/>
                    <a:lstStyle/>
                    <a:p>
                      <a:pPr marL="0" indent="0" algn="ctr">
                        <a:buNone/>
                      </a:pPr>
                      <a:r>
                        <a:rPr lang="en-US" sz="1200" b="1" dirty="0">
                          <a:solidFill>
                            <a:srgbClr val="0F1B4C"/>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b="1" dirty="0">
                          <a:solidFill>
                            <a:srgbClr val="0F1B4C"/>
                          </a:solidFill>
                          <a:latin typeface="Calibri" pitchFamily="34" charset="0"/>
                          <a:ea typeface="Calibri" pitchFamily="34" charset="-122"/>
                          <a:cs typeface="Calibri" pitchFamily="34" charset="-120"/>
                        </a:rPr>
                        <a:t>Weekend skew</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59% weekend vs 41% weekday</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Weekday offers</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lgn="ctr">
                        <a:buNone/>
                      </a:pPr>
                      <a:r>
                        <a:rPr lang="en-US" sz="1200" b="1" dirty="0">
                          <a:solidFill>
                            <a:srgbClr val="0F1B4C"/>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b="1" dirty="0">
                          <a:solidFill>
                            <a:srgbClr val="0F1B4C"/>
                          </a:solidFill>
                          <a:latin typeface="Calibri" pitchFamily="34" charset="0"/>
                          <a:ea typeface="Calibri" pitchFamily="34" charset="-122"/>
                          <a:cs typeface="Calibri" pitchFamily="34" charset="-120"/>
                        </a:rPr>
                        <a:t>Atliq Grands lags</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Rating 3.09, occupancy 53%</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Rescue plan, copy Blu</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extLst>
                  <a:ext uri="{0D108BD9-81ED-4DB2-BD59-A6C34878D82A}">
                    <a16:rowId xmlns:a16="http://schemas.microsoft.com/office/drawing/2014/main" val="10008"/>
                  </a:ext>
                </a:extLst>
              </a:tr>
              <a:tr h="329184">
                <a:tc>
                  <a:txBody>
                    <a:bodyPr/>
                    <a:lstStyle/>
                    <a:p>
                      <a:pPr marL="0" indent="0" algn="ctr">
                        <a:buNone/>
                      </a:pPr>
                      <a:r>
                        <a:rPr lang="en-US" sz="1200" b="1" dirty="0">
                          <a:solidFill>
                            <a:srgbClr val="0F1B4C"/>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b="1" dirty="0">
                          <a:solidFill>
                            <a:srgbClr val="0F1B4C"/>
                          </a:solidFill>
                          <a:latin typeface="Calibri" pitchFamily="34" charset="0"/>
                          <a:ea typeface="Calibri" pitchFamily="34" charset="-122"/>
                          <a:cs typeface="Calibri" pitchFamily="34" charset="-120"/>
                        </a:rPr>
                        <a:t>Empty rooms in every class</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56-59% utilisation</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Dynamic pricing, upgrades</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184">
                <a:tc>
                  <a:txBody>
                    <a:bodyPr/>
                    <a:lstStyle/>
                    <a:p>
                      <a:pPr marL="0" indent="0" algn="ctr">
                        <a:buNone/>
                      </a:pPr>
                      <a:r>
                        <a:rPr lang="en-US" sz="1200" b="1" dirty="0">
                          <a:solidFill>
                            <a:srgbClr val="0F1B4C"/>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b="1" dirty="0">
                          <a:solidFill>
                            <a:srgbClr val="0F1B4C"/>
                          </a:solidFill>
                          <a:latin typeface="Calibri" pitchFamily="34" charset="0"/>
                          <a:ea typeface="Calibri" pitchFamily="34" charset="-122"/>
                          <a:cs typeface="Calibri" pitchFamily="34" charset="-120"/>
                        </a:rPr>
                        <a:t>July hit Bay and Blu</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-16% and -14% revenue, flat occupancy</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tc>
                  <a:txBody>
                    <a:bodyPr/>
                    <a:lstStyle/>
                    <a:p>
                      <a:pPr marL="0" indent="0">
                        <a:buNone/>
                      </a:pPr>
                      <a:r>
                        <a:rPr lang="en-US" sz="1200" dirty="0">
                          <a:solidFill>
                            <a:srgbClr val="0F1B4C"/>
                          </a:solidFill>
                          <a:latin typeface="Calibri" pitchFamily="34" charset="0"/>
                          <a:ea typeface="Calibri" pitchFamily="34" charset="-122"/>
                          <a:cs typeface="Calibri" pitchFamily="34" charset="-120"/>
                        </a:rPr>
                        <a:t>Review July pricing</a:t>
                      </a:r>
                      <a:endParaRPr lang="en-US" sz="1200" dirty="0">
                        <a:latin typeface="Calibri" charset="0"/>
                        <a:ea typeface="Calibri" charset="0"/>
                        <a:cs typeface="Calibri" charset="0"/>
                      </a:endParaRPr>
                    </a:p>
                  </a:txBody>
                  <a:tcPr marL="64008" marR="64008" marT="18288" marB="18288" anchor="ctr">
                    <a:lnL w="19050" cap="flat" cmpd="sng" algn="ctr">
                      <a:solidFill>
                        <a:srgbClr val="0F1B4C"/>
                      </a:solidFill>
                      <a:prstDash val="solid"/>
                      <a:round/>
                      <a:headEnd type="none" w="med" len="med"/>
                      <a:tailEnd type="none" w="med" len="med"/>
                    </a:lnL>
                    <a:lnR w="19050" cap="flat" cmpd="sng" algn="ctr">
                      <a:solidFill>
                        <a:srgbClr val="0F1B4C"/>
                      </a:solidFill>
                      <a:prstDash val="solid"/>
                      <a:round/>
                      <a:headEnd type="none" w="med" len="med"/>
                      <a:tailEnd type="none" w="med" len="med"/>
                    </a:lnR>
                    <a:lnT w="19050" cap="flat" cmpd="sng" algn="ctr">
                      <a:solidFill>
                        <a:srgbClr val="0F1B4C"/>
                      </a:solidFill>
                      <a:prstDash val="solid"/>
                      <a:round/>
                      <a:headEnd type="none" w="med" len="med"/>
                      <a:tailEnd type="none" w="med" len="med"/>
                    </a:lnT>
                    <a:lnB w="19050" cap="flat" cmpd="sng" algn="ctr">
                      <a:solidFill>
                        <a:srgbClr val="0F1B4C"/>
                      </a:solidFill>
                      <a:prstDash val="solid"/>
                      <a:round/>
                      <a:headEnd type="none" w="med" len="med"/>
                      <a:tailEnd type="none" w="med" len="med"/>
                    </a:lnB>
                    <a:solidFill>
                      <a:srgbClr val="EAF2FF"/>
                    </a:solidFill>
                  </a:tcPr>
                </a:tc>
                <a:extLst>
                  <a:ext uri="{0D108BD9-81ED-4DB2-BD59-A6C34878D82A}">
                    <a16:rowId xmlns:a16="http://schemas.microsoft.com/office/drawing/2014/main" val="10010"/>
                  </a:ext>
                </a:extLst>
              </a:tr>
            </a:tbl>
          </a:graphicData>
        </a:graphic>
      </p:graphicFrame>
      <p:sp>
        <p:nvSpPr>
          <p:cNvPr id="5" name="Text 1"/>
          <p:cNvSpPr txBox="1"/>
          <p:nvPr/>
        </p:nvSpPr>
        <p:spPr>
          <a:xfrm>
            <a:off x="457200" y="4754880"/>
            <a:ext cx="8229600" cy="274320"/>
          </a:xfrm>
          <a:prstGeom prst="rect">
            <a:avLst/>
          </a:prstGeom>
          <a:noFill/>
          <a:ln/>
        </p:spPr>
        <p:txBody>
          <a:bodyPr wrap="square" lIns="0" tIns="0" rIns="0" bIns="0" rtlCol="0" anchor="ctr"/>
          <a:lstStyle/>
          <a:p>
            <a:pPr marL="0" indent="0">
              <a:buNone/>
            </a:pPr>
            <a:r>
              <a:rPr lang="en-US" sz="1200" dirty="0">
                <a:solidFill>
                  <a:srgbClr val="4F46E5"/>
                </a:solidFill>
              </a:rPr>
              <a:t>Also worth a drill-down: the weekly trend shows a dip around week 21 in May.</a:t>
            </a:r>
            <a:endParaRPr lang="en-US" sz="12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What This Data Cannot Tell</a:t>
            </a:r>
            <a:endParaRPr lang="en-US" sz="2800" dirty="0"/>
          </a:p>
        </p:txBody>
      </p:sp>
      <p:sp>
        <p:nvSpPr>
          <p:cNvPr id="4" name="Gap card 1"/>
          <p:cNvSpPr/>
          <p:nvPr/>
        </p:nvSpPr>
        <p:spPr>
          <a:xfrm>
            <a:off x="457200" y="1143000"/>
            <a:ext cx="4023360" cy="1645920"/>
          </a:xfrm>
          <a:prstGeom prst="roundRect">
            <a:avLst>
              <a:gd name="adj" fmla="val 8333"/>
            </a:avLst>
          </a:prstGeom>
          <a:solidFill>
            <a:srgbClr val="FFE0DA"/>
          </a:solidFill>
          <a:ln w="31750">
            <a:solidFill>
              <a:srgbClr val="0F1B4C"/>
            </a:solidFill>
            <a:prstDash val="solid"/>
          </a:ln>
          <a:effectLst>
            <a:outerShdw blurRad="12700" dist="50800" dir="2700000" algn="bl" rotWithShape="0">
              <a:srgbClr val="0F1B4C">
                <a:alpha val="100000"/>
              </a:srgbClr>
            </a:outerShdw>
          </a:effectLst>
        </p:spPr>
      </p:sp>
      <p:pic>
        <p:nvPicPr>
          <p:cNvPr id="5" name="Market share icon" descr="Market share icon"/>
          <p:cNvPicPr>
            <a:picLocks noChangeAspect="1"/>
          </p:cNvPicPr>
          <p:nvPr/>
        </p:nvPicPr>
        <p:blipFill>
          <a:blip r:embed="rId3"/>
          <a:stretch>
            <a:fillRect/>
          </a:stretch>
        </p:blipFill>
        <p:spPr>
          <a:xfrm>
            <a:off x="594360" y="1280160"/>
            <a:ext cx="502920" cy="502920"/>
          </a:xfrm>
          <a:prstGeom prst="rect">
            <a:avLst/>
          </a:prstGeom>
        </p:spPr>
      </p:pic>
      <p:sp>
        <p:nvSpPr>
          <p:cNvPr id="6" name="Text 2"/>
          <p:cNvSpPr txBox="1"/>
          <p:nvPr/>
        </p:nvSpPr>
        <p:spPr>
          <a:xfrm>
            <a:off x="1234440" y="1280160"/>
            <a:ext cx="3108960" cy="50292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Market share</a:t>
            </a:r>
            <a:endParaRPr lang="en-US" sz="1600" dirty="0"/>
          </a:p>
        </p:txBody>
      </p:sp>
      <p:sp>
        <p:nvSpPr>
          <p:cNvPr id="7" name="Text 3"/>
          <p:cNvSpPr txBox="1"/>
          <p:nvPr/>
        </p:nvSpPr>
        <p:spPr>
          <a:xfrm>
            <a:off x="640080" y="1856232"/>
            <a:ext cx="3657600" cy="566928"/>
          </a:xfrm>
          <a:prstGeom prst="rect">
            <a:avLst/>
          </a:prstGeom>
          <a:noFill/>
          <a:ln/>
        </p:spPr>
        <p:txBody>
          <a:bodyPr wrap="square" lIns="0" tIns="0" rIns="0" bIns="0" rtlCol="0" anchor="t"/>
          <a:lstStyle/>
          <a:p>
            <a:pPr marL="0" indent="0">
              <a:buNone/>
            </a:pPr>
            <a:r>
              <a:rPr lang="en-US" sz="1200" dirty="0">
                <a:solidFill>
                  <a:srgbClr val="0F1B4C"/>
                </a:solidFill>
              </a:rPr>
              <a:t>The problem says share is falling, but there is no competitor or market data here. We only see internal performance.</a:t>
            </a:r>
            <a:endParaRPr lang="en-US" sz="1200" dirty="0"/>
          </a:p>
        </p:txBody>
      </p:sp>
      <p:sp>
        <p:nvSpPr>
          <p:cNvPr id="8" name="Text 4"/>
          <p:cNvSpPr txBox="1"/>
          <p:nvPr/>
        </p:nvSpPr>
        <p:spPr>
          <a:xfrm>
            <a:off x="640080" y="2441448"/>
            <a:ext cx="3657600" cy="274320"/>
          </a:xfrm>
          <a:prstGeom prst="rect">
            <a:avLst/>
          </a:prstGeom>
          <a:noFill/>
          <a:ln/>
        </p:spPr>
        <p:txBody>
          <a:bodyPr wrap="square" lIns="0" tIns="0" rIns="0" bIns="0" rtlCol="0" anchor="ctr"/>
          <a:lstStyle/>
          <a:p>
            <a:pPr marL="0" indent="0">
              <a:buNone/>
            </a:pPr>
            <a:r>
              <a:rPr lang="en-US" sz="1200" b="1" dirty="0">
                <a:solidFill>
                  <a:srgbClr val="4F46E5"/>
                </a:solidFill>
              </a:rPr>
              <a:t>Need: competitor / market benchmarks</a:t>
            </a:r>
            <a:endParaRPr lang="en-US" sz="1200" dirty="0"/>
          </a:p>
        </p:txBody>
      </p:sp>
      <p:sp>
        <p:nvSpPr>
          <p:cNvPr id="9" name="Gap card 2"/>
          <p:cNvSpPr/>
          <p:nvPr/>
        </p:nvSpPr>
        <p:spPr>
          <a:xfrm>
            <a:off x="4663440" y="1143000"/>
            <a:ext cx="4023360" cy="1645920"/>
          </a:xfrm>
          <a:prstGeom prst="roundRect">
            <a:avLst>
              <a:gd name="adj" fmla="val 8333"/>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pic>
        <p:nvPicPr>
          <p:cNvPr id="10" name="Why revenue dropped icon" descr="Why revenue dropped icon"/>
          <p:cNvPicPr>
            <a:picLocks noChangeAspect="1"/>
          </p:cNvPicPr>
          <p:nvPr/>
        </p:nvPicPr>
        <p:blipFill>
          <a:blip r:embed="rId4"/>
          <a:stretch>
            <a:fillRect/>
          </a:stretch>
        </p:blipFill>
        <p:spPr>
          <a:xfrm>
            <a:off x="4800600" y="1280160"/>
            <a:ext cx="502920" cy="502920"/>
          </a:xfrm>
          <a:prstGeom prst="rect">
            <a:avLst/>
          </a:prstGeom>
        </p:spPr>
      </p:pic>
      <p:sp>
        <p:nvSpPr>
          <p:cNvPr id="11" name="Text 6"/>
          <p:cNvSpPr txBox="1"/>
          <p:nvPr/>
        </p:nvSpPr>
        <p:spPr>
          <a:xfrm>
            <a:off x="5440680" y="1280160"/>
            <a:ext cx="3108960" cy="50292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Why revenue dropped</a:t>
            </a:r>
            <a:endParaRPr lang="en-US" sz="1600" dirty="0"/>
          </a:p>
        </p:txBody>
      </p:sp>
      <p:sp>
        <p:nvSpPr>
          <p:cNvPr id="12" name="Text 7"/>
          <p:cNvSpPr txBox="1"/>
          <p:nvPr/>
        </p:nvSpPr>
        <p:spPr>
          <a:xfrm>
            <a:off x="4846320" y="1856232"/>
            <a:ext cx="3657600" cy="566928"/>
          </a:xfrm>
          <a:prstGeom prst="rect">
            <a:avLst/>
          </a:prstGeom>
          <a:noFill/>
          <a:ln/>
        </p:spPr>
        <p:txBody>
          <a:bodyPr wrap="square" lIns="0" tIns="0" rIns="0" bIns="0" rtlCol="0" anchor="t"/>
          <a:lstStyle/>
          <a:p>
            <a:pPr marL="0" indent="0">
              <a:buNone/>
            </a:pPr>
            <a:r>
              <a:rPr lang="en-US" sz="1200" dirty="0">
                <a:solidFill>
                  <a:srgbClr val="0F1B4C"/>
                </a:solidFill>
              </a:rPr>
              <a:t>Price and room mix are the likely cause, but this is a hypothesis.</a:t>
            </a:r>
            <a:endParaRPr lang="en-US" sz="1200" dirty="0"/>
          </a:p>
        </p:txBody>
      </p:sp>
      <p:sp>
        <p:nvSpPr>
          <p:cNvPr id="13" name="Text 8"/>
          <p:cNvSpPr txBox="1"/>
          <p:nvPr/>
        </p:nvSpPr>
        <p:spPr>
          <a:xfrm>
            <a:off x="4846320" y="2441448"/>
            <a:ext cx="3657600" cy="274320"/>
          </a:xfrm>
          <a:prstGeom prst="rect">
            <a:avLst/>
          </a:prstGeom>
          <a:noFill/>
          <a:ln/>
        </p:spPr>
        <p:txBody>
          <a:bodyPr wrap="square" lIns="0" tIns="0" rIns="0" bIns="0" rtlCol="0" anchor="ctr"/>
          <a:lstStyle/>
          <a:p>
            <a:pPr marL="0" indent="0">
              <a:buNone/>
            </a:pPr>
            <a:r>
              <a:rPr lang="en-US" sz="1200" b="1" dirty="0">
                <a:solidFill>
                  <a:srgbClr val="4F46E5"/>
                </a:solidFill>
              </a:rPr>
              <a:t>Need: room rates (ADR) by class and date</a:t>
            </a:r>
            <a:endParaRPr lang="en-US" sz="1200" dirty="0"/>
          </a:p>
        </p:txBody>
      </p:sp>
      <p:sp>
        <p:nvSpPr>
          <p:cNvPr id="14" name="Gap card 3"/>
          <p:cNvSpPr/>
          <p:nvPr/>
        </p:nvSpPr>
        <p:spPr>
          <a:xfrm>
            <a:off x="457200" y="2926080"/>
            <a:ext cx="4023360" cy="1645920"/>
          </a:xfrm>
          <a:prstGeom prst="roundRect">
            <a:avLst>
              <a:gd name="adj" fmla="val 8333"/>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pic>
        <p:nvPicPr>
          <p:cNvPr id="15" name="Luxury vs Business icon" descr="Luxury vs Business icon"/>
          <p:cNvPicPr>
            <a:picLocks noChangeAspect="1"/>
          </p:cNvPicPr>
          <p:nvPr/>
        </p:nvPicPr>
        <p:blipFill>
          <a:blip r:embed="rId5"/>
          <a:stretch>
            <a:fillRect/>
          </a:stretch>
        </p:blipFill>
        <p:spPr>
          <a:xfrm>
            <a:off x="594360" y="3063240"/>
            <a:ext cx="502920" cy="502920"/>
          </a:xfrm>
          <a:prstGeom prst="rect">
            <a:avLst/>
          </a:prstGeom>
        </p:spPr>
      </p:pic>
      <p:sp>
        <p:nvSpPr>
          <p:cNvPr id="16" name="Text 10"/>
          <p:cNvSpPr txBox="1"/>
          <p:nvPr/>
        </p:nvSpPr>
        <p:spPr>
          <a:xfrm>
            <a:off x="1234440" y="3063240"/>
            <a:ext cx="3108960" cy="50292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Luxury vs Business</a:t>
            </a:r>
            <a:endParaRPr lang="en-US" sz="1600" dirty="0"/>
          </a:p>
        </p:txBody>
      </p:sp>
      <p:sp>
        <p:nvSpPr>
          <p:cNvPr id="17" name="Text 11"/>
          <p:cNvSpPr txBox="1"/>
          <p:nvPr/>
        </p:nvSpPr>
        <p:spPr>
          <a:xfrm>
            <a:off x="640080" y="3639312"/>
            <a:ext cx="3657600" cy="566928"/>
          </a:xfrm>
          <a:prstGeom prst="rect">
            <a:avLst/>
          </a:prstGeom>
          <a:noFill/>
          <a:ln/>
        </p:spPr>
        <p:txBody>
          <a:bodyPr wrap="square" lIns="0" tIns="0" rIns="0" bIns="0" rtlCol="0" anchor="t"/>
          <a:lstStyle/>
          <a:p>
            <a:pPr marL="0" indent="0">
              <a:buNone/>
            </a:pPr>
            <a:r>
              <a:rPr lang="en-US" sz="1200" dirty="0">
                <a:solidFill>
                  <a:srgbClr val="0F1B4C"/>
                </a:solidFill>
              </a:rPr>
              <a:t>The problem focuses on this category, but no category split appears on the dashboard views.</a:t>
            </a:r>
            <a:endParaRPr lang="en-US" sz="1200" dirty="0"/>
          </a:p>
        </p:txBody>
      </p:sp>
      <p:sp>
        <p:nvSpPr>
          <p:cNvPr id="18" name="Text 12"/>
          <p:cNvSpPr txBox="1"/>
          <p:nvPr/>
        </p:nvSpPr>
        <p:spPr>
          <a:xfrm>
            <a:off x="640080" y="4224528"/>
            <a:ext cx="3657600" cy="274320"/>
          </a:xfrm>
          <a:prstGeom prst="rect">
            <a:avLst/>
          </a:prstGeom>
          <a:noFill/>
          <a:ln/>
        </p:spPr>
        <p:txBody>
          <a:bodyPr wrap="square" lIns="0" tIns="0" rIns="0" bIns="0" rtlCol="0" anchor="ctr"/>
          <a:lstStyle/>
          <a:p>
            <a:pPr marL="0" indent="0">
              <a:buNone/>
            </a:pPr>
            <a:r>
              <a:rPr lang="en-US" sz="1200" b="1" dirty="0">
                <a:solidFill>
                  <a:srgbClr val="4F46E5"/>
                </a:solidFill>
              </a:rPr>
              <a:t>Need: hotel category on a visual</a:t>
            </a:r>
            <a:endParaRPr lang="en-US" sz="1200" dirty="0"/>
          </a:p>
        </p:txBody>
      </p:sp>
      <p:sp>
        <p:nvSpPr>
          <p:cNvPr id="19" name="Gap card 4"/>
          <p:cNvSpPr/>
          <p:nvPr/>
        </p:nvSpPr>
        <p:spPr>
          <a:xfrm>
            <a:off x="4663440" y="2926080"/>
            <a:ext cx="4023360" cy="1645920"/>
          </a:xfrm>
          <a:prstGeom prst="roundRect">
            <a:avLst>
              <a:gd name="adj" fmla="val 8333"/>
            </a:avLst>
          </a:prstGeom>
          <a:solidFill>
            <a:srgbClr val="E0DEFF"/>
          </a:solidFill>
          <a:ln w="31750">
            <a:solidFill>
              <a:srgbClr val="0F1B4C"/>
            </a:solidFill>
            <a:prstDash val="solid"/>
          </a:ln>
          <a:effectLst>
            <a:outerShdw blurRad="12700" dist="50800" dir="2700000" algn="bl" rotWithShape="0">
              <a:srgbClr val="0F1B4C">
                <a:alpha val="100000"/>
              </a:srgbClr>
            </a:outerShdw>
          </a:effectLst>
        </p:spPr>
      </p:sp>
      <p:pic>
        <p:nvPicPr>
          <p:cNvPr id="20" name="Missing hotels icon" descr="Missing hotels icon"/>
          <p:cNvPicPr>
            <a:picLocks noChangeAspect="1"/>
          </p:cNvPicPr>
          <p:nvPr/>
        </p:nvPicPr>
        <p:blipFill>
          <a:blip r:embed="rId6"/>
          <a:stretch>
            <a:fillRect/>
          </a:stretch>
        </p:blipFill>
        <p:spPr>
          <a:xfrm>
            <a:off x="4800600" y="3063240"/>
            <a:ext cx="502920" cy="502920"/>
          </a:xfrm>
          <a:prstGeom prst="rect">
            <a:avLst/>
          </a:prstGeom>
        </p:spPr>
      </p:pic>
      <p:sp>
        <p:nvSpPr>
          <p:cNvPr id="21" name="Text 14"/>
          <p:cNvSpPr txBox="1"/>
          <p:nvPr/>
        </p:nvSpPr>
        <p:spPr>
          <a:xfrm>
            <a:off x="5440680" y="3063240"/>
            <a:ext cx="3108960" cy="50292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Missing hotels</a:t>
            </a:r>
            <a:endParaRPr lang="en-US" sz="1600" dirty="0"/>
          </a:p>
        </p:txBody>
      </p:sp>
      <p:sp>
        <p:nvSpPr>
          <p:cNvPr id="22" name="Text 15"/>
          <p:cNvSpPr txBox="1"/>
          <p:nvPr/>
        </p:nvSpPr>
        <p:spPr>
          <a:xfrm>
            <a:off x="4846320" y="3639312"/>
            <a:ext cx="3657600" cy="566928"/>
          </a:xfrm>
          <a:prstGeom prst="rect">
            <a:avLst/>
          </a:prstGeom>
          <a:noFill/>
          <a:ln/>
        </p:spPr>
        <p:txBody>
          <a:bodyPr wrap="square" lIns="0" tIns="0" rIns="0" bIns="0" rtlCol="0" anchor="t"/>
          <a:lstStyle/>
          <a:p>
            <a:pPr marL="0" indent="0">
              <a:buNone/>
            </a:pPr>
            <a:r>
              <a:rPr lang="en-US" sz="1200" dirty="0">
                <a:solidFill>
                  <a:srgbClr val="0F1B4C"/>
                </a:solidFill>
              </a:rPr>
              <a:t>Seasons is not visible in any screenshot; Grands is missing from June and July tables.</a:t>
            </a:r>
            <a:endParaRPr lang="en-US" sz="1200" dirty="0"/>
          </a:p>
        </p:txBody>
      </p:sp>
      <p:sp>
        <p:nvSpPr>
          <p:cNvPr id="23" name="Text 16"/>
          <p:cNvSpPr txBox="1"/>
          <p:nvPr/>
        </p:nvSpPr>
        <p:spPr>
          <a:xfrm>
            <a:off x="4846320" y="4224528"/>
            <a:ext cx="3657600" cy="274320"/>
          </a:xfrm>
          <a:prstGeom prst="rect">
            <a:avLst/>
          </a:prstGeom>
          <a:noFill/>
          <a:ln/>
        </p:spPr>
        <p:txBody>
          <a:bodyPr wrap="square" lIns="0" tIns="0" rIns="0" bIns="0" rtlCol="0" anchor="ctr"/>
          <a:lstStyle/>
          <a:p>
            <a:pPr marL="0" indent="0">
              <a:buNone/>
            </a:pPr>
            <a:r>
              <a:rPr lang="en-US" sz="1200" b="1" dirty="0">
                <a:solidFill>
                  <a:srgbClr val="4F46E5"/>
                </a:solidFill>
              </a:rPr>
              <a:t>Need: full property tables per month</a:t>
            </a:r>
            <a:endParaRPr lang="en-US" sz="1200" dirty="0"/>
          </a:p>
        </p:txBody>
      </p:sp>
      <p:sp>
        <p:nvSpPr>
          <p:cNvPr id="25"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56032"/>
            <a:ext cx="7406640" cy="685800"/>
          </a:xfrm>
          <a:prstGeom prst="rect">
            <a:avLst/>
          </a:prstGeom>
          <a:noFill/>
          <a:ln/>
        </p:spPr>
        <p:txBody>
          <a:bodyPr wrap="square" lIns="0" tIns="0" rIns="0" bIns="0" rtlCol="0" anchor="ctr"/>
          <a:lstStyle/>
          <a:p>
            <a:pPr marL="0" indent="0" algn="l">
              <a:buNone/>
            </a:pPr>
            <a:r>
              <a:rPr lang="en-US" sz="2800" b="1" dirty="0">
                <a:solidFill>
                  <a:srgbClr val="0F1B4C"/>
                </a:solidFill>
              </a:rPr>
              <a:t>What We Do Next</a:t>
            </a:r>
            <a:endParaRPr lang="en-US" sz="2800" dirty="0"/>
          </a:p>
        </p:txBody>
      </p:sp>
      <p:sp>
        <p:nvSpPr>
          <p:cNvPr id="4" name="Column Actions"/>
          <p:cNvSpPr/>
          <p:nvPr/>
        </p:nvSpPr>
        <p:spPr>
          <a:xfrm>
            <a:off x="457200" y="1143000"/>
            <a:ext cx="4023360" cy="3566160"/>
          </a:xfrm>
          <a:prstGeom prst="roundRect">
            <a:avLst>
              <a:gd name="adj" fmla="val 3846"/>
            </a:avLst>
          </a:prstGeom>
          <a:solidFill>
            <a:srgbClr val="D5F7EF"/>
          </a:solidFill>
          <a:ln w="31750">
            <a:solidFill>
              <a:srgbClr val="0F1B4C"/>
            </a:solidFill>
            <a:prstDash val="solid"/>
          </a:ln>
          <a:effectLst>
            <a:outerShdw blurRad="12700" dist="50800" dir="2700000" algn="bl" rotWithShape="0">
              <a:srgbClr val="0F1B4C">
                <a:alpha val="100000"/>
              </a:srgbClr>
            </a:outerShdw>
          </a:effectLst>
        </p:spPr>
      </p:sp>
      <p:sp>
        <p:nvSpPr>
          <p:cNvPr id="5" name="Text 2"/>
          <p:cNvSpPr txBox="1"/>
          <p:nvPr/>
        </p:nvSpPr>
        <p:spPr>
          <a:xfrm>
            <a:off x="685800" y="1234440"/>
            <a:ext cx="3566160" cy="411480"/>
          </a:xfrm>
          <a:prstGeom prst="rect">
            <a:avLst/>
          </a:prstGeom>
          <a:noFill/>
          <a:ln/>
        </p:spPr>
        <p:txBody>
          <a:bodyPr wrap="square" lIns="0" tIns="0" rIns="0" bIns="0" rtlCol="0" anchor="ctr"/>
          <a:lstStyle/>
          <a:p>
            <a:pPr marL="0" indent="0">
              <a:buNone/>
            </a:pPr>
            <a:r>
              <a:rPr lang="en-US" sz="1800" b="1" dirty="0">
                <a:solidFill>
                  <a:srgbClr val="0F1B4C"/>
                </a:solidFill>
                <a:latin typeface="+mj-lt" pitchFamily="34" charset="0"/>
                <a:ea typeface="+mj-lt" pitchFamily="34" charset="-122"/>
                <a:cs typeface="+mj-lt" pitchFamily="34" charset="-120"/>
              </a:rPr>
              <a:t>Actions</a:t>
            </a:r>
            <a:endParaRPr lang="en-US" sz="1800" dirty="0"/>
          </a:p>
        </p:txBody>
      </p:sp>
      <p:sp>
        <p:nvSpPr>
          <p:cNvPr id="6" name="Bullet 1"/>
          <p:cNvSpPr/>
          <p:nvPr/>
        </p:nvSpPr>
        <p:spPr>
          <a:xfrm>
            <a:off x="685800" y="1810512"/>
            <a:ext cx="365760" cy="365760"/>
          </a:xfrm>
          <a:prstGeom prst="ellipse">
            <a:avLst/>
          </a:prstGeom>
          <a:solidFill>
            <a:srgbClr val="22C3A6"/>
          </a:solidFill>
          <a:ln w="25400">
            <a:solidFill>
              <a:srgbClr val="0F1B4C"/>
            </a:solidFill>
            <a:prstDash val="solid"/>
          </a:ln>
        </p:spPr>
      </p:sp>
      <p:sp>
        <p:nvSpPr>
          <p:cNvPr id="7" name="Text 4"/>
          <p:cNvSpPr txBox="1"/>
          <p:nvPr/>
        </p:nvSpPr>
        <p:spPr>
          <a:xfrm>
            <a:off x="685800" y="1810512"/>
            <a:ext cx="365760" cy="365760"/>
          </a:xfrm>
          <a:prstGeom prst="rect">
            <a:avLst/>
          </a:prstGeom>
          <a:noFill/>
          <a:ln/>
        </p:spPr>
        <p:txBody>
          <a:bodyPr wrap="square" lIns="0" tIns="0" rIns="0" bIns="0" rtlCol="0" anchor="ctr"/>
          <a:lstStyle/>
          <a:p>
            <a:pPr marL="0" indent="0" algn="ctr">
              <a:buNone/>
            </a:pPr>
            <a:r>
              <a:rPr lang="en-US" sz="1300" b="1" dirty="0">
                <a:solidFill>
                  <a:srgbClr val="0F1B4C"/>
                </a:solidFill>
              </a:rPr>
              <a:t>1</a:t>
            </a:r>
            <a:endParaRPr lang="en-US" sz="1300" dirty="0"/>
          </a:p>
        </p:txBody>
      </p:sp>
      <p:sp>
        <p:nvSpPr>
          <p:cNvPr id="8" name="Text 5"/>
          <p:cNvSpPr txBox="1"/>
          <p:nvPr/>
        </p:nvSpPr>
        <p:spPr>
          <a:xfrm>
            <a:off x="1188720" y="1737360"/>
            <a:ext cx="3154680" cy="512064"/>
          </a:xfrm>
          <a:prstGeom prst="rect">
            <a:avLst/>
          </a:prstGeom>
          <a:noFill/>
          <a:ln/>
        </p:spPr>
        <p:txBody>
          <a:bodyPr wrap="square" lIns="0" tIns="0" rIns="0" bIns="0" rtlCol="0" anchor="ctr"/>
          <a:lstStyle/>
          <a:p>
            <a:pPr marL="0" indent="0">
              <a:buNone/>
            </a:pPr>
            <a:r>
              <a:rPr lang="en-US" sz="1400" dirty="0">
                <a:solidFill>
                  <a:srgbClr val="0F1B4C"/>
                </a:solidFill>
              </a:rPr>
              <a:t>Rescue Atliq Grands: service audit, learn from Blu</a:t>
            </a:r>
            <a:endParaRPr lang="en-US" sz="1400" dirty="0"/>
          </a:p>
        </p:txBody>
      </p:sp>
      <p:sp>
        <p:nvSpPr>
          <p:cNvPr id="9" name="Bullet 2"/>
          <p:cNvSpPr/>
          <p:nvPr/>
        </p:nvSpPr>
        <p:spPr>
          <a:xfrm>
            <a:off x="685800" y="2395728"/>
            <a:ext cx="365760" cy="365760"/>
          </a:xfrm>
          <a:prstGeom prst="ellipse">
            <a:avLst/>
          </a:prstGeom>
          <a:solidFill>
            <a:srgbClr val="22C3A6"/>
          </a:solidFill>
          <a:ln w="25400">
            <a:solidFill>
              <a:srgbClr val="0F1B4C"/>
            </a:solidFill>
            <a:prstDash val="solid"/>
          </a:ln>
        </p:spPr>
      </p:sp>
      <p:sp>
        <p:nvSpPr>
          <p:cNvPr id="10" name="Text 7"/>
          <p:cNvSpPr txBox="1"/>
          <p:nvPr/>
        </p:nvSpPr>
        <p:spPr>
          <a:xfrm>
            <a:off x="685800" y="2395728"/>
            <a:ext cx="365760" cy="365760"/>
          </a:xfrm>
          <a:prstGeom prst="rect">
            <a:avLst/>
          </a:prstGeom>
          <a:noFill/>
          <a:ln/>
        </p:spPr>
        <p:txBody>
          <a:bodyPr wrap="square" lIns="0" tIns="0" rIns="0" bIns="0" rtlCol="0" anchor="ctr"/>
          <a:lstStyle/>
          <a:p>
            <a:pPr marL="0" indent="0" algn="ctr">
              <a:buNone/>
            </a:pPr>
            <a:r>
              <a:rPr lang="en-US" sz="1300" b="1" dirty="0">
                <a:solidFill>
                  <a:srgbClr val="0F1B4C"/>
                </a:solidFill>
              </a:rPr>
              <a:t>2</a:t>
            </a:r>
            <a:endParaRPr lang="en-US" sz="1300" dirty="0"/>
          </a:p>
        </p:txBody>
      </p:sp>
      <p:sp>
        <p:nvSpPr>
          <p:cNvPr id="11" name="Text 8"/>
          <p:cNvSpPr txBox="1"/>
          <p:nvPr/>
        </p:nvSpPr>
        <p:spPr>
          <a:xfrm>
            <a:off x="1188720" y="2322576"/>
            <a:ext cx="3154680" cy="512064"/>
          </a:xfrm>
          <a:prstGeom prst="rect">
            <a:avLst/>
          </a:prstGeom>
          <a:noFill/>
          <a:ln/>
        </p:spPr>
        <p:txBody>
          <a:bodyPr wrap="square" lIns="0" tIns="0" rIns="0" bIns="0" rtlCol="0" anchor="ctr"/>
          <a:lstStyle/>
          <a:p>
            <a:pPr marL="0" indent="0">
              <a:buNone/>
            </a:pPr>
            <a:r>
              <a:rPr lang="en-US" sz="1400" dirty="0">
                <a:solidFill>
                  <a:srgbClr val="0F1B4C"/>
                </a:solidFill>
              </a:rPr>
              <a:t>Cut cancellations: deposits, non-refundable rates, reminders</a:t>
            </a:r>
            <a:endParaRPr lang="en-US" sz="1400" dirty="0"/>
          </a:p>
        </p:txBody>
      </p:sp>
      <p:sp>
        <p:nvSpPr>
          <p:cNvPr id="12" name="Bullet 3"/>
          <p:cNvSpPr/>
          <p:nvPr/>
        </p:nvSpPr>
        <p:spPr>
          <a:xfrm>
            <a:off x="685800" y="2980944"/>
            <a:ext cx="365760" cy="365760"/>
          </a:xfrm>
          <a:prstGeom prst="ellipse">
            <a:avLst/>
          </a:prstGeom>
          <a:solidFill>
            <a:srgbClr val="22C3A6"/>
          </a:solidFill>
          <a:ln w="25400">
            <a:solidFill>
              <a:srgbClr val="0F1B4C"/>
            </a:solidFill>
            <a:prstDash val="solid"/>
          </a:ln>
        </p:spPr>
      </p:sp>
      <p:sp>
        <p:nvSpPr>
          <p:cNvPr id="13" name="Text 10"/>
          <p:cNvSpPr txBox="1"/>
          <p:nvPr/>
        </p:nvSpPr>
        <p:spPr>
          <a:xfrm>
            <a:off x="685800" y="2980944"/>
            <a:ext cx="365760" cy="365760"/>
          </a:xfrm>
          <a:prstGeom prst="rect">
            <a:avLst/>
          </a:prstGeom>
          <a:noFill/>
          <a:ln/>
        </p:spPr>
        <p:txBody>
          <a:bodyPr wrap="square" lIns="0" tIns="0" rIns="0" bIns="0" rtlCol="0" anchor="ctr"/>
          <a:lstStyle/>
          <a:p>
            <a:pPr marL="0" indent="0" algn="ctr">
              <a:buNone/>
            </a:pPr>
            <a:r>
              <a:rPr lang="en-US" sz="1300" b="1" dirty="0">
                <a:solidFill>
                  <a:srgbClr val="0F1B4C"/>
                </a:solidFill>
              </a:rPr>
              <a:t>3</a:t>
            </a:r>
            <a:endParaRPr lang="en-US" sz="1300" dirty="0"/>
          </a:p>
        </p:txBody>
      </p:sp>
      <p:sp>
        <p:nvSpPr>
          <p:cNvPr id="14" name="Text 11"/>
          <p:cNvSpPr txBox="1"/>
          <p:nvPr/>
        </p:nvSpPr>
        <p:spPr>
          <a:xfrm>
            <a:off x="1188720" y="2907792"/>
            <a:ext cx="3154680" cy="512064"/>
          </a:xfrm>
          <a:prstGeom prst="rect">
            <a:avLst/>
          </a:prstGeom>
          <a:noFill/>
          <a:ln/>
        </p:spPr>
        <p:txBody>
          <a:bodyPr wrap="square" lIns="0" tIns="0" rIns="0" bIns="0" rtlCol="0" anchor="ctr"/>
          <a:lstStyle/>
          <a:p>
            <a:pPr marL="0" indent="0">
              <a:buNone/>
            </a:pPr>
            <a:r>
              <a:rPr lang="en-US" sz="1400" dirty="0">
                <a:solidFill>
                  <a:srgbClr val="0F1B4C"/>
                </a:solidFill>
              </a:rPr>
              <a:t>Grow direct bookings beyond 13% share</a:t>
            </a:r>
            <a:endParaRPr lang="en-US" sz="1400" dirty="0"/>
          </a:p>
        </p:txBody>
      </p:sp>
      <p:sp>
        <p:nvSpPr>
          <p:cNvPr id="15" name="Bullet 4"/>
          <p:cNvSpPr/>
          <p:nvPr/>
        </p:nvSpPr>
        <p:spPr>
          <a:xfrm>
            <a:off x="685800" y="3566160"/>
            <a:ext cx="365760" cy="365760"/>
          </a:xfrm>
          <a:prstGeom prst="ellipse">
            <a:avLst/>
          </a:prstGeom>
          <a:solidFill>
            <a:srgbClr val="22C3A6"/>
          </a:solidFill>
          <a:ln w="25400">
            <a:solidFill>
              <a:srgbClr val="0F1B4C"/>
            </a:solidFill>
            <a:prstDash val="solid"/>
          </a:ln>
        </p:spPr>
      </p:sp>
      <p:sp>
        <p:nvSpPr>
          <p:cNvPr id="16" name="Text 13"/>
          <p:cNvSpPr txBox="1"/>
          <p:nvPr/>
        </p:nvSpPr>
        <p:spPr>
          <a:xfrm>
            <a:off x="685800" y="3566160"/>
            <a:ext cx="365760" cy="365760"/>
          </a:xfrm>
          <a:prstGeom prst="rect">
            <a:avLst/>
          </a:prstGeom>
          <a:noFill/>
          <a:ln/>
        </p:spPr>
        <p:txBody>
          <a:bodyPr wrap="square" lIns="0" tIns="0" rIns="0" bIns="0" rtlCol="0" anchor="ctr"/>
          <a:lstStyle/>
          <a:p>
            <a:pPr marL="0" indent="0" algn="ctr">
              <a:buNone/>
            </a:pPr>
            <a:r>
              <a:rPr lang="en-US" sz="1300" b="1" dirty="0">
                <a:solidFill>
                  <a:srgbClr val="0F1B4C"/>
                </a:solidFill>
              </a:rPr>
              <a:t>4</a:t>
            </a:r>
            <a:endParaRPr lang="en-US" sz="1300" dirty="0"/>
          </a:p>
        </p:txBody>
      </p:sp>
      <p:sp>
        <p:nvSpPr>
          <p:cNvPr id="17" name="Text 14"/>
          <p:cNvSpPr txBox="1"/>
          <p:nvPr/>
        </p:nvSpPr>
        <p:spPr>
          <a:xfrm>
            <a:off x="1188720" y="3493008"/>
            <a:ext cx="3154680" cy="512064"/>
          </a:xfrm>
          <a:prstGeom prst="rect">
            <a:avLst/>
          </a:prstGeom>
          <a:noFill/>
          <a:ln/>
        </p:spPr>
        <p:txBody>
          <a:bodyPr wrap="square" lIns="0" tIns="0" rIns="0" bIns="0" rtlCol="0" anchor="ctr"/>
          <a:lstStyle/>
          <a:p>
            <a:pPr marL="0" indent="0">
              <a:buNone/>
            </a:pPr>
            <a:r>
              <a:rPr lang="en-US" sz="1400" dirty="0">
                <a:solidFill>
                  <a:srgbClr val="0F1B4C"/>
                </a:solidFill>
              </a:rPr>
              <a:t>Fill weekdays with corporate and midweek offers</a:t>
            </a:r>
            <a:endParaRPr lang="en-US" sz="1400" dirty="0"/>
          </a:p>
        </p:txBody>
      </p:sp>
      <p:sp>
        <p:nvSpPr>
          <p:cNvPr id="18" name="Bullet 5"/>
          <p:cNvSpPr/>
          <p:nvPr/>
        </p:nvSpPr>
        <p:spPr>
          <a:xfrm>
            <a:off x="685800" y="4151376"/>
            <a:ext cx="365760" cy="365760"/>
          </a:xfrm>
          <a:prstGeom prst="ellipse">
            <a:avLst/>
          </a:prstGeom>
          <a:solidFill>
            <a:srgbClr val="22C3A6"/>
          </a:solidFill>
          <a:ln w="25400">
            <a:solidFill>
              <a:srgbClr val="0F1B4C"/>
            </a:solidFill>
            <a:prstDash val="solid"/>
          </a:ln>
        </p:spPr>
      </p:sp>
      <p:sp>
        <p:nvSpPr>
          <p:cNvPr id="19" name="Text 16"/>
          <p:cNvSpPr txBox="1"/>
          <p:nvPr/>
        </p:nvSpPr>
        <p:spPr>
          <a:xfrm>
            <a:off x="685800" y="4151376"/>
            <a:ext cx="365760" cy="365760"/>
          </a:xfrm>
          <a:prstGeom prst="rect">
            <a:avLst/>
          </a:prstGeom>
          <a:noFill/>
          <a:ln/>
        </p:spPr>
        <p:txBody>
          <a:bodyPr wrap="square" lIns="0" tIns="0" rIns="0" bIns="0" rtlCol="0" anchor="ctr"/>
          <a:lstStyle/>
          <a:p>
            <a:pPr marL="0" indent="0" algn="ctr">
              <a:buNone/>
            </a:pPr>
            <a:r>
              <a:rPr lang="en-US" sz="1300" b="1" dirty="0">
                <a:solidFill>
                  <a:srgbClr val="0F1B4C"/>
                </a:solidFill>
              </a:rPr>
              <a:t>5</a:t>
            </a:r>
            <a:endParaRPr lang="en-US" sz="1300" dirty="0"/>
          </a:p>
        </p:txBody>
      </p:sp>
      <p:sp>
        <p:nvSpPr>
          <p:cNvPr id="20" name="Text 17"/>
          <p:cNvSpPr txBox="1"/>
          <p:nvPr/>
        </p:nvSpPr>
        <p:spPr>
          <a:xfrm>
            <a:off x="1188720" y="4078224"/>
            <a:ext cx="3154680" cy="512064"/>
          </a:xfrm>
          <a:prstGeom prst="rect">
            <a:avLst/>
          </a:prstGeom>
          <a:noFill/>
          <a:ln/>
        </p:spPr>
        <p:txBody>
          <a:bodyPr wrap="square" lIns="0" tIns="0" rIns="0" bIns="0" rtlCol="0" anchor="ctr"/>
          <a:lstStyle/>
          <a:p>
            <a:pPr marL="0" indent="0">
              <a:buNone/>
            </a:pPr>
            <a:r>
              <a:rPr lang="en-US" sz="1400" dirty="0">
                <a:solidFill>
                  <a:srgbClr val="0F1B4C"/>
                </a:solidFill>
              </a:rPr>
              <a:t>Test higher rates in Delhi (best occupancy and rating)</a:t>
            </a:r>
            <a:endParaRPr lang="en-US" sz="1400" dirty="0"/>
          </a:p>
        </p:txBody>
      </p:sp>
      <p:sp>
        <p:nvSpPr>
          <p:cNvPr id="21" name="Column Data we still need"/>
          <p:cNvSpPr/>
          <p:nvPr/>
        </p:nvSpPr>
        <p:spPr>
          <a:xfrm>
            <a:off x="4663440" y="1143000"/>
            <a:ext cx="4023360" cy="3566160"/>
          </a:xfrm>
          <a:prstGeom prst="roundRect">
            <a:avLst>
              <a:gd name="adj" fmla="val 3846"/>
            </a:avLst>
          </a:prstGeom>
          <a:solidFill>
            <a:srgbClr val="FFF3B0"/>
          </a:solidFill>
          <a:ln w="31750">
            <a:solidFill>
              <a:srgbClr val="0F1B4C"/>
            </a:solidFill>
            <a:prstDash val="solid"/>
          </a:ln>
          <a:effectLst>
            <a:outerShdw blurRad="12700" dist="50800" dir="2700000" algn="bl" rotWithShape="0">
              <a:srgbClr val="0F1B4C">
                <a:alpha val="100000"/>
              </a:srgbClr>
            </a:outerShdw>
          </a:effectLst>
        </p:spPr>
      </p:sp>
      <p:sp>
        <p:nvSpPr>
          <p:cNvPr id="22" name="Text 19"/>
          <p:cNvSpPr txBox="1"/>
          <p:nvPr/>
        </p:nvSpPr>
        <p:spPr>
          <a:xfrm>
            <a:off x="4892040" y="1234440"/>
            <a:ext cx="3566160" cy="411480"/>
          </a:xfrm>
          <a:prstGeom prst="rect">
            <a:avLst/>
          </a:prstGeom>
          <a:noFill/>
          <a:ln/>
        </p:spPr>
        <p:txBody>
          <a:bodyPr wrap="square" lIns="0" tIns="0" rIns="0" bIns="0" rtlCol="0" anchor="ctr"/>
          <a:lstStyle/>
          <a:p>
            <a:pPr marL="0" indent="0">
              <a:buNone/>
            </a:pPr>
            <a:r>
              <a:rPr lang="en-US" sz="1800" b="1" dirty="0">
                <a:solidFill>
                  <a:srgbClr val="0F1B4C"/>
                </a:solidFill>
                <a:latin typeface="+mj-lt" pitchFamily="34" charset="0"/>
                <a:ea typeface="+mj-lt" pitchFamily="34" charset="-122"/>
                <a:cs typeface="+mj-lt" pitchFamily="34" charset="-120"/>
              </a:rPr>
              <a:t>Data we still need</a:t>
            </a:r>
            <a:endParaRPr lang="en-US" sz="1800" dirty="0"/>
          </a:p>
        </p:txBody>
      </p:sp>
      <p:sp>
        <p:nvSpPr>
          <p:cNvPr id="23" name="Bullet 1"/>
          <p:cNvSpPr/>
          <p:nvPr/>
        </p:nvSpPr>
        <p:spPr>
          <a:xfrm>
            <a:off x="4892040" y="1810512"/>
            <a:ext cx="365760" cy="365760"/>
          </a:xfrm>
          <a:prstGeom prst="ellipse">
            <a:avLst/>
          </a:prstGeom>
          <a:solidFill>
            <a:srgbClr val="FF9F1C"/>
          </a:solidFill>
          <a:ln w="25400">
            <a:solidFill>
              <a:srgbClr val="0F1B4C"/>
            </a:solidFill>
            <a:prstDash val="solid"/>
          </a:ln>
        </p:spPr>
      </p:sp>
      <p:sp>
        <p:nvSpPr>
          <p:cNvPr id="24" name="Text 21"/>
          <p:cNvSpPr txBox="1"/>
          <p:nvPr/>
        </p:nvSpPr>
        <p:spPr>
          <a:xfrm>
            <a:off x="4892040" y="1810512"/>
            <a:ext cx="365760" cy="365760"/>
          </a:xfrm>
          <a:prstGeom prst="rect">
            <a:avLst/>
          </a:prstGeom>
          <a:noFill/>
          <a:ln/>
        </p:spPr>
        <p:txBody>
          <a:bodyPr wrap="square" lIns="0" tIns="0" rIns="0" bIns="0" rtlCol="0" anchor="ctr"/>
          <a:lstStyle/>
          <a:p>
            <a:pPr marL="0" indent="0" algn="ctr">
              <a:buNone/>
            </a:pPr>
            <a:r>
              <a:rPr lang="en-US" sz="1300" b="1" dirty="0">
                <a:solidFill>
                  <a:srgbClr val="0F1B4C"/>
                </a:solidFill>
              </a:rPr>
              <a:t>1</a:t>
            </a:r>
            <a:endParaRPr lang="en-US" sz="1300" dirty="0"/>
          </a:p>
        </p:txBody>
      </p:sp>
      <p:sp>
        <p:nvSpPr>
          <p:cNvPr id="25" name="Text 22"/>
          <p:cNvSpPr txBox="1"/>
          <p:nvPr/>
        </p:nvSpPr>
        <p:spPr>
          <a:xfrm>
            <a:off x="5394960" y="1737360"/>
            <a:ext cx="3154680" cy="512064"/>
          </a:xfrm>
          <a:prstGeom prst="rect">
            <a:avLst/>
          </a:prstGeom>
          <a:noFill/>
          <a:ln/>
        </p:spPr>
        <p:txBody>
          <a:bodyPr wrap="square" lIns="0" tIns="0" rIns="0" bIns="0" rtlCol="0" anchor="ctr"/>
          <a:lstStyle/>
          <a:p>
            <a:pPr marL="0" indent="0">
              <a:buNone/>
            </a:pPr>
            <a:r>
              <a:rPr lang="en-US" sz="1400" dirty="0">
                <a:solidFill>
                  <a:srgbClr val="0F1B4C"/>
                </a:solidFill>
              </a:rPr>
              <a:t>Room rates / ADR and competitor rates</a:t>
            </a:r>
            <a:endParaRPr lang="en-US" sz="1400" dirty="0"/>
          </a:p>
        </p:txBody>
      </p:sp>
      <p:sp>
        <p:nvSpPr>
          <p:cNvPr id="26" name="Bullet 2"/>
          <p:cNvSpPr/>
          <p:nvPr/>
        </p:nvSpPr>
        <p:spPr>
          <a:xfrm>
            <a:off x="4892040" y="2395728"/>
            <a:ext cx="365760" cy="365760"/>
          </a:xfrm>
          <a:prstGeom prst="ellipse">
            <a:avLst/>
          </a:prstGeom>
          <a:solidFill>
            <a:srgbClr val="FF9F1C"/>
          </a:solidFill>
          <a:ln w="25400">
            <a:solidFill>
              <a:srgbClr val="0F1B4C"/>
            </a:solidFill>
            <a:prstDash val="solid"/>
          </a:ln>
        </p:spPr>
      </p:sp>
      <p:sp>
        <p:nvSpPr>
          <p:cNvPr id="27" name="Text 24"/>
          <p:cNvSpPr txBox="1"/>
          <p:nvPr/>
        </p:nvSpPr>
        <p:spPr>
          <a:xfrm>
            <a:off x="4892040" y="2395728"/>
            <a:ext cx="365760" cy="365760"/>
          </a:xfrm>
          <a:prstGeom prst="rect">
            <a:avLst/>
          </a:prstGeom>
          <a:noFill/>
          <a:ln/>
        </p:spPr>
        <p:txBody>
          <a:bodyPr wrap="square" lIns="0" tIns="0" rIns="0" bIns="0" rtlCol="0" anchor="ctr"/>
          <a:lstStyle/>
          <a:p>
            <a:pPr marL="0" indent="0" algn="ctr">
              <a:buNone/>
            </a:pPr>
            <a:r>
              <a:rPr lang="en-US" sz="1300" b="1" dirty="0">
                <a:solidFill>
                  <a:srgbClr val="0F1B4C"/>
                </a:solidFill>
              </a:rPr>
              <a:t>2</a:t>
            </a:r>
            <a:endParaRPr lang="en-US" sz="1300" dirty="0"/>
          </a:p>
        </p:txBody>
      </p:sp>
      <p:sp>
        <p:nvSpPr>
          <p:cNvPr id="28" name="Text 25"/>
          <p:cNvSpPr txBox="1"/>
          <p:nvPr/>
        </p:nvSpPr>
        <p:spPr>
          <a:xfrm>
            <a:off x="5394960" y="2322576"/>
            <a:ext cx="3154680" cy="512064"/>
          </a:xfrm>
          <a:prstGeom prst="rect">
            <a:avLst/>
          </a:prstGeom>
          <a:noFill/>
          <a:ln/>
        </p:spPr>
        <p:txBody>
          <a:bodyPr wrap="square" lIns="0" tIns="0" rIns="0" bIns="0" rtlCol="0" anchor="ctr"/>
          <a:lstStyle/>
          <a:p>
            <a:pPr marL="0" indent="0">
              <a:buNone/>
            </a:pPr>
            <a:r>
              <a:rPr lang="en-US" sz="1400" dirty="0">
                <a:solidFill>
                  <a:srgbClr val="0F1B4C"/>
                </a:solidFill>
              </a:rPr>
              <a:t>Cancellation reasons, lead time and refund terms</a:t>
            </a:r>
            <a:endParaRPr lang="en-US" sz="1400" dirty="0"/>
          </a:p>
        </p:txBody>
      </p:sp>
      <p:sp>
        <p:nvSpPr>
          <p:cNvPr id="29" name="Bullet 3"/>
          <p:cNvSpPr/>
          <p:nvPr/>
        </p:nvSpPr>
        <p:spPr>
          <a:xfrm>
            <a:off x="4892040" y="2980944"/>
            <a:ext cx="365760" cy="365760"/>
          </a:xfrm>
          <a:prstGeom prst="ellipse">
            <a:avLst/>
          </a:prstGeom>
          <a:solidFill>
            <a:srgbClr val="FF9F1C"/>
          </a:solidFill>
          <a:ln w="25400">
            <a:solidFill>
              <a:srgbClr val="0F1B4C"/>
            </a:solidFill>
            <a:prstDash val="solid"/>
          </a:ln>
        </p:spPr>
      </p:sp>
      <p:sp>
        <p:nvSpPr>
          <p:cNvPr id="30" name="Text 27"/>
          <p:cNvSpPr txBox="1"/>
          <p:nvPr/>
        </p:nvSpPr>
        <p:spPr>
          <a:xfrm>
            <a:off x="4892040" y="2980944"/>
            <a:ext cx="365760" cy="365760"/>
          </a:xfrm>
          <a:prstGeom prst="rect">
            <a:avLst/>
          </a:prstGeom>
          <a:noFill/>
          <a:ln/>
        </p:spPr>
        <p:txBody>
          <a:bodyPr wrap="square" lIns="0" tIns="0" rIns="0" bIns="0" rtlCol="0" anchor="ctr"/>
          <a:lstStyle/>
          <a:p>
            <a:pPr marL="0" indent="0" algn="ctr">
              <a:buNone/>
            </a:pPr>
            <a:r>
              <a:rPr lang="en-US" sz="1300" b="1" dirty="0">
                <a:solidFill>
                  <a:srgbClr val="0F1B4C"/>
                </a:solidFill>
              </a:rPr>
              <a:t>3</a:t>
            </a:r>
            <a:endParaRPr lang="en-US" sz="1300" dirty="0"/>
          </a:p>
        </p:txBody>
      </p:sp>
      <p:sp>
        <p:nvSpPr>
          <p:cNvPr id="31" name="Text 28"/>
          <p:cNvSpPr txBox="1"/>
          <p:nvPr/>
        </p:nvSpPr>
        <p:spPr>
          <a:xfrm>
            <a:off x="5394960" y="2907792"/>
            <a:ext cx="3154680" cy="512064"/>
          </a:xfrm>
          <a:prstGeom prst="rect">
            <a:avLst/>
          </a:prstGeom>
          <a:noFill/>
          <a:ln/>
        </p:spPr>
        <p:txBody>
          <a:bodyPr wrap="square" lIns="0" tIns="0" rIns="0" bIns="0" rtlCol="0" anchor="ctr"/>
          <a:lstStyle/>
          <a:p>
            <a:pPr marL="0" indent="0">
              <a:buNone/>
            </a:pPr>
            <a:r>
              <a:rPr lang="en-US" sz="1400" dirty="0">
                <a:solidFill>
                  <a:srgbClr val="0F1B4C"/>
                </a:solidFill>
              </a:rPr>
              <a:t>Commission and marketing cost per channel</a:t>
            </a:r>
            <a:endParaRPr lang="en-US" sz="1400" dirty="0"/>
          </a:p>
        </p:txBody>
      </p:sp>
      <p:sp>
        <p:nvSpPr>
          <p:cNvPr id="32" name="Bullet 4"/>
          <p:cNvSpPr/>
          <p:nvPr/>
        </p:nvSpPr>
        <p:spPr>
          <a:xfrm>
            <a:off x="4892040" y="3566160"/>
            <a:ext cx="365760" cy="365760"/>
          </a:xfrm>
          <a:prstGeom prst="ellipse">
            <a:avLst/>
          </a:prstGeom>
          <a:solidFill>
            <a:srgbClr val="FF9F1C"/>
          </a:solidFill>
          <a:ln w="25400">
            <a:solidFill>
              <a:srgbClr val="0F1B4C"/>
            </a:solidFill>
            <a:prstDash val="solid"/>
          </a:ln>
        </p:spPr>
      </p:sp>
      <p:sp>
        <p:nvSpPr>
          <p:cNvPr id="33" name="Text 30"/>
          <p:cNvSpPr txBox="1"/>
          <p:nvPr/>
        </p:nvSpPr>
        <p:spPr>
          <a:xfrm>
            <a:off x="4892040" y="3566160"/>
            <a:ext cx="365760" cy="365760"/>
          </a:xfrm>
          <a:prstGeom prst="rect">
            <a:avLst/>
          </a:prstGeom>
          <a:noFill/>
          <a:ln/>
        </p:spPr>
        <p:txBody>
          <a:bodyPr wrap="square" lIns="0" tIns="0" rIns="0" bIns="0" rtlCol="0" anchor="ctr"/>
          <a:lstStyle/>
          <a:p>
            <a:pPr marL="0" indent="0" algn="ctr">
              <a:buNone/>
            </a:pPr>
            <a:r>
              <a:rPr lang="en-US" sz="1300" b="1" dirty="0">
                <a:solidFill>
                  <a:srgbClr val="0F1B4C"/>
                </a:solidFill>
              </a:rPr>
              <a:t>4</a:t>
            </a:r>
            <a:endParaRPr lang="en-US" sz="1300" dirty="0"/>
          </a:p>
        </p:txBody>
      </p:sp>
      <p:sp>
        <p:nvSpPr>
          <p:cNvPr id="34" name="Text 31"/>
          <p:cNvSpPr txBox="1"/>
          <p:nvPr/>
        </p:nvSpPr>
        <p:spPr>
          <a:xfrm>
            <a:off x="5394960" y="3493008"/>
            <a:ext cx="3154680" cy="512064"/>
          </a:xfrm>
          <a:prstGeom prst="rect">
            <a:avLst/>
          </a:prstGeom>
          <a:noFill/>
          <a:ln/>
        </p:spPr>
        <p:txBody>
          <a:bodyPr wrap="square" lIns="0" tIns="0" rIns="0" bIns="0" rtlCol="0" anchor="ctr"/>
          <a:lstStyle/>
          <a:p>
            <a:pPr marL="0" indent="0">
              <a:buNone/>
            </a:pPr>
            <a:r>
              <a:rPr lang="en-US" sz="1400" dirty="0">
                <a:solidFill>
                  <a:srgbClr val="0F1B4C"/>
                </a:solidFill>
              </a:rPr>
              <a:t>Guest review text (why 3.09 and 3.4?)</a:t>
            </a:r>
            <a:endParaRPr lang="en-US" sz="1400" dirty="0"/>
          </a:p>
        </p:txBody>
      </p:sp>
      <p:sp>
        <p:nvSpPr>
          <p:cNvPr id="35" name="Bullet 5"/>
          <p:cNvSpPr/>
          <p:nvPr/>
        </p:nvSpPr>
        <p:spPr>
          <a:xfrm>
            <a:off x="4892040" y="4151376"/>
            <a:ext cx="365760" cy="365760"/>
          </a:xfrm>
          <a:prstGeom prst="ellipse">
            <a:avLst/>
          </a:prstGeom>
          <a:solidFill>
            <a:srgbClr val="FF9F1C"/>
          </a:solidFill>
          <a:ln w="25400">
            <a:solidFill>
              <a:srgbClr val="0F1B4C"/>
            </a:solidFill>
            <a:prstDash val="solid"/>
          </a:ln>
        </p:spPr>
      </p:sp>
      <p:sp>
        <p:nvSpPr>
          <p:cNvPr id="36" name="Text 33"/>
          <p:cNvSpPr txBox="1"/>
          <p:nvPr/>
        </p:nvSpPr>
        <p:spPr>
          <a:xfrm>
            <a:off x="4892040" y="4151376"/>
            <a:ext cx="365760" cy="365760"/>
          </a:xfrm>
          <a:prstGeom prst="rect">
            <a:avLst/>
          </a:prstGeom>
          <a:noFill/>
          <a:ln/>
        </p:spPr>
        <p:txBody>
          <a:bodyPr wrap="square" lIns="0" tIns="0" rIns="0" bIns="0" rtlCol="0" anchor="ctr"/>
          <a:lstStyle/>
          <a:p>
            <a:pPr marL="0" indent="0" algn="ctr">
              <a:buNone/>
            </a:pPr>
            <a:r>
              <a:rPr lang="en-US" sz="1300" b="1" dirty="0">
                <a:solidFill>
                  <a:srgbClr val="0F1B4C"/>
                </a:solidFill>
              </a:rPr>
              <a:t>5</a:t>
            </a:r>
            <a:endParaRPr lang="en-US" sz="1300" dirty="0"/>
          </a:p>
        </p:txBody>
      </p:sp>
      <p:sp>
        <p:nvSpPr>
          <p:cNvPr id="37" name="Text 34"/>
          <p:cNvSpPr txBox="1"/>
          <p:nvPr/>
        </p:nvSpPr>
        <p:spPr>
          <a:xfrm>
            <a:off x="5394960" y="4078224"/>
            <a:ext cx="3154680" cy="512064"/>
          </a:xfrm>
          <a:prstGeom prst="rect">
            <a:avLst/>
          </a:prstGeom>
          <a:noFill/>
          <a:ln/>
        </p:spPr>
        <p:txBody>
          <a:bodyPr wrap="square" lIns="0" tIns="0" rIns="0" bIns="0" rtlCol="0" anchor="ctr"/>
          <a:lstStyle/>
          <a:p>
            <a:pPr marL="0" indent="0">
              <a:buNone/>
            </a:pPr>
            <a:r>
              <a:rPr lang="en-US" sz="1400" dirty="0">
                <a:solidFill>
                  <a:srgbClr val="0F1B4C"/>
                </a:solidFill>
              </a:rPr>
              <a:t>12+ months of history: seasonality and events</a:t>
            </a:r>
            <a:endParaRPr lang="en-US" sz="1400" dirty="0"/>
          </a:p>
        </p:txBody>
      </p:sp>
      <p:sp>
        <p:nvSpPr>
          <p:cNvPr id="3" name="Slide Number Placeholder 0"/>
          <p:cNvSpPr>
            <a:spLocks noGrp="1"/>
          </p:cNvSpPr>
          <p:nvPr>
            <p:ph type="sldNum" sz="quarter" idx="4294967295"/>
          </p:nvPr>
        </p:nvSpPr>
        <p:spPr>
          <a:xfrm>
            <a:off x="8092440" y="164592"/>
            <a:ext cx="777240" cy="777240"/>
          </a:xfrm>
          <a:prstGeom prst="rect">
            <a:avLst/>
          </a:prstGeom>
          <a:extLst>
            <a:ext uri="{C572A759-6A51-4108-AA02-DFA0A04FC94B}">
              <ma14:wrappingTextBoxFlag xmlns="" xmlns:ma14="http://schemas.microsoft.com/office/mac/drawingml/2011/main" val="0"/>
            </a:ext>
          </a:extLst>
        </p:spPr>
        <p:txBody>
          <a:bodyPr anchor="ctr"/>
          <a:lstStyle>
            <a:lvl1pPr>
              <a:defRPr sz="1600">
                <a:solidFill>
                  <a:srgbClr val="0F1B4C"/>
                </a:solidFill>
              </a:defRPr>
            </a:lvl1pPr>
          </a:lstStyle>
          <a:p>
            <a:pPr algn="ctr"/>
            <a:fld id="{F7021451-1387-4CA6-816F-3879F97B5CBC}" type="slidenum">
              <a:rPr lang="en-US" b="1"/>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txBox="1"/>
          <p:nvPr/>
        </p:nvSpPr>
        <p:spPr>
          <a:xfrm>
            <a:off x="457200" y="548640"/>
            <a:ext cx="5486400" cy="914400"/>
          </a:xfrm>
          <a:prstGeom prst="rect">
            <a:avLst/>
          </a:prstGeom>
          <a:noFill/>
          <a:ln/>
        </p:spPr>
        <p:txBody>
          <a:bodyPr wrap="square" lIns="0" tIns="0" rIns="0" bIns="0" rtlCol="0" anchor="ctr"/>
          <a:lstStyle/>
          <a:p>
            <a:pPr marL="0" indent="0">
              <a:buNone/>
            </a:pPr>
            <a:r>
              <a:rPr lang="en-US" sz="3000" b="1" dirty="0">
                <a:solidFill>
                  <a:srgbClr val="FFD23F"/>
                </a:solidFill>
                <a:latin typeface="+mj-lt" pitchFamily="34" charset="0"/>
                <a:ea typeface="+mj-lt" pitchFamily="34" charset="-122"/>
                <a:cs typeface="+mj-lt" pitchFamily="34" charset="-120"/>
              </a:rPr>
              <a:t>Data In. Decisions Out!</a:t>
            </a:r>
            <a:endParaRPr lang="en-US" sz="3000" dirty="0"/>
          </a:p>
        </p:txBody>
      </p:sp>
      <p:sp>
        <p:nvSpPr>
          <p:cNvPr id="4" name="Takeaway 1"/>
          <p:cNvSpPr/>
          <p:nvPr/>
        </p:nvSpPr>
        <p:spPr>
          <a:xfrm>
            <a:off x="457200" y="1691640"/>
            <a:ext cx="5303520" cy="749808"/>
          </a:xfrm>
          <a:prstGeom prst="roundRect">
            <a:avLst>
              <a:gd name="adj" fmla="val 18293"/>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sp>
        <p:nvSpPr>
          <p:cNvPr id="5" name="Takeaway badge 1"/>
          <p:cNvSpPr/>
          <p:nvPr/>
        </p:nvSpPr>
        <p:spPr>
          <a:xfrm>
            <a:off x="594360" y="1837944"/>
            <a:ext cx="457200" cy="457200"/>
          </a:xfrm>
          <a:prstGeom prst="ellipse">
            <a:avLst/>
          </a:prstGeom>
          <a:solidFill>
            <a:srgbClr val="22C3A6"/>
          </a:solidFill>
          <a:ln w="31750">
            <a:solidFill>
              <a:srgbClr val="0F1B4C"/>
            </a:solidFill>
            <a:prstDash val="solid"/>
          </a:ln>
        </p:spPr>
      </p:sp>
      <p:sp>
        <p:nvSpPr>
          <p:cNvPr id="6" name="Text 3"/>
          <p:cNvSpPr txBox="1"/>
          <p:nvPr/>
        </p:nvSpPr>
        <p:spPr>
          <a:xfrm>
            <a:off x="594360" y="1837944"/>
            <a:ext cx="457200" cy="457200"/>
          </a:xfrm>
          <a:prstGeom prst="rect">
            <a:avLst/>
          </a:prstGeom>
          <a:noFill/>
          <a:ln/>
        </p:spPr>
        <p:txBody>
          <a:bodyPr wrap="square" lIns="0" tIns="0" rIns="0" bIns="0" rtlCol="0" anchor="ctr"/>
          <a:lstStyle/>
          <a:p>
            <a:pPr marL="0" indent="0" algn="ctr">
              <a:buNone/>
            </a:pPr>
            <a:r>
              <a:rPr lang="en-US" sz="1600" b="1" dirty="0">
                <a:solidFill>
                  <a:srgbClr val="0F1B4C"/>
                </a:solidFill>
                <a:latin typeface="+mj-lt" pitchFamily="34" charset="0"/>
                <a:ea typeface="+mj-lt" pitchFamily="34" charset="-122"/>
                <a:cs typeface="+mj-lt" pitchFamily="34" charset="-120"/>
              </a:rPr>
              <a:t>1</a:t>
            </a:r>
            <a:endParaRPr lang="en-US" sz="1600" dirty="0"/>
          </a:p>
        </p:txBody>
      </p:sp>
      <p:sp>
        <p:nvSpPr>
          <p:cNvPr id="7" name="Text 4"/>
          <p:cNvSpPr txBox="1"/>
          <p:nvPr/>
        </p:nvSpPr>
        <p:spPr>
          <a:xfrm>
            <a:off x="1234440" y="1746504"/>
            <a:ext cx="4389120" cy="36576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Revenue -12.9% May to July</a:t>
            </a:r>
            <a:endParaRPr lang="en-US" sz="1600" dirty="0"/>
          </a:p>
        </p:txBody>
      </p:sp>
      <p:sp>
        <p:nvSpPr>
          <p:cNvPr id="8" name="Text 5"/>
          <p:cNvSpPr txBox="1"/>
          <p:nvPr/>
        </p:nvSpPr>
        <p:spPr>
          <a:xfrm>
            <a:off x="1234440" y="2093976"/>
            <a:ext cx="4389120" cy="292608"/>
          </a:xfrm>
          <a:prstGeom prst="rect">
            <a:avLst/>
          </a:prstGeom>
          <a:noFill/>
          <a:ln/>
        </p:spPr>
        <p:txBody>
          <a:bodyPr wrap="square" lIns="0" tIns="0" rIns="0" bIns="0" rtlCol="0" anchor="ctr"/>
          <a:lstStyle/>
          <a:p>
            <a:pPr marL="0" indent="0">
              <a:buNone/>
            </a:pPr>
            <a:r>
              <a:rPr lang="en-US" sz="1300" dirty="0">
                <a:solidFill>
                  <a:srgbClr val="0F1B4C"/>
                </a:solidFill>
              </a:rPr>
              <a:t>price and mix, not empty rooms</a:t>
            </a:r>
            <a:endParaRPr lang="en-US" sz="1300" dirty="0"/>
          </a:p>
        </p:txBody>
      </p:sp>
      <p:sp>
        <p:nvSpPr>
          <p:cNvPr id="9" name="Takeaway 2"/>
          <p:cNvSpPr/>
          <p:nvPr/>
        </p:nvSpPr>
        <p:spPr>
          <a:xfrm>
            <a:off x="457200" y="2560320"/>
            <a:ext cx="5303520" cy="749808"/>
          </a:xfrm>
          <a:prstGeom prst="roundRect">
            <a:avLst>
              <a:gd name="adj" fmla="val 18293"/>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sp>
        <p:nvSpPr>
          <p:cNvPr id="10" name="Takeaway badge 2"/>
          <p:cNvSpPr/>
          <p:nvPr/>
        </p:nvSpPr>
        <p:spPr>
          <a:xfrm>
            <a:off x="594360" y="2706624"/>
            <a:ext cx="457200" cy="457200"/>
          </a:xfrm>
          <a:prstGeom prst="ellipse">
            <a:avLst/>
          </a:prstGeom>
          <a:solidFill>
            <a:srgbClr val="FF6B6B"/>
          </a:solidFill>
          <a:ln w="31750">
            <a:solidFill>
              <a:srgbClr val="0F1B4C"/>
            </a:solidFill>
            <a:prstDash val="solid"/>
          </a:ln>
        </p:spPr>
      </p:sp>
      <p:sp>
        <p:nvSpPr>
          <p:cNvPr id="11" name="Text 8"/>
          <p:cNvSpPr txBox="1"/>
          <p:nvPr/>
        </p:nvSpPr>
        <p:spPr>
          <a:xfrm>
            <a:off x="594360" y="2706624"/>
            <a:ext cx="457200" cy="457200"/>
          </a:xfrm>
          <a:prstGeom prst="rect">
            <a:avLst/>
          </a:prstGeom>
          <a:noFill/>
          <a:ln/>
        </p:spPr>
        <p:txBody>
          <a:bodyPr wrap="square" lIns="0" tIns="0" rIns="0" bIns="0" rtlCol="0" anchor="ctr"/>
          <a:lstStyle/>
          <a:p>
            <a:pPr marL="0" indent="0" algn="ctr">
              <a:buNone/>
            </a:pPr>
            <a:r>
              <a:rPr lang="en-US" sz="1600" b="1" dirty="0">
                <a:solidFill>
                  <a:srgbClr val="0F1B4C"/>
                </a:solidFill>
                <a:latin typeface="+mj-lt" pitchFamily="34" charset="0"/>
                <a:ea typeface="+mj-lt" pitchFamily="34" charset="-122"/>
                <a:cs typeface="+mj-lt" pitchFamily="34" charset="-120"/>
              </a:rPr>
              <a:t>2</a:t>
            </a:r>
            <a:endParaRPr lang="en-US" sz="1600" dirty="0"/>
          </a:p>
        </p:txBody>
      </p:sp>
      <p:sp>
        <p:nvSpPr>
          <p:cNvPr id="12" name="Text 9"/>
          <p:cNvSpPr txBox="1"/>
          <p:nvPr/>
        </p:nvSpPr>
        <p:spPr>
          <a:xfrm>
            <a:off x="1234440" y="2615184"/>
            <a:ext cx="4389120" cy="36576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1 in 4 bookings cancelled</a:t>
            </a:r>
            <a:endParaRPr lang="en-US" sz="1600" dirty="0"/>
          </a:p>
        </p:txBody>
      </p:sp>
      <p:sp>
        <p:nvSpPr>
          <p:cNvPr id="13" name="Text 10"/>
          <p:cNvSpPr txBox="1"/>
          <p:nvPr/>
        </p:nvSpPr>
        <p:spPr>
          <a:xfrm>
            <a:off x="1234440" y="2962656"/>
            <a:ext cx="4389120" cy="292608"/>
          </a:xfrm>
          <a:prstGeom prst="rect">
            <a:avLst/>
          </a:prstGeom>
          <a:noFill/>
          <a:ln/>
        </p:spPr>
        <p:txBody>
          <a:bodyPr wrap="square" lIns="0" tIns="0" rIns="0" bIns="0" rtlCol="0" anchor="ctr"/>
          <a:lstStyle/>
          <a:p>
            <a:pPr marL="0" indent="0">
              <a:buNone/>
            </a:pPr>
            <a:r>
              <a:rPr lang="en-US" sz="1300" dirty="0">
                <a:solidFill>
                  <a:srgbClr val="0F1B4C"/>
                </a:solidFill>
              </a:rPr>
              <a:t>about Rs 99.7M at stake</a:t>
            </a:r>
            <a:endParaRPr lang="en-US" sz="1300" dirty="0"/>
          </a:p>
        </p:txBody>
      </p:sp>
      <p:sp>
        <p:nvSpPr>
          <p:cNvPr id="14" name="Takeaway 3"/>
          <p:cNvSpPr/>
          <p:nvPr/>
        </p:nvSpPr>
        <p:spPr>
          <a:xfrm>
            <a:off x="457200" y="3429000"/>
            <a:ext cx="5303520" cy="749808"/>
          </a:xfrm>
          <a:prstGeom prst="roundRect">
            <a:avLst>
              <a:gd name="adj" fmla="val 18293"/>
            </a:avLst>
          </a:prstGeom>
          <a:solidFill>
            <a:srgbClr val="FFFFFF"/>
          </a:solidFill>
          <a:ln w="31750">
            <a:solidFill>
              <a:srgbClr val="0F1B4C"/>
            </a:solidFill>
            <a:prstDash val="solid"/>
          </a:ln>
          <a:effectLst>
            <a:outerShdw blurRad="12700" dist="50800" dir="2700000" algn="bl" rotWithShape="0">
              <a:srgbClr val="0F1B4C">
                <a:alpha val="100000"/>
              </a:srgbClr>
            </a:outerShdw>
          </a:effectLst>
        </p:spPr>
      </p:sp>
      <p:sp>
        <p:nvSpPr>
          <p:cNvPr id="15" name="Takeaway badge 3"/>
          <p:cNvSpPr/>
          <p:nvPr/>
        </p:nvSpPr>
        <p:spPr>
          <a:xfrm>
            <a:off x="594360" y="3575304"/>
            <a:ext cx="457200" cy="457200"/>
          </a:xfrm>
          <a:prstGeom prst="ellipse">
            <a:avLst/>
          </a:prstGeom>
          <a:solidFill>
            <a:srgbClr val="7FD1FF"/>
          </a:solidFill>
          <a:ln w="31750">
            <a:solidFill>
              <a:srgbClr val="0F1B4C"/>
            </a:solidFill>
            <a:prstDash val="solid"/>
          </a:ln>
        </p:spPr>
      </p:sp>
      <p:sp>
        <p:nvSpPr>
          <p:cNvPr id="16" name="Text 13"/>
          <p:cNvSpPr txBox="1"/>
          <p:nvPr/>
        </p:nvSpPr>
        <p:spPr>
          <a:xfrm>
            <a:off x="594360" y="3575304"/>
            <a:ext cx="457200" cy="457200"/>
          </a:xfrm>
          <a:prstGeom prst="rect">
            <a:avLst/>
          </a:prstGeom>
          <a:noFill/>
          <a:ln/>
        </p:spPr>
        <p:txBody>
          <a:bodyPr wrap="square" lIns="0" tIns="0" rIns="0" bIns="0" rtlCol="0" anchor="ctr"/>
          <a:lstStyle/>
          <a:p>
            <a:pPr marL="0" indent="0" algn="ctr">
              <a:buNone/>
            </a:pPr>
            <a:r>
              <a:rPr lang="en-US" sz="1600" b="1" dirty="0">
                <a:solidFill>
                  <a:srgbClr val="0F1B4C"/>
                </a:solidFill>
                <a:latin typeface="+mj-lt" pitchFamily="34" charset="0"/>
                <a:ea typeface="+mj-lt" pitchFamily="34" charset="-122"/>
                <a:cs typeface="+mj-lt" pitchFamily="34" charset="-120"/>
              </a:rPr>
              <a:t>3</a:t>
            </a:r>
            <a:endParaRPr lang="en-US" sz="1600" dirty="0"/>
          </a:p>
        </p:txBody>
      </p:sp>
      <p:sp>
        <p:nvSpPr>
          <p:cNvPr id="17" name="Text 14"/>
          <p:cNvSpPr txBox="1"/>
          <p:nvPr/>
        </p:nvSpPr>
        <p:spPr>
          <a:xfrm>
            <a:off x="1234440" y="3483864"/>
            <a:ext cx="4389120" cy="365760"/>
          </a:xfrm>
          <a:prstGeom prst="rect">
            <a:avLst/>
          </a:prstGeom>
          <a:noFill/>
          <a:ln/>
        </p:spPr>
        <p:txBody>
          <a:bodyPr wrap="square" lIns="0" tIns="0" rIns="0" bIns="0" rtlCol="0" anchor="ctr"/>
          <a:lstStyle/>
          <a:p>
            <a:pPr marL="0" indent="0">
              <a:buNone/>
            </a:pPr>
            <a:r>
              <a:rPr lang="en-US" sz="1600" b="1" dirty="0">
                <a:solidFill>
                  <a:srgbClr val="0F1B4C"/>
                </a:solidFill>
                <a:latin typeface="+mj-lt" pitchFamily="34" charset="0"/>
                <a:ea typeface="+mj-lt" pitchFamily="34" charset="-122"/>
                <a:cs typeface="+mj-lt" pitchFamily="34" charset="-120"/>
              </a:rPr>
              <a:t>Grands + direct channels</a:t>
            </a:r>
            <a:endParaRPr lang="en-US" sz="1600" dirty="0"/>
          </a:p>
        </p:txBody>
      </p:sp>
      <p:sp>
        <p:nvSpPr>
          <p:cNvPr id="18" name="Text 15"/>
          <p:cNvSpPr txBox="1"/>
          <p:nvPr/>
        </p:nvSpPr>
        <p:spPr>
          <a:xfrm>
            <a:off x="1234440" y="3831336"/>
            <a:ext cx="4389120" cy="292608"/>
          </a:xfrm>
          <a:prstGeom prst="rect">
            <a:avLst/>
          </a:prstGeom>
          <a:noFill/>
          <a:ln/>
        </p:spPr>
        <p:txBody>
          <a:bodyPr wrap="square" lIns="0" tIns="0" rIns="0" bIns="0" rtlCol="0" anchor="ctr"/>
          <a:lstStyle/>
          <a:p>
            <a:pPr marL="0" indent="0">
              <a:buNone/>
            </a:pPr>
            <a:r>
              <a:rPr lang="en-US" sz="1300" dirty="0">
                <a:solidFill>
                  <a:srgbClr val="0F1B4C"/>
                </a:solidFill>
              </a:rPr>
              <a:t>the biggest upside</a:t>
            </a:r>
            <a:endParaRPr lang="en-US" sz="1300" dirty="0"/>
          </a:p>
        </p:txBody>
      </p:sp>
      <p:sp>
        <p:nvSpPr>
          <p:cNvPr id="19" name="Text 16"/>
          <p:cNvSpPr txBox="1"/>
          <p:nvPr/>
        </p:nvSpPr>
        <p:spPr>
          <a:xfrm>
            <a:off x="457200" y="4389120"/>
            <a:ext cx="5486400" cy="457200"/>
          </a:xfrm>
          <a:prstGeom prst="rect">
            <a:avLst/>
          </a:prstGeom>
          <a:noFill/>
          <a:ln/>
        </p:spPr>
        <p:txBody>
          <a:bodyPr wrap="square" lIns="0" tIns="0" rIns="0" bIns="0" rtlCol="0" anchor="ctr"/>
          <a:lstStyle/>
          <a:p>
            <a:pPr marL="0" indent="0">
              <a:buNone/>
            </a:pPr>
            <a:r>
              <a:rPr lang="en-US" sz="2000" b="1" dirty="0">
                <a:solidFill>
                  <a:srgbClr val="FFFFFF"/>
                </a:solidFill>
                <a:latin typeface="+mj-lt" pitchFamily="34" charset="0"/>
                <a:ea typeface="+mj-lt" pitchFamily="34" charset="-122"/>
                <a:cs typeface="+mj-lt" pitchFamily="34" charset="-120"/>
              </a:rPr>
              <a:t>Thank you!  </a:t>
            </a:r>
            <a:endParaRPr lang="en-US" sz="2000" dirty="0"/>
          </a:p>
        </p:txBody>
      </p:sp>
      <p:pic>
        <p:nvPicPr>
          <p:cNvPr id="20" name="Mascot" descr="Celebrating hotel mascot"/>
          <p:cNvPicPr>
            <a:picLocks noChangeAspect="1"/>
          </p:cNvPicPr>
          <p:nvPr/>
        </p:nvPicPr>
        <p:blipFill>
          <a:blip r:embed="rId3"/>
          <a:stretch>
            <a:fillRect/>
          </a:stretch>
        </p:blipFill>
        <p:spPr>
          <a:xfrm>
            <a:off x="6035040" y="822960"/>
            <a:ext cx="2743200" cy="3657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hank_You_Dancing_Mascot">
            <a:hlinkClick r:id="" action="ppaction://media"/>
            <a:extLst>
              <a:ext uri="{FF2B5EF4-FFF2-40B4-BE49-F238E27FC236}">
                <a16:creationId xmlns:a16="http://schemas.microsoft.com/office/drawing/2014/main" id="{006AF234-E916-46F2-96B8-DE36F935088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9144000" cy="5143500"/>
          </a:xfrm>
          <a:prstGeom prst="rect">
            <a:avLst/>
          </a:prstGeom>
        </p:spPr>
      </p:pic>
    </p:spTree>
    <p:extLst>
      <p:ext uri="{BB962C8B-B14F-4D97-AF65-F5344CB8AC3E}">
        <p14:creationId xmlns:p14="http://schemas.microsoft.com/office/powerpoint/2010/main" val="4003191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mic Sans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2527</Words>
  <Application>Microsoft Office PowerPoint</Application>
  <PresentationFormat>On-screen Show (16:9)</PresentationFormat>
  <Paragraphs>394</Paragraphs>
  <Slides>24</Slides>
  <Notes>21</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Comic Sans MS</vt:lpstr>
      <vt:lpstr>Courier New</vt:lpstr>
      <vt:lpstr>Office Theme</vt:lpstr>
      <vt:lpstr>PowerPoint Presentation</vt:lpstr>
      <vt:lpstr>The Problem</vt:lpstr>
      <vt:lpstr>Our Mission: 3 Tasks</vt:lpstr>
      <vt:lpstr>What Data We Need</vt:lpstr>
      <vt:lpstr>Data Model View</vt:lpstr>
      <vt:lpstr>Metric Queries: The Basics</vt:lpstr>
      <vt:lpstr>Metric Queries: Smart Ones</vt:lpstr>
      <vt:lpstr>Mock Up Dashboard</vt:lpstr>
      <vt:lpstr>The Output: Our Dashboard</vt:lpstr>
      <vt:lpstr>May: The Baseline</vt:lpstr>
      <vt:lpstr>June: A Slight Slip</vt:lpstr>
      <vt:lpstr>July: The Big Drop</vt:lpstr>
      <vt:lpstr>Month by Month: Revenue Slides</vt:lpstr>
      <vt:lpstr>Insight 1: Cities Tell Tales</vt:lpstr>
      <vt:lpstr>Insight: Room Class Fill</vt:lpstr>
      <vt:lpstr>Insight: Hotels June vs July</vt:lpstr>
      <vt:lpstr>Insight 2: Cancel Culture</vt:lpstr>
      <vt:lpstr>Insight 3: Who Books and When</vt:lpstr>
      <vt:lpstr>Insight 4: Hotel Report Card</vt:lpstr>
      <vt:lpstr>All Insights at a Glance</vt:lpstr>
      <vt:lpstr>What This Data Cannot Tell</vt:lpstr>
      <vt:lpstr>What We Do Next</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Grands - Hotel Data Comics</dc:title>
  <dc:subject>PptxGenJS Presentation</dc:subject>
  <dc:creator>Data Analyst</dc:creator>
  <cp:lastModifiedBy>Sebak Karmakar</cp:lastModifiedBy>
  <cp:revision>5</cp:revision>
  <dcterms:created xsi:type="dcterms:W3CDTF">2026-10-17T11:48:42Z</dcterms:created>
  <dcterms:modified xsi:type="dcterms:W3CDTF">2026-10-17T15:20:13Z</dcterms:modified>
</cp:coreProperties>
</file>